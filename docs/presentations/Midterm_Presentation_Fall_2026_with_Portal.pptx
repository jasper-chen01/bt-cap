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945276f99b54aa0" /><Relationship Type="http://schemas.openxmlformats.org/officeDocument/2006/relationships/extended-properties" Target="/docProps/app.xml" Id="Rf38927b4e4f1438d" /><Relationship Type="http://schemas.openxmlformats.org/officeDocument/2006/relationships/officeDocument" Target="/ppt/presentation.xml" Id="Re2f2edd315fe4ee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ad5e508f03146df"/>
  </p:sldMasterIdLst>
  <p:notesMasterIdLst>
    <p:notesMasterId xmlns:r="http://schemas.openxmlformats.org/officeDocument/2006/relationships" r:id="R51ca743b1ddc4ac2"/>
  </p:notesMasterIdLst>
  <p:sldIdLst>
    <p:sldId xmlns:r="http://schemas.openxmlformats.org/officeDocument/2006/relationships" id="256" r:id="Rbfbeb34a3a5549f3"/>
    <p:sldId xmlns:r="http://schemas.openxmlformats.org/officeDocument/2006/relationships" id="257" r:id="Rb23b3c755be04c24"/>
    <p:sldId xmlns:r="http://schemas.openxmlformats.org/officeDocument/2006/relationships" id="258" r:id="R4d746433fb8045f3"/>
    <p:sldId xmlns:r="http://schemas.openxmlformats.org/officeDocument/2006/relationships" id="259" r:id="Rfc73b6868fc34e2f"/>
    <p:sldId xmlns:r="http://schemas.openxmlformats.org/officeDocument/2006/relationships" id="260" r:id="R63b2007088664e2c"/>
    <p:sldId xmlns:r="http://schemas.openxmlformats.org/officeDocument/2006/relationships" id="261" r:id="R9da55c8c659b442e"/>
    <p:sldId xmlns:r="http://schemas.openxmlformats.org/officeDocument/2006/relationships" id="262" r:id="R808791bfd12d43bb"/>
    <p:sldId xmlns:r="http://schemas.openxmlformats.org/officeDocument/2006/relationships" id="263" r:id="Ra4f2f92fe90c4b11"/>
    <p:sldId xmlns:r="http://schemas.openxmlformats.org/officeDocument/2006/relationships" id="264" r:id="R178df157c7134039"/>
    <p:sldId xmlns:r="http://schemas.openxmlformats.org/officeDocument/2006/relationships" id="265" r:id="R4c32fed753934639"/>
    <p:sldId xmlns:r="http://schemas.openxmlformats.org/officeDocument/2006/relationships" id="266" r:id="Rba7eb8009be64b28"/>
    <p:sldId xmlns:r="http://schemas.openxmlformats.org/officeDocument/2006/relationships" id="267" r:id="Rfc6c9ccfa8124d12"/>
    <p:sldId xmlns:r="http://schemas.openxmlformats.org/officeDocument/2006/relationships" id="268" r:id="R7c35914616a141d5"/>
    <p:sldId xmlns:r="http://schemas.openxmlformats.org/officeDocument/2006/relationships" id="269" r:id="R33d0a15f53d44b5a"/>
    <p:sldId xmlns:r="http://schemas.openxmlformats.org/officeDocument/2006/relationships" id="270" r:id="Rebb404ca301e4752"/>
    <p:sldId xmlns:r="http://schemas.openxmlformats.org/officeDocument/2006/relationships" id="271" r:id="R87f6120bac434a7c"/>
    <p:sldId xmlns:r="http://schemas.openxmlformats.org/officeDocument/2006/relationships" id="272" r:id="R7c280ebbfa5e4884"/>
    <p:sldId xmlns:r="http://schemas.openxmlformats.org/officeDocument/2006/relationships" id="273" r:id="Rc75394e7c11c40fd"/>
    <p:sldId xmlns:r="http://schemas.openxmlformats.org/officeDocument/2006/relationships" id="274" r:id="Rb3040fefbd41470f"/>
    <p:sldId xmlns:r="http://schemas.openxmlformats.org/officeDocument/2006/relationships" id="275" r:id="R8c3181fdc3ed4911"/>
    <p:sldId xmlns:r="http://schemas.openxmlformats.org/officeDocument/2006/relationships" id="276" r:id="R7836a6c32d7043e6"/>
    <p:sldId xmlns:r="http://schemas.openxmlformats.org/officeDocument/2006/relationships" id="277" r:id="Rcb1c7360b19c4ab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ca7cb0cfcd74a41" /><Relationship Type="http://schemas.openxmlformats.org/officeDocument/2006/relationships/slideMaster" Target="/ppt/slideMasters/slideMaster1.xml" Id="Read5e508f03146df" /><Relationship Type="http://schemas.openxmlformats.org/officeDocument/2006/relationships/notesMaster" Target="/ppt/notesMasters/notesMaster1.xml" Id="R51ca743b1ddc4ac2" /><Relationship Type="http://schemas.openxmlformats.org/officeDocument/2006/relationships/presProps" Target="/ppt/presProps.xml" Id="R30add14b9ce14350" /><Relationship Type="http://schemas.openxmlformats.org/officeDocument/2006/relationships/tableStyles" Target="/ppt/tableStyles.xml" Id="R5d77765779ce4ac0" /><Relationship Type="http://schemas.openxmlformats.org/officeDocument/2006/relationships/slide" Target="/ppt/slides/slide1.xml" Id="Rbfbeb34a3a5549f3" /><Relationship Type="http://schemas.openxmlformats.org/officeDocument/2006/relationships/slide" Target="/ppt/slides/slide2.xml" Id="Rb23b3c755be04c24" /><Relationship Type="http://schemas.openxmlformats.org/officeDocument/2006/relationships/slide" Target="/ppt/slides/slide3.xml" Id="R4d746433fb8045f3" /><Relationship Type="http://schemas.openxmlformats.org/officeDocument/2006/relationships/slide" Target="/ppt/slides/slide4.xml" Id="Rfc73b6868fc34e2f" /><Relationship Type="http://schemas.openxmlformats.org/officeDocument/2006/relationships/slide" Target="/ppt/slides/slide5.xml" Id="R63b2007088664e2c" /><Relationship Type="http://schemas.openxmlformats.org/officeDocument/2006/relationships/slide" Target="/ppt/slides/slide6.xml" Id="R9da55c8c659b442e" /><Relationship Type="http://schemas.openxmlformats.org/officeDocument/2006/relationships/slide" Target="/ppt/slides/slide7.xml" Id="R808791bfd12d43bb" /><Relationship Type="http://schemas.openxmlformats.org/officeDocument/2006/relationships/slide" Target="/ppt/slides/slide8.xml" Id="Ra4f2f92fe90c4b11" /><Relationship Type="http://schemas.openxmlformats.org/officeDocument/2006/relationships/slide" Target="/ppt/slides/slide9.xml" Id="R178df157c7134039" /><Relationship Type="http://schemas.openxmlformats.org/officeDocument/2006/relationships/slide" Target="/ppt/slides/slide10.xml" Id="R4c32fed753934639" /><Relationship Type="http://schemas.openxmlformats.org/officeDocument/2006/relationships/slide" Target="/ppt/slides/slide11.xml" Id="Rba7eb8009be64b28" /><Relationship Type="http://schemas.openxmlformats.org/officeDocument/2006/relationships/slide" Target="/ppt/slides/slide12.xml" Id="Rfc6c9ccfa8124d12" /><Relationship Type="http://schemas.openxmlformats.org/officeDocument/2006/relationships/slide" Target="/ppt/slides/slide13.xml" Id="R7c35914616a141d5" /><Relationship Type="http://schemas.openxmlformats.org/officeDocument/2006/relationships/slide" Target="/ppt/slides/slide14.xml" Id="R33d0a15f53d44b5a" /><Relationship Type="http://schemas.openxmlformats.org/officeDocument/2006/relationships/slide" Target="/ppt/slides/slide15.xml" Id="Rebb404ca301e4752" /><Relationship Type="http://schemas.openxmlformats.org/officeDocument/2006/relationships/slide" Target="/ppt/slides/slide16.xml" Id="R87f6120bac434a7c" /><Relationship Type="http://schemas.openxmlformats.org/officeDocument/2006/relationships/slide" Target="/ppt/slides/slide17.xml" Id="R7c280ebbfa5e4884" /><Relationship Type="http://schemas.openxmlformats.org/officeDocument/2006/relationships/slide" Target="/ppt/slides/slide18.xml" Id="Rc75394e7c11c40fd" /><Relationship Type="http://schemas.openxmlformats.org/officeDocument/2006/relationships/slide" Target="/ppt/slides/slide19.xml" Id="Rb3040fefbd41470f" /><Relationship Type="http://schemas.openxmlformats.org/officeDocument/2006/relationships/slide" Target="/ppt/slides/slide20.xml" Id="R8c3181fdc3ed4911" /><Relationship Type="http://schemas.openxmlformats.org/officeDocument/2006/relationships/slide" Target="/ppt/slides/slide21.xml" Id="R7836a6c32d7043e6" /><Relationship Type="http://schemas.openxmlformats.org/officeDocument/2006/relationships/slide" Target="/ppt/slides/slide22.xml" Id="Rcb1c7360b19c4ab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eabe216fa51466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2c9add50a114dfd" /><Relationship Type="http://schemas.openxmlformats.org/officeDocument/2006/relationships/notesMaster" Target="/ppt/notesMasters/notesMaster1.xml" Id="Re0f1681238d8488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b22ee29ddad4386" /><Relationship Type="http://schemas.openxmlformats.org/officeDocument/2006/relationships/notesMaster" Target="/ppt/notesMasters/notesMaster1.xml" Id="R5111301c833340f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3ab40ca9a234a8b" /><Relationship Type="http://schemas.openxmlformats.org/officeDocument/2006/relationships/notesMaster" Target="/ppt/notesMasters/notesMaster1.xml" Id="R7aa308ae71e3421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22e38800b6b4838" /><Relationship Type="http://schemas.openxmlformats.org/officeDocument/2006/relationships/notesMaster" Target="/ppt/notesMasters/notesMaster1.xml" Id="Rc3c92bf22c9b455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eab8bf56791471f" /><Relationship Type="http://schemas.openxmlformats.org/officeDocument/2006/relationships/notesMaster" Target="/ppt/notesMasters/notesMaster1.xml" Id="Rc344b0310f4d486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dc3a48c07a2442f" /><Relationship Type="http://schemas.openxmlformats.org/officeDocument/2006/relationships/notesMaster" Target="/ppt/notesMasters/notesMaster1.xml" Id="Rc1579095668b43a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a0e05fd00f44248" /><Relationship Type="http://schemas.openxmlformats.org/officeDocument/2006/relationships/notesMaster" Target="/ppt/notesMasters/notesMaster1.xml" Id="Rbcd5e35098054e2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3fd6d557c0c4ce3" /><Relationship Type="http://schemas.openxmlformats.org/officeDocument/2006/relationships/notesMaster" Target="/ppt/notesMasters/notesMaster1.xml" Id="R3a1504712e16466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e6b2215cd8a45f1" /><Relationship Type="http://schemas.openxmlformats.org/officeDocument/2006/relationships/notesMaster" Target="/ppt/notesMasters/notesMaster1.xml" Id="R49efb3aae28b43a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dca80b6ed634cd1" /><Relationship Type="http://schemas.openxmlformats.org/officeDocument/2006/relationships/notesMaster" Target="/ppt/notesMasters/notesMaster1.xml" Id="Reea54681486348d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3ef74eb6e034482" /><Relationship Type="http://schemas.openxmlformats.org/officeDocument/2006/relationships/notesMaster" Target="/ppt/notesMasters/notesMaster1.xml" Id="R7cfc5dd7e90143a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28e9db08b98d407e" /><Relationship Type="http://schemas.openxmlformats.org/officeDocument/2006/relationships/notesMaster" Target="/ppt/notesMasters/notesMaster1.xml" Id="Rbd0fa67fc9bf4b9c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8c36faf582154eb3" /><Relationship Type="http://schemas.openxmlformats.org/officeDocument/2006/relationships/notesMaster" Target="/ppt/notesMasters/notesMaster1.xml" Id="R02768ee20c4f49db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d629ab6bf5a346ea" /><Relationship Type="http://schemas.openxmlformats.org/officeDocument/2006/relationships/notesMaster" Target="/ppt/notesMasters/notesMaster1.xml" Id="Rb0e23e781a1d4d6b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e864e227e95f48aa" /><Relationship Type="http://schemas.openxmlformats.org/officeDocument/2006/relationships/notesMaster" Target="/ppt/notesMasters/notesMaster1.xml" Id="R1904b955ea524051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2693e96932a94300" /><Relationship Type="http://schemas.openxmlformats.org/officeDocument/2006/relationships/notesMaster" Target="/ppt/notesMasters/notesMaster1.xml" Id="R23a5b343f6c547fc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ebf4e7b5e16549da" /><Relationship Type="http://schemas.openxmlformats.org/officeDocument/2006/relationships/notesMaster" Target="/ppt/notesMasters/notesMaster1.xml" Id="R72b6f5c86f4749d4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7de30c05f83d49e9" /><Relationship Type="http://schemas.openxmlformats.org/officeDocument/2006/relationships/notesMaster" Target="/ppt/notesMasters/notesMaster1.xml" Id="R40f0feda103249aa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21bfd21aeba349dc" /><Relationship Type="http://schemas.openxmlformats.org/officeDocument/2006/relationships/notesMaster" Target="/ppt/notesMasters/notesMaster1.xml" Id="R6abcfe79104641e5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98430ecdcb144687" /><Relationship Type="http://schemas.openxmlformats.org/officeDocument/2006/relationships/notesMaster" Target="/ppt/notesMasters/notesMaster1.xml" Id="Rf9c857fe2ee04122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688ebef337aa40ef" /><Relationship Type="http://schemas.openxmlformats.org/officeDocument/2006/relationships/notesMaster" Target="/ppt/notesMasters/notesMaster1.xml" Id="Rba530d0ae5f349e4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892a3c6b63df49cb" /><Relationship Type="http://schemas.openxmlformats.org/officeDocument/2006/relationships/notesMaster" Target="/ppt/notesMasters/notesMaster1.xml" Id="Rafb2e5204ef7459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Week 6 wraps the reasoning agent and ranker in the existing BT-CAP portal.</a:t>
            </a:r>
          </a:p>
          <a:p xmlns:a="http://schemas.openxmlformats.org/drawingml/2006/main">
            <a:r>
              <a:t>The portal performs no training. It reads the derived tables, score files, and embeddings produced earlier in the project.</a:t>
            </a:r>
          </a:p>
          <a:p xmlns:a="http://schemas.openxmlformats.org/drawingml/2006/main">
            <a:r>
              <a:t>The same loader powers nominate_lookup and the Genes tab, so both views share the same held-out scores and evidence.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Genes tab exposes the Week 5 nominate_lookup output as a visual gene card.</a:t>
            </a:r>
          </a:p>
          <a:p xmlns:a="http://schemas.openxmlformats.org/drawingml/2006/main">
            <a:r>
              <a:t>Users can filter ranked candidates, inspect CellChat and DEG support, review scETM neighbors, and export CSV tables.</a:t>
            </a:r>
          </a:p>
          <a:p xmlns:a="http://schemas.openxmlformats.org/drawingml/2006/main">
            <a:r>
              <a:t>The default ranked view enforces a minimum cell-group size of 50.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All 44 required questions produced matching tool calls and required terms through the portal API and the command line.</a:t>
            </a:r>
          </a:p>
          <a:p xmlns:a="http://schemas.openxmlformats.org/drawingml/2006/main">
            <a:r>
              <a:t>All 24 saved MedGemma answers replayed from cache while provider entry points were blocked.</a:t>
            </a:r>
          </a:p>
          <a:p xmlns:a="http://schemas.openxmlformats.org/drawingml/2006/main">
            <a:r>
              <a:t>The test suite contains 294 Python and RAG tests plus eight frontend tests. The production frontend build also passed.</a:t>
            </a:r>
          </a:p>
          <a:p xmlns:a="http://schemas.openxmlformats.org/drawingml/2006/main">
            <a:r>
              <a:t>These results verify integration and provenance. They do not establish that a nominee will succeed experimentally.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b8d08fa9cb34839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1d8bbcc0bfc43a3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4cfe93182264824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1dd2caf6ff24aeb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c4e71c7bb6c4345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4410d15156f459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F56C5E7-0923-42E5-A8ED-2160361606E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8B826862-54C0-4DCA-89A4-B1EB39F7991A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DB669E63-34C5-47AC-87B3-236189C0CA3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754E545-E50F-497A-829C-597BF26E20A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A7ECF410-5D8C-4413-9098-AB24AA5FBB7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5DCF95EF-64ED-4EE5-A552-6CC74A4929B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674F93B-AC8B-4B2D-A50E-53B7AA72CFA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D34837A5-240E-462E-A81F-717864EB3DD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FCBA011-BF92-4E85-9784-303019CB031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5CB99E1E-728C-4DE4-AC9E-16916E10769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2fe57c5281d4079" /><Relationship Type="http://schemas.openxmlformats.org/officeDocument/2006/relationships/slideLayout" Target="/ppt/slideLayouts/slideLayout1.xml" Id="Rfc565649b8a845d8" /><Relationship Type="http://schemas.openxmlformats.org/officeDocument/2006/relationships/slideLayout" Target="/ppt/slideLayouts/slideLayout2.xml" Id="Ra5f5bad87df2407b" /><Relationship Type="http://schemas.openxmlformats.org/officeDocument/2006/relationships/slideLayout" Target="/ppt/slideLayouts/slideLayout3.xml" Id="R0f0efca4b3954c05" /><Relationship Type="http://schemas.openxmlformats.org/officeDocument/2006/relationships/slideLayout" Target="/ppt/slideLayouts/slideLayout4.xml" Id="R96b3b59b48be4278" /><Relationship Type="http://schemas.openxmlformats.org/officeDocument/2006/relationships/slideLayout" Target="/ppt/slideLayouts/slideLayout5.xml" Id="R61e2fd526bda45ee" /><Relationship Type="http://schemas.openxmlformats.org/officeDocument/2006/relationships/slideLayout" Target="/ppt/slideLayouts/slideLayout6.xml" Id="Rba0090153101438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c565649b8a845d8"/>
    <p:sldLayoutId xmlns:r="http://schemas.openxmlformats.org/officeDocument/2006/relationships" id="2147483650" r:id="Ra5f5bad87df2407b"/>
    <p:sldLayoutId xmlns:r="http://schemas.openxmlformats.org/officeDocument/2006/relationships" id="2147483651" r:id="R0f0efca4b3954c05"/>
    <p:sldLayoutId xmlns:r="http://schemas.openxmlformats.org/officeDocument/2006/relationships" id="2147483652" r:id="R96b3b59b48be4278"/>
    <p:sldLayoutId xmlns:r="http://schemas.openxmlformats.org/officeDocument/2006/relationships" id="2147483653" r:id="R61e2fd526bda45ee"/>
    <p:sldLayoutId xmlns:r="http://schemas.openxmlformats.org/officeDocument/2006/relationships" id="2147483654" r:id="Rba0090153101438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1fc5346e7424c7a" /><Relationship Type="http://schemas.openxmlformats.org/officeDocument/2006/relationships/image" Target="/ppt/media/image.png" Id="R34ed37e8c4224ae2" /><Relationship Type="http://schemas.openxmlformats.org/officeDocument/2006/relationships/notesSlide" Target="/ppt/notesSlides/notesSlide1.xml" Id="Rde506b71dc4b49a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a57cb3b4ab145d1" /><Relationship Type="http://schemas.openxmlformats.org/officeDocument/2006/relationships/image" Target="/ppt/media/image2.png" Id="Rfd4af61d18e44bae" /><Relationship Type="http://schemas.openxmlformats.org/officeDocument/2006/relationships/notesSlide" Target="/ppt/notesSlides/notesSlide2.xml" Id="Rac4bb3753fd84b8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b3991813d294d32" /><Relationship Type="http://schemas.openxmlformats.org/officeDocument/2006/relationships/image" Target="/ppt/media/image3.png" Id="R17493028b0dd4337" /><Relationship Type="http://schemas.openxmlformats.org/officeDocument/2006/relationships/notesSlide" Target="/ppt/notesSlides/notesSlide3.xml" Id="R21a3792834514ec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c86fc1b65534ae4" /><Relationship Type="http://schemas.openxmlformats.org/officeDocument/2006/relationships/image" Target="/ppt/media/image4.png" Id="R4a97b43e7e094c0c" /><Relationship Type="http://schemas.openxmlformats.org/officeDocument/2006/relationships/notesSlide" Target="/ppt/notesSlides/notesSlide4.xml" Id="R962e65ef7bb841c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5acd82b17d04d3d" /><Relationship Type="http://schemas.openxmlformats.org/officeDocument/2006/relationships/image" Target="/ppt/media/image5.png" Id="R79fafc2ccee7416e" /><Relationship Type="http://schemas.openxmlformats.org/officeDocument/2006/relationships/notesSlide" Target="/ppt/notesSlides/notesSlide5.xml" Id="R9b5e5114b8254e2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1268812d54f4efb" /><Relationship Type="http://schemas.openxmlformats.org/officeDocument/2006/relationships/image" Target="/ppt/media/image6.png" Id="R54a7fe1dc9054b60" /><Relationship Type="http://schemas.openxmlformats.org/officeDocument/2006/relationships/notesSlide" Target="/ppt/notesSlides/notesSlide6.xml" Id="R99b42b325b7540d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24570d126774b7b" /><Relationship Type="http://schemas.openxmlformats.org/officeDocument/2006/relationships/image" Target="/ppt/media/image7.png" Id="R14e006a1ef2049b0" /><Relationship Type="http://schemas.openxmlformats.org/officeDocument/2006/relationships/notesSlide" Target="/ppt/notesSlides/notesSlide7.xml" Id="R3ab2be23bee0475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5a72330857e4a3f" /><Relationship Type="http://schemas.openxmlformats.org/officeDocument/2006/relationships/image" Target="/ppt/media/image8.png" Id="R65398ff39c9b46c4" /><Relationship Type="http://schemas.openxmlformats.org/officeDocument/2006/relationships/notesSlide" Target="/ppt/notesSlides/notesSlide8.xml" Id="R2e7839fb6ed345f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926d7ee854849a8" /><Relationship Type="http://schemas.openxmlformats.org/officeDocument/2006/relationships/image" Target="/ppt/media/image9.png" Id="R5f1aa0f486474ca1" /><Relationship Type="http://schemas.openxmlformats.org/officeDocument/2006/relationships/notesSlide" Target="/ppt/notesSlides/notesSlide9.xml" Id="R392585282a4444a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c46a7b97dc14b58" /><Relationship Type="http://schemas.openxmlformats.org/officeDocument/2006/relationships/image" Target="/ppt/media/image10.png" Id="R51824f73b5734e91" /><Relationship Type="http://schemas.openxmlformats.org/officeDocument/2006/relationships/notesSlide" Target="/ppt/notesSlides/notesSlide10.xml" Id="R937083c8bd16495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653e200e388493b" /><Relationship Type="http://schemas.openxmlformats.org/officeDocument/2006/relationships/image" Target="/ppt/media/image11.png" Id="R2778d4dd15d74658" /><Relationship Type="http://schemas.openxmlformats.org/officeDocument/2006/relationships/notesSlide" Target="/ppt/notesSlides/notesSlide11.xml" Id="R3f2346e22e7849c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1a309a4b79c4ca6" /><Relationship Type="http://schemas.openxmlformats.org/officeDocument/2006/relationships/image" Target="/ppt/media/image12.png" Id="Re829c6e2c2014894" /><Relationship Type="http://schemas.openxmlformats.org/officeDocument/2006/relationships/notesSlide" Target="/ppt/notesSlides/notesSlide12.xml" Id="R46a18a59698642c9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7175000e2ed428a" /><Relationship Type="http://schemas.openxmlformats.org/officeDocument/2006/relationships/image" Target="/ppt/media/image13.png" Id="R57abd718cd0b45ab" /><Relationship Type="http://schemas.openxmlformats.org/officeDocument/2006/relationships/notesSlide" Target="/ppt/notesSlides/notesSlide13.xml" Id="R40ce8a558f664955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bc41694f371453d" /><Relationship Type="http://schemas.openxmlformats.org/officeDocument/2006/relationships/image" Target="/ppt/media/image14.png" Id="R3c5ca82605894df5" /><Relationship Type="http://schemas.openxmlformats.org/officeDocument/2006/relationships/notesSlide" Target="/ppt/notesSlides/notesSlide14.xml" Id="R6741a4dfaad3455e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1300ea76c86418c" /><Relationship Type="http://schemas.openxmlformats.org/officeDocument/2006/relationships/image" Target="/ppt/media/image15.png" Id="Rfd7d0f99bbfb4d84" /><Relationship Type="http://schemas.openxmlformats.org/officeDocument/2006/relationships/notesSlide" Target="/ppt/notesSlides/notesSlide15.xml" Id="R83f4ecadb9c54eb1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1b3fc2a7789465b" /><Relationship Type="http://schemas.openxmlformats.org/officeDocument/2006/relationships/image" Target="/ppt/media/image16.png" Id="R07d6ed03d4b244de" /><Relationship Type="http://schemas.openxmlformats.org/officeDocument/2006/relationships/notesSlide" Target="/ppt/notesSlides/notesSlide16.xml" Id="R1c11fdb262da436c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64f942b81154098" /><Relationship Type="http://schemas.openxmlformats.org/officeDocument/2006/relationships/image" Target="/ppt/media/image17.png" Id="Rf9de55a5cbd54f3b" /><Relationship Type="http://schemas.openxmlformats.org/officeDocument/2006/relationships/notesSlide" Target="/ppt/notesSlides/notesSlide17.xml" Id="R8e50179507d44916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0949c9050e74940" /><Relationship Type="http://schemas.openxmlformats.org/officeDocument/2006/relationships/image" Target="/ppt/media/image18.png" Id="R3d2a39bbe6844a22" /><Relationship Type="http://schemas.openxmlformats.org/officeDocument/2006/relationships/notesSlide" Target="/ppt/notesSlides/notesSlide18.xml" Id="Rb33da7b53ae64bdc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81bed0b1093472d" /><Relationship Type="http://schemas.openxmlformats.org/officeDocument/2006/relationships/image" Target="/ppt/media/image19.png" Id="R65c43b4a8e9b4db2" /><Relationship Type="http://schemas.openxmlformats.org/officeDocument/2006/relationships/notesSlide" Target="/ppt/notesSlides/notesSlide19.xml" Id="Rd4551a717fec499d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13b19cdf4fd452d" /><Relationship Type="http://schemas.openxmlformats.org/officeDocument/2006/relationships/notesSlide" Target="/ppt/notesSlides/notesSlide20.xml" Id="R651489d143544cb9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853e197740540b0" /><Relationship Type="http://schemas.openxmlformats.org/officeDocument/2006/relationships/image" Target="/ppt/media/image20.png" Id="R3b3af9e9737b4063" /><Relationship Type="http://schemas.openxmlformats.org/officeDocument/2006/relationships/notesSlide" Target="/ppt/notesSlides/notesSlide21.xml" Id="R55305c3454f74b35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bf7b42883184004" /><Relationship Type="http://schemas.openxmlformats.org/officeDocument/2006/relationships/image" Target="/ppt/media/image21.png" Id="R5faecc1b5c3244e2" /><Relationship Type="http://schemas.openxmlformats.org/officeDocument/2006/relationships/notesSlide" Target="/ppt/notesSlides/notesSlide22.xml" Id="R6a918672ad434da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100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B0E23F-1B3D-4722-85E2-0D99EF5643E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4ed37e8c4224ae2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30346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1100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363A29-E5E5-4A2C-9B31-C364CB269FC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d4af61d18e44bae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832943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1100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294F0E-E1C6-48DA-B9FB-473183A8314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7493028b0dd4337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89453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1100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7E6FCE-93E0-4658-8E5E-B39255398A2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97b43e7e094c0c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921784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100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773E05-C7A7-4706-BE7C-1B86EA0BD90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9fafc2ccee7416e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599130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100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EFB81E-51FC-4066-8B33-01464C79E9A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4a7fe1dc9054b60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980905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1100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E21A31-1567-4A4F-877F-DEF913442F0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4e006a1ef2049b0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780950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1100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3FE1B4-85F8-4B34-8F8B-DD57EC24B54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5398ff39c9b46c4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45795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1100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8B80D3-624A-421F-8CC5-9D9859CBA0B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f1aa0f486474ca1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626449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1100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D36587-0F00-487E-8798-878B5BF70A1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1824f73b5734e91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428883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1100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BA621C-1579-4C21-A7C5-F25BCB22177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778d4dd15d74658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439082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1100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A057B0-EFDA-4547-8CDC-1D5E60407B5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829c6e2c2014894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80732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1100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C902E8-A20F-43D1-8F2B-100B95BE273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7abd718cd0b45ab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365885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1100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E377FB-5FE8-4322-9FC9-42B1A7442A7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5ca82605894df5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6496502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1100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888940-F40E-4924-8A59-46D0FB7E421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d7d0f99bbfb4d84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6534310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1100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11ECE6-9228-44F8-89A2-E975D689D4F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7d6ed03d4b244de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216049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1100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86E25C-62E1-4ABA-BF1C-E0A7B17A6C9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9de55a5cbd54f3b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3283614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1100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A00B626-78E8-409B-AC54-EC980B7D7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61950"/>
            <a:ext cx="108108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1">
                <a:solidFill>
                  <a:srgbClr val="FFFFFF"/>
                </a:solidFill>
              </a:defRPr>
            </a:defPPr>
            <a:lvl1pPr>
              <a:defRPr sz="2325" b="1">
                <a:solidFill>
                  <a:srgbClr val="FFFFFF"/>
                </a:solidFill>
              </a:defRPr>
            </a:lvl1pPr>
            <a:lvl2pPr>
              <a:defRPr sz="2325" b="1">
                <a:solidFill>
                  <a:srgbClr val="FFFFFF"/>
                </a:solidFill>
              </a:defRPr>
            </a:lvl2pPr>
            <a:lvl3pPr>
              <a:defRPr sz="2325" b="1">
                <a:solidFill>
                  <a:srgbClr val="FFFFFF"/>
                </a:solidFill>
              </a:defRPr>
            </a:lvl3pPr>
            <a:lvl4pPr>
              <a:defRPr sz="2325" b="1">
                <a:solidFill>
                  <a:srgbClr val="FFFFFF"/>
                </a:solidFill>
              </a:defRPr>
            </a:lvl4pPr>
            <a:lvl5pPr>
              <a:defRPr sz="2325" b="1">
                <a:solidFill>
                  <a:srgbClr val="FFFFFF"/>
                </a:solidFill>
              </a:defRPr>
            </a:lvl5pPr>
            <a:lvl6pPr>
              <a:defRPr sz="2325" b="1">
                <a:solidFill>
                  <a:srgbClr val="FFFFFF"/>
                </a:solidFill>
              </a:defRPr>
            </a:lvl6pPr>
            <a:lvl7pPr>
              <a:defRPr sz="2325" b="1">
                <a:solidFill>
                  <a:srgbClr val="FFFFFF"/>
                </a:solidFill>
              </a:defRPr>
            </a:lvl7pPr>
            <a:lvl8pPr>
              <a:defRPr sz="2325" b="1">
                <a:solidFill>
                  <a:srgbClr val="FFFFFF"/>
                </a:solidFill>
              </a:defRPr>
            </a:lvl8pPr>
            <a:lvl9pPr>
              <a:defRPr sz="232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FFFFFF"/>
                </a:solidFill>
              </a:defRPr>
            </a:pPr>
            <a:r>
              <a:rPr sz="2325" b="1">
                <a:solidFill>
                  <a:srgbClr val="FFFFFF"/>
                </a:solidFill>
              </a:rPr>
              <a:t>Portal Integration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B1133D-F10F-47D6-88A0-88EDFD7D4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3820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C8C0D8"/>
                </a:solidFill>
              </a:defRPr>
            </a:defPPr>
            <a:lvl1pPr>
              <a:defRPr sz="1275" b="0">
                <a:solidFill>
                  <a:srgbClr val="C8C0D8"/>
                </a:solidFill>
              </a:defRPr>
            </a:lvl1pPr>
            <a:lvl2pPr>
              <a:defRPr sz="1275" b="0">
                <a:solidFill>
                  <a:srgbClr val="C8C0D8"/>
                </a:solidFill>
              </a:defRPr>
            </a:lvl2pPr>
            <a:lvl3pPr>
              <a:defRPr sz="1275" b="0">
                <a:solidFill>
                  <a:srgbClr val="C8C0D8"/>
                </a:solidFill>
              </a:defRPr>
            </a:lvl3pPr>
            <a:lvl4pPr>
              <a:defRPr sz="1275" b="0">
                <a:solidFill>
                  <a:srgbClr val="C8C0D8"/>
                </a:solidFill>
              </a:defRPr>
            </a:lvl4pPr>
            <a:lvl5pPr>
              <a:defRPr sz="1275" b="0">
                <a:solidFill>
                  <a:srgbClr val="C8C0D8"/>
                </a:solidFill>
              </a:defRPr>
            </a:lvl5pPr>
            <a:lvl6pPr>
              <a:defRPr sz="1275" b="0">
                <a:solidFill>
                  <a:srgbClr val="C8C0D8"/>
                </a:solidFill>
              </a:defRPr>
            </a:lvl6pPr>
            <a:lvl7pPr>
              <a:defRPr sz="1275" b="0">
                <a:solidFill>
                  <a:srgbClr val="C8C0D8"/>
                </a:solidFill>
              </a:defRPr>
            </a:lvl7pPr>
            <a:lvl8pPr>
              <a:defRPr sz="1275" b="0">
                <a:solidFill>
                  <a:srgbClr val="C8C0D8"/>
                </a:solidFill>
              </a:defRPr>
            </a:lvl8pPr>
            <a:lvl9pPr>
              <a:defRPr sz="1275" b="0">
                <a:solidFill>
                  <a:srgbClr val="C8C0D8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C8C0D8"/>
                </a:solidFill>
              </a:defRPr>
            </a:pPr>
            <a:r>
              <a:rPr sz="1275" b="0">
                <a:solidFill>
                  <a:srgbClr val="C8C0D8"/>
                </a:solidFill>
              </a:rPr>
              <a:t>Week 6 connects the grounded reasoning agent and gene ranker to the BT-CAP website.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5204D2-688C-4D86-AEA8-BEB110338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38250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326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08CBC2-B271-48F1-994A-CC7449108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38250"/>
            <a:ext cx="1638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1F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558BE9-7764-4D71-A08B-637D4C9E3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906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3D8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C29E9B-650D-4B47-BC4C-B6425257C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04950"/>
            <a:ext cx="51625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FFFFFF"/>
                </a:solidFill>
              </a:defRPr>
            </a:defPPr>
            <a:lvl1pPr>
              <a:defRPr sz="1350" b="0">
                <a:solidFill>
                  <a:srgbClr val="FFFFFF"/>
                </a:solidFill>
              </a:defRPr>
            </a:lvl1pPr>
            <a:lvl2pPr>
              <a:defRPr sz="1350" b="0">
                <a:solidFill>
                  <a:srgbClr val="FFFFFF"/>
                </a:solidFill>
              </a:defRPr>
            </a:lvl2pPr>
            <a:lvl3pPr>
              <a:defRPr sz="1350" b="0">
                <a:solidFill>
                  <a:srgbClr val="FFFFFF"/>
                </a:solidFill>
              </a:defRPr>
            </a:lvl3pPr>
            <a:lvl4pPr>
              <a:defRPr sz="1350" b="0">
                <a:solidFill>
                  <a:srgbClr val="FFFFFF"/>
                </a:solidFill>
              </a:defRPr>
            </a:lvl4pPr>
            <a:lvl5pPr>
              <a:defRPr sz="1350" b="0">
                <a:solidFill>
                  <a:srgbClr val="FFFFFF"/>
                </a:solidFill>
              </a:defRPr>
            </a:lvl5pPr>
            <a:lvl6pPr>
              <a:defRPr sz="1350" b="0">
                <a:solidFill>
                  <a:srgbClr val="FFFFFF"/>
                </a:solidFill>
              </a:defRPr>
            </a:lvl6pPr>
            <a:lvl7pPr>
              <a:defRPr sz="1350" b="0">
                <a:solidFill>
                  <a:srgbClr val="FFFFFF"/>
                </a:solidFill>
              </a:defRPr>
            </a:lvl7pPr>
            <a:lvl8pPr>
              <a:defRPr sz="1350" b="0">
                <a:solidFill>
                  <a:srgbClr val="FFFFFF"/>
                </a:solidFill>
              </a:defRPr>
            </a:lvl8pPr>
            <a:lvl9pPr>
              <a:defRPr sz="1350" b="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Chat routes questions to the same CellChat, DEG, count, annotation, and nomination tools used by the CLI.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E82B1C-74EB-4AC8-8D94-BC073F208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383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3D8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C65B65-47A7-45E1-A64C-F6A5E55A1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52650"/>
            <a:ext cx="51625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FFFFFF"/>
                </a:solidFill>
              </a:defRPr>
            </a:defPPr>
            <a:lvl1pPr>
              <a:defRPr sz="1350" b="0">
                <a:solidFill>
                  <a:srgbClr val="FFFFFF"/>
                </a:solidFill>
              </a:defRPr>
            </a:lvl1pPr>
            <a:lvl2pPr>
              <a:defRPr sz="1350" b="0">
                <a:solidFill>
                  <a:srgbClr val="FFFFFF"/>
                </a:solidFill>
              </a:defRPr>
            </a:lvl2pPr>
            <a:lvl3pPr>
              <a:defRPr sz="1350" b="0">
                <a:solidFill>
                  <a:srgbClr val="FFFFFF"/>
                </a:solidFill>
              </a:defRPr>
            </a:lvl3pPr>
            <a:lvl4pPr>
              <a:defRPr sz="1350" b="0">
                <a:solidFill>
                  <a:srgbClr val="FFFFFF"/>
                </a:solidFill>
              </a:defRPr>
            </a:lvl4pPr>
            <a:lvl5pPr>
              <a:defRPr sz="1350" b="0">
                <a:solidFill>
                  <a:srgbClr val="FFFFFF"/>
                </a:solidFill>
              </a:defRPr>
            </a:lvl5pPr>
            <a:lvl6pPr>
              <a:defRPr sz="1350" b="0">
                <a:solidFill>
                  <a:srgbClr val="FFFFFF"/>
                </a:solidFill>
              </a:defRPr>
            </a:lvl6pPr>
            <a:lvl7pPr>
              <a:defRPr sz="1350" b="0">
                <a:solidFill>
                  <a:srgbClr val="FFFFFF"/>
                </a:solidFill>
              </a:defRPr>
            </a:lvl7pPr>
            <a:lvl8pPr>
              <a:defRPr sz="1350" b="0">
                <a:solidFill>
                  <a:srgbClr val="FFFFFF"/>
                </a:solidFill>
              </a:defRPr>
            </a:lvl8pPr>
            <a:lvl9pPr>
              <a:defRPr sz="1350" b="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The Genes tab reads held-out LightGBM scores, evidence flags, and scETM neighbors.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1B5971-7AD7-4678-B892-BDCF3E8E0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289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3D8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2C48C12-010A-4A3A-8199-F9752F6E2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43200"/>
            <a:ext cx="51625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9E0B6"/>
                </a:solidFill>
              </a:defRPr>
            </a:defPPr>
            <a:lvl1pPr>
              <a:defRPr sz="1350" b="0">
                <a:solidFill>
                  <a:srgbClr val="59E0B6"/>
                </a:solidFill>
              </a:defRPr>
            </a:lvl1pPr>
            <a:lvl2pPr>
              <a:defRPr sz="1350" b="0">
                <a:solidFill>
                  <a:srgbClr val="59E0B6"/>
                </a:solidFill>
              </a:defRPr>
            </a:lvl2pPr>
            <a:lvl3pPr>
              <a:defRPr sz="1350" b="0">
                <a:solidFill>
                  <a:srgbClr val="59E0B6"/>
                </a:solidFill>
              </a:defRPr>
            </a:lvl3pPr>
            <a:lvl4pPr>
              <a:defRPr sz="1350" b="0">
                <a:solidFill>
                  <a:srgbClr val="59E0B6"/>
                </a:solidFill>
              </a:defRPr>
            </a:lvl4pPr>
            <a:lvl5pPr>
              <a:defRPr sz="1350" b="0">
                <a:solidFill>
                  <a:srgbClr val="59E0B6"/>
                </a:solidFill>
              </a:defRPr>
            </a:lvl5pPr>
            <a:lvl6pPr>
              <a:defRPr sz="1350" b="0">
                <a:solidFill>
                  <a:srgbClr val="59E0B6"/>
                </a:solidFill>
              </a:defRPr>
            </a:lvl6pPr>
            <a:lvl7pPr>
              <a:defRPr sz="1350" b="0">
                <a:solidFill>
                  <a:srgbClr val="59E0B6"/>
                </a:solidFill>
              </a:defRPr>
            </a:lvl7pPr>
            <a:lvl8pPr>
              <a:defRPr sz="1350" b="0">
                <a:solidFill>
                  <a:srgbClr val="59E0B6"/>
                </a:solidFill>
              </a:defRPr>
            </a:lvl8pPr>
            <a:lvl9pPr>
              <a:defRPr sz="1350" b="0">
                <a:solidFill>
                  <a:srgbClr val="59E0B6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9E0B6"/>
                </a:solidFill>
              </a:defRPr>
            </a:pPr>
            <a:r>
              <a:rPr sz="1350" b="0">
                <a:solidFill>
                  <a:srgbClr val="59E0B6"/>
                </a:solidFill>
              </a:rPr>
              <a:t>The portal reads saved outputs from Weeks 1–5. It does not retrain either model.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8E9FC21-0BA4-4ACB-AC07-6E544409E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524000"/>
            <a:ext cx="5391150" cy="1752600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21113F"/>
          </a:solidFill>
          <a:ln xmlns:a="http://schemas.openxmlformats.org/drawingml/2006/main" w="9525">
            <a:solidFill>
              <a:srgbClr val="43265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3504B17-F151-4CE4-8C7B-BF5A8D330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752600"/>
            <a:ext cx="485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FFFFFF"/>
                </a:solidFill>
              </a:defRPr>
            </a:defPPr>
            <a:lvl1pPr>
              <a:defRPr sz="1725" b="1">
                <a:solidFill>
                  <a:srgbClr val="FFFFFF"/>
                </a:solidFill>
              </a:defRPr>
            </a:lvl1pPr>
            <a:lvl2pPr>
              <a:defRPr sz="1725" b="1">
                <a:solidFill>
                  <a:srgbClr val="FFFFFF"/>
                </a:solidFill>
              </a:defRPr>
            </a:lvl2pPr>
            <a:lvl3pPr>
              <a:defRPr sz="1725" b="1">
                <a:solidFill>
                  <a:srgbClr val="FFFFFF"/>
                </a:solidFill>
              </a:defRPr>
            </a:lvl3pPr>
            <a:lvl4pPr>
              <a:defRPr sz="1725" b="1">
                <a:solidFill>
                  <a:srgbClr val="FFFFFF"/>
                </a:solidFill>
              </a:defRPr>
            </a:lvl4pPr>
            <a:lvl5pPr>
              <a:defRPr sz="1725" b="1">
                <a:solidFill>
                  <a:srgbClr val="FFFFFF"/>
                </a:solidFill>
              </a:defRPr>
            </a:lvl5pPr>
            <a:lvl6pPr>
              <a:defRPr sz="1725" b="1">
                <a:solidFill>
                  <a:srgbClr val="FFFFFF"/>
                </a:solidFill>
              </a:defRPr>
            </a:lvl6pPr>
            <a:lvl7pPr>
              <a:defRPr sz="1725" b="1">
                <a:solidFill>
                  <a:srgbClr val="FFFFFF"/>
                </a:solidFill>
              </a:defRPr>
            </a:lvl7pPr>
            <a:lvl8pPr>
              <a:defRPr sz="1725" b="1">
                <a:solidFill>
                  <a:srgbClr val="FFFFFF"/>
                </a:solidFill>
              </a:defRPr>
            </a:lvl8pPr>
            <a:lvl9pPr>
              <a:defRPr sz="172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One shared evidence layer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CCA489E-E2F2-49F5-B816-AF898E7E5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171700"/>
            <a:ext cx="4762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C8C0D8"/>
                </a:solidFill>
              </a:defRPr>
            </a:defPPr>
            <a:lvl1pPr>
              <a:defRPr sz="1350" b="0">
                <a:solidFill>
                  <a:srgbClr val="C8C0D8"/>
                </a:solidFill>
              </a:defRPr>
            </a:lvl1pPr>
            <a:lvl2pPr>
              <a:defRPr sz="1350" b="0">
                <a:solidFill>
                  <a:srgbClr val="C8C0D8"/>
                </a:solidFill>
              </a:defRPr>
            </a:lvl2pPr>
            <a:lvl3pPr>
              <a:defRPr sz="1350" b="0">
                <a:solidFill>
                  <a:srgbClr val="C8C0D8"/>
                </a:solidFill>
              </a:defRPr>
            </a:lvl3pPr>
            <a:lvl4pPr>
              <a:defRPr sz="1350" b="0">
                <a:solidFill>
                  <a:srgbClr val="C8C0D8"/>
                </a:solidFill>
              </a:defRPr>
            </a:lvl4pPr>
            <a:lvl5pPr>
              <a:defRPr sz="1350" b="0">
                <a:solidFill>
                  <a:srgbClr val="C8C0D8"/>
                </a:solidFill>
              </a:defRPr>
            </a:lvl5pPr>
            <a:lvl6pPr>
              <a:defRPr sz="1350" b="0">
                <a:solidFill>
                  <a:srgbClr val="C8C0D8"/>
                </a:solidFill>
              </a:defRPr>
            </a:lvl6pPr>
            <a:lvl7pPr>
              <a:defRPr sz="1350" b="0">
                <a:solidFill>
                  <a:srgbClr val="C8C0D8"/>
                </a:solidFill>
              </a:defRPr>
            </a:lvl7pPr>
            <a:lvl8pPr>
              <a:defRPr sz="1350" b="0">
                <a:solidFill>
                  <a:srgbClr val="C8C0D8"/>
                </a:solidFill>
              </a:defRPr>
            </a:lvl8pPr>
            <a:lvl9pPr>
              <a:defRPr sz="1350" b="0">
                <a:solidFill>
                  <a:srgbClr val="C8C0D8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C8C0D8"/>
                </a:solidFill>
              </a:defRPr>
            </a:pPr>
            <a:r>
              <a:rPr sz="1350" b="0">
                <a:solidFill>
                  <a:srgbClr val="C8C0D8"/>
                </a:solidFill>
              </a:rPr>
              <a:t>The chat and Genes views load the same rank files and reasoning tables, preventing conflicting scores or provenance.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59C7E63-69EC-4A21-9AE1-83CFF92C4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619500"/>
            <a:ext cx="11315700" cy="2705100"/>
          </a:xfrm>
          <a:prstGeom xmlns:a="http://schemas.openxmlformats.org/drawingml/2006/main" prst="roundRect">
            <a:avLst>
              <a:gd name="adj" fmla="val 4225"/>
            </a:avLst>
          </a:prstGeom>
          <a:solidFill xmlns:a="http://schemas.openxmlformats.org/drawingml/2006/main">
            <a:srgbClr val="180A34"/>
          </a:solidFill>
          <a:ln xmlns:a="http://schemas.openxmlformats.org/drawingml/2006/main" w="9525">
            <a:solidFill>
              <a:srgbClr val="43265F"/>
            </a:solidFill>
            <a:prstDash val="solid"/>
          </a:ln>
        </p:spPr>
      </p:sp>
      <p:pic>
        <p:nvPic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C13266C-E35C-403B-82AE-C4E6508C355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d2a39bbe6844a22"/>
          <a:srcRect xmlns:a="http://schemas.openxmlformats.org/drawingml/2006/main" l="0" t="32700" r="0" b="44700"/>
          <a:stretch xmlns:a="http://schemas.openxmlformats.org/drawingml/2006/main"/>
        </p:blipFill>
        <p:spPr>
          <a:xfrm xmlns:a="http://schemas.openxmlformats.org/drawingml/2006/main">
            <a:off x="457200" y="3638550"/>
            <a:ext cx="11277600" cy="2667000"/>
          </a:xfrm>
          <a:prstGeom xmlns:a="http://schemas.openxmlformats.org/drawingml/2006/main" prst="roundRect">
            <a:avLst>
              <a:gd name="adj" fmla="val 2857"/>
            </a:avLst>
          </a:prstGeom>
        </p:spPr>
      </p:pic>
    </p:spTree>
    <p:extLst>
      <p:ext uri="{BB962C8B-B14F-4D97-AF65-F5344CB8AC3E}">
        <p14:creationId xmlns:p14="http://schemas.microsoft.com/office/powerpoint/2010/main" val="803642432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1100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7DAB877-44DB-45FF-A447-2808C631B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61950"/>
            <a:ext cx="108108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1">
                <a:solidFill>
                  <a:srgbClr val="FFFFFF"/>
                </a:solidFill>
              </a:defRPr>
            </a:defPPr>
            <a:lvl1pPr>
              <a:defRPr sz="2325" b="1">
                <a:solidFill>
                  <a:srgbClr val="FFFFFF"/>
                </a:solidFill>
              </a:defRPr>
            </a:lvl1pPr>
            <a:lvl2pPr>
              <a:defRPr sz="2325" b="1">
                <a:solidFill>
                  <a:srgbClr val="FFFFFF"/>
                </a:solidFill>
              </a:defRPr>
            </a:lvl2pPr>
            <a:lvl3pPr>
              <a:defRPr sz="2325" b="1">
                <a:solidFill>
                  <a:srgbClr val="FFFFFF"/>
                </a:solidFill>
              </a:defRPr>
            </a:lvl3pPr>
            <a:lvl4pPr>
              <a:defRPr sz="2325" b="1">
                <a:solidFill>
                  <a:srgbClr val="FFFFFF"/>
                </a:solidFill>
              </a:defRPr>
            </a:lvl4pPr>
            <a:lvl5pPr>
              <a:defRPr sz="2325" b="1">
                <a:solidFill>
                  <a:srgbClr val="FFFFFF"/>
                </a:solidFill>
              </a:defRPr>
            </a:lvl5pPr>
            <a:lvl6pPr>
              <a:defRPr sz="2325" b="1">
                <a:solidFill>
                  <a:srgbClr val="FFFFFF"/>
                </a:solidFill>
              </a:defRPr>
            </a:lvl6pPr>
            <a:lvl7pPr>
              <a:defRPr sz="2325" b="1">
                <a:solidFill>
                  <a:srgbClr val="FFFFFF"/>
                </a:solidFill>
              </a:defRPr>
            </a:lvl7pPr>
            <a:lvl8pPr>
              <a:defRPr sz="2325" b="1">
                <a:solidFill>
                  <a:srgbClr val="FFFFFF"/>
                </a:solidFill>
              </a:defRPr>
            </a:lvl8pPr>
            <a:lvl9pPr>
              <a:defRPr sz="232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FFFFFF"/>
                </a:solidFill>
              </a:defRPr>
            </a:pPr>
            <a:r>
              <a:rPr sz="2325" b="1">
                <a:solidFill>
                  <a:srgbClr val="FFFFFF"/>
                </a:solidFill>
              </a:rPr>
              <a:t>Auditable Gene Nomination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9C62B2-29DE-41DA-9CB9-A1F11D976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3820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C8C0D8"/>
                </a:solidFill>
              </a:defRPr>
            </a:defPPr>
            <a:lvl1pPr>
              <a:defRPr sz="1275" b="0">
                <a:solidFill>
                  <a:srgbClr val="C8C0D8"/>
                </a:solidFill>
              </a:defRPr>
            </a:lvl1pPr>
            <a:lvl2pPr>
              <a:defRPr sz="1275" b="0">
                <a:solidFill>
                  <a:srgbClr val="C8C0D8"/>
                </a:solidFill>
              </a:defRPr>
            </a:lvl2pPr>
            <a:lvl3pPr>
              <a:defRPr sz="1275" b="0">
                <a:solidFill>
                  <a:srgbClr val="C8C0D8"/>
                </a:solidFill>
              </a:defRPr>
            </a:lvl3pPr>
            <a:lvl4pPr>
              <a:defRPr sz="1275" b="0">
                <a:solidFill>
                  <a:srgbClr val="C8C0D8"/>
                </a:solidFill>
              </a:defRPr>
            </a:lvl4pPr>
            <a:lvl5pPr>
              <a:defRPr sz="1275" b="0">
                <a:solidFill>
                  <a:srgbClr val="C8C0D8"/>
                </a:solidFill>
              </a:defRPr>
            </a:lvl5pPr>
            <a:lvl6pPr>
              <a:defRPr sz="1275" b="0">
                <a:solidFill>
                  <a:srgbClr val="C8C0D8"/>
                </a:solidFill>
              </a:defRPr>
            </a:lvl6pPr>
            <a:lvl7pPr>
              <a:defRPr sz="1275" b="0">
                <a:solidFill>
                  <a:srgbClr val="C8C0D8"/>
                </a:solidFill>
              </a:defRPr>
            </a:lvl7pPr>
            <a:lvl8pPr>
              <a:defRPr sz="1275" b="0">
                <a:solidFill>
                  <a:srgbClr val="C8C0D8"/>
                </a:solidFill>
              </a:defRPr>
            </a:lvl8pPr>
            <a:lvl9pPr>
              <a:defRPr sz="1275" b="0">
                <a:solidFill>
                  <a:srgbClr val="C8C0D8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C8C0D8"/>
                </a:solidFill>
              </a:defRPr>
            </a:pPr>
            <a:r>
              <a:rPr sz="1275" b="0">
                <a:solidFill>
                  <a:srgbClr val="C8C0D8"/>
                </a:solidFill>
              </a:rPr>
              <a:t>A gene score now links directly to its context, evidence, features, and cross-validation fold.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61E3CA-C987-40D3-B175-5BA4C8CA6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38250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326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E3DFD3-A6E8-4174-8014-2B90DB980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38250"/>
            <a:ext cx="1638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1F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B424A6-7403-4BCE-BF03-0621AC30C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504950"/>
            <a:ext cx="7372350" cy="4591050"/>
          </a:xfrm>
          <a:prstGeom xmlns:a="http://schemas.openxmlformats.org/drawingml/2006/main" prst="roundRect">
            <a:avLst>
              <a:gd name="adj" fmla="val 2490"/>
            </a:avLst>
          </a:prstGeom>
          <a:solidFill xmlns:a="http://schemas.openxmlformats.org/drawingml/2006/main">
            <a:srgbClr val="180A34"/>
          </a:solidFill>
          <a:ln xmlns:a="http://schemas.openxmlformats.org/drawingml/2006/main" w="9525">
            <a:solidFill>
              <a:srgbClr val="43265F"/>
            </a:solidFill>
            <a:prstDash val="solid"/>
          </a:ln>
        </p:spPr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37A725-2FF5-4527-B22D-6D17D0CBD8A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5c43b4a8e9b4db2"/>
          <a:srcRect xmlns:a="http://schemas.openxmlformats.org/drawingml/2006/main" l="0" t="3000" r="0" b="17000"/>
          <a:stretch xmlns:a="http://schemas.openxmlformats.org/drawingml/2006/main"/>
        </p:blipFill>
        <p:spPr>
          <a:xfrm xmlns:a="http://schemas.openxmlformats.org/drawingml/2006/main">
            <a:off x="457200" y="1524000"/>
            <a:ext cx="7334250" cy="4552950"/>
          </a:xfrm>
          <a:prstGeom xmlns:a="http://schemas.openxmlformats.org/drawingml/2006/main" prst="roundRect">
            <a:avLst>
              <a:gd name="adj" fmla="val 1674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7F6645-9AB0-40A8-8A7A-9E1BC4E6B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581150"/>
            <a:ext cx="3143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FFFFFF"/>
                </a:solidFill>
              </a:defRPr>
            </a:defPPr>
            <a:lvl1pPr>
              <a:defRPr sz="1725" b="1">
                <a:solidFill>
                  <a:srgbClr val="FFFFFF"/>
                </a:solidFill>
              </a:defRPr>
            </a:lvl1pPr>
            <a:lvl2pPr>
              <a:defRPr sz="1725" b="1">
                <a:solidFill>
                  <a:srgbClr val="FFFFFF"/>
                </a:solidFill>
              </a:defRPr>
            </a:lvl2pPr>
            <a:lvl3pPr>
              <a:defRPr sz="1725" b="1">
                <a:solidFill>
                  <a:srgbClr val="FFFFFF"/>
                </a:solidFill>
              </a:defRPr>
            </a:lvl3pPr>
            <a:lvl4pPr>
              <a:defRPr sz="1725" b="1">
                <a:solidFill>
                  <a:srgbClr val="FFFFFF"/>
                </a:solidFill>
              </a:defRPr>
            </a:lvl4pPr>
            <a:lvl5pPr>
              <a:defRPr sz="1725" b="1">
                <a:solidFill>
                  <a:srgbClr val="FFFFFF"/>
                </a:solidFill>
              </a:defRPr>
            </a:lvl5pPr>
            <a:lvl6pPr>
              <a:defRPr sz="1725" b="1">
                <a:solidFill>
                  <a:srgbClr val="FFFFFF"/>
                </a:solidFill>
              </a:defRPr>
            </a:lvl6pPr>
            <a:lvl7pPr>
              <a:defRPr sz="1725" b="1">
                <a:solidFill>
                  <a:srgbClr val="FFFFFF"/>
                </a:solidFill>
              </a:defRPr>
            </a:lvl7pPr>
            <a:lvl8pPr>
              <a:defRPr sz="1725" b="1">
                <a:solidFill>
                  <a:srgbClr val="FFFFFF"/>
                </a:solidFill>
              </a:defRPr>
            </a:lvl8pPr>
            <a:lvl9pPr>
              <a:defRPr sz="172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Each gene card reports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4213DBC-0190-48B5-9299-506518AF1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1621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3D8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B03A652-708C-4AB4-955A-4F867DA30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076450"/>
            <a:ext cx="2971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FFFFFF"/>
                </a:solidFill>
              </a:defRPr>
            </a:defPPr>
            <a:lvl1pPr>
              <a:defRPr sz="1350" b="0">
                <a:solidFill>
                  <a:srgbClr val="FFFFFF"/>
                </a:solidFill>
              </a:defRPr>
            </a:lvl1pPr>
            <a:lvl2pPr>
              <a:defRPr sz="1350" b="0">
                <a:solidFill>
                  <a:srgbClr val="FFFFFF"/>
                </a:solidFill>
              </a:defRPr>
            </a:lvl2pPr>
            <a:lvl3pPr>
              <a:defRPr sz="1350" b="0">
                <a:solidFill>
                  <a:srgbClr val="FFFFFF"/>
                </a:solidFill>
              </a:defRPr>
            </a:lvl3pPr>
            <a:lvl4pPr>
              <a:defRPr sz="1350" b="0">
                <a:solidFill>
                  <a:srgbClr val="FFFFFF"/>
                </a:solidFill>
              </a:defRPr>
            </a:lvl4pPr>
            <a:lvl5pPr>
              <a:defRPr sz="1350" b="0">
                <a:solidFill>
                  <a:srgbClr val="FFFFFF"/>
                </a:solidFill>
              </a:defRPr>
            </a:lvl5pPr>
            <a:lvl6pPr>
              <a:defRPr sz="1350" b="0">
                <a:solidFill>
                  <a:srgbClr val="FFFFFF"/>
                </a:solidFill>
              </a:defRPr>
            </a:lvl6pPr>
            <a:lvl7pPr>
              <a:defRPr sz="1350" b="0">
                <a:solidFill>
                  <a:srgbClr val="FFFFFF"/>
                </a:solidFill>
              </a:defRPr>
            </a:lvl7pPr>
            <a:lvl8pPr>
              <a:defRPr sz="1350" b="0">
                <a:solidFill>
                  <a:srgbClr val="FFFFFF"/>
                </a:solidFill>
              </a:defRPr>
            </a:lvl8pPr>
            <a:lvl9pPr>
              <a:defRPr sz="1350" b="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Tumor-synaptic and immune-synapse probabilities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C02ED43-BD26-4FD1-BDB2-4F01E34AD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8098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3D8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1340A91-9076-439E-AF8A-41BE2554D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724150"/>
            <a:ext cx="2971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FFFFFF"/>
                </a:solidFill>
              </a:defRPr>
            </a:defPPr>
            <a:lvl1pPr>
              <a:defRPr sz="1350" b="0">
                <a:solidFill>
                  <a:srgbClr val="FFFFFF"/>
                </a:solidFill>
              </a:defRPr>
            </a:lvl1pPr>
            <a:lvl2pPr>
              <a:defRPr sz="1350" b="0">
                <a:solidFill>
                  <a:srgbClr val="FFFFFF"/>
                </a:solidFill>
              </a:defRPr>
            </a:lvl2pPr>
            <a:lvl3pPr>
              <a:defRPr sz="1350" b="0">
                <a:solidFill>
                  <a:srgbClr val="FFFFFF"/>
                </a:solidFill>
              </a:defRPr>
            </a:lvl3pPr>
            <a:lvl4pPr>
              <a:defRPr sz="1350" b="0">
                <a:solidFill>
                  <a:srgbClr val="FFFFFF"/>
                </a:solidFill>
              </a:defRPr>
            </a:lvl4pPr>
            <a:lvl5pPr>
              <a:defRPr sz="1350" b="0">
                <a:solidFill>
                  <a:srgbClr val="FFFFFF"/>
                </a:solidFill>
              </a:defRPr>
            </a:lvl5pPr>
            <a:lvl6pPr>
              <a:defRPr sz="1350" b="0">
                <a:solidFill>
                  <a:srgbClr val="FFFFFF"/>
                </a:solidFill>
              </a:defRPr>
            </a:lvl6pPr>
            <a:lvl7pPr>
              <a:defRPr sz="1350" b="0">
                <a:solidFill>
                  <a:srgbClr val="FFFFFF"/>
                </a:solidFill>
              </a:defRPr>
            </a:lvl7pPr>
            <a:lvl8pPr>
              <a:defRPr sz="1350" b="0">
                <a:solidFill>
                  <a:srgbClr val="FFFFFF"/>
                </a:solidFill>
              </a:defRPr>
            </a:lvl8pPr>
            <a:lvl9pPr>
              <a:defRPr sz="1350" b="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The three features that drove the score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B33F351-01FB-49BF-BDA2-B5DEBAE32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4194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3D8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B582E55-BC36-434C-9BB9-D5A9AB8EB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333750"/>
            <a:ext cx="2971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FFFFFF"/>
                </a:solidFill>
              </a:defRPr>
            </a:defPPr>
            <a:lvl1pPr>
              <a:defRPr sz="1350" b="0">
                <a:solidFill>
                  <a:srgbClr val="FFFFFF"/>
                </a:solidFill>
              </a:defRPr>
            </a:lvl1pPr>
            <a:lvl2pPr>
              <a:defRPr sz="1350" b="0">
                <a:solidFill>
                  <a:srgbClr val="FFFFFF"/>
                </a:solidFill>
              </a:defRPr>
            </a:lvl2pPr>
            <a:lvl3pPr>
              <a:defRPr sz="1350" b="0">
                <a:solidFill>
                  <a:srgbClr val="FFFFFF"/>
                </a:solidFill>
              </a:defRPr>
            </a:lvl3pPr>
            <a:lvl4pPr>
              <a:defRPr sz="1350" b="0">
                <a:solidFill>
                  <a:srgbClr val="FFFFFF"/>
                </a:solidFill>
              </a:defRPr>
            </a:lvl4pPr>
            <a:lvl5pPr>
              <a:defRPr sz="1350" b="0">
                <a:solidFill>
                  <a:srgbClr val="FFFFFF"/>
                </a:solidFill>
              </a:defRPr>
            </a:lvl5pPr>
            <a:lvl6pPr>
              <a:defRPr sz="1350" b="0">
                <a:solidFill>
                  <a:srgbClr val="FFFFFF"/>
                </a:solidFill>
              </a:defRPr>
            </a:lvl6pPr>
            <a:lvl7pPr>
              <a:defRPr sz="1350" b="0">
                <a:solidFill>
                  <a:srgbClr val="FFFFFF"/>
                </a:solidFill>
              </a:defRPr>
            </a:lvl7pPr>
            <a:lvl8pPr>
              <a:defRPr sz="1350" b="0">
                <a:solidFill>
                  <a:srgbClr val="FFFFFF"/>
                </a:solidFill>
              </a:defRPr>
            </a:lvl8pPr>
            <a:lvl9pPr>
              <a:defRPr sz="1350" b="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CellChat and DEG evidence with source rows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4A1E52F-2492-4231-A7E0-B6E41BEE1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0290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3D8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49EED9F-2990-459D-9A25-ACCC4EDEB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943350"/>
            <a:ext cx="2971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FFFFFF"/>
                </a:solidFill>
              </a:defRPr>
            </a:defPPr>
            <a:lvl1pPr>
              <a:defRPr sz="1350" b="0">
                <a:solidFill>
                  <a:srgbClr val="FFFFFF"/>
                </a:solidFill>
              </a:defRPr>
            </a:lvl1pPr>
            <a:lvl2pPr>
              <a:defRPr sz="1350" b="0">
                <a:solidFill>
                  <a:srgbClr val="FFFFFF"/>
                </a:solidFill>
              </a:defRPr>
            </a:lvl2pPr>
            <a:lvl3pPr>
              <a:defRPr sz="1350" b="0">
                <a:solidFill>
                  <a:srgbClr val="FFFFFF"/>
                </a:solidFill>
              </a:defRPr>
            </a:lvl3pPr>
            <a:lvl4pPr>
              <a:defRPr sz="1350" b="0">
                <a:solidFill>
                  <a:srgbClr val="FFFFFF"/>
                </a:solidFill>
              </a:defRPr>
            </a:lvl4pPr>
            <a:lvl5pPr>
              <a:defRPr sz="1350" b="0">
                <a:solidFill>
                  <a:srgbClr val="FFFFFF"/>
                </a:solidFill>
              </a:defRPr>
            </a:lvl5pPr>
            <a:lvl6pPr>
              <a:defRPr sz="1350" b="0">
                <a:solidFill>
                  <a:srgbClr val="FFFFFF"/>
                </a:solidFill>
              </a:defRPr>
            </a:lvl6pPr>
            <a:lvl7pPr>
              <a:defRPr sz="1350" b="0">
                <a:solidFill>
                  <a:srgbClr val="FFFFFF"/>
                </a:solidFill>
              </a:defRPr>
            </a:lvl7pPr>
            <a:lvl8pPr>
              <a:defRPr sz="1350" b="0">
                <a:solidFill>
                  <a:srgbClr val="FFFFFF"/>
                </a:solidFill>
              </a:defRPr>
            </a:lvl8pPr>
            <a:lvl9pPr>
              <a:defRPr sz="1350" b="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Minimum group size and the fold that scored the gene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A31BCDC-326E-4E4F-8A65-89ECA0961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800600"/>
            <a:ext cx="3409950" cy="1276350"/>
          </a:xfrm>
          <a:prstGeom xmlns:a="http://schemas.openxmlformats.org/drawingml/2006/main" prst="roundRect">
            <a:avLst>
              <a:gd name="adj" fmla="val 8955"/>
            </a:avLst>
          </a:prstGeom>
          <a:solidFill xmlns:a="http://schemas.openxmlformats.org/drawingml/2006/main">
            <a:srgbClr val="21113F"/>
          </a:solidFill>
          <a:ln xmlns:a="http://schemas.openxmlformats.org/drawingml/2006/main" w="9525">
            <a:solidFill>
              <a:srgbClr val="13D8E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B062E0D-5B1A-494E-B096-AB36AE15B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9911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13D8E5"/>
                </a:solidFill>
              </a:defRPr>
            </a:defPPr>
            <a:lvl1pPr>
              <a:defRPr sz="1275" b="1">
                <a:solidFill>
                  <a:srgbClr val="13D8E5"/>
                </a:solidFill>
              </a:defRPr>
            </a:lvl1pPr>
            <a:lvl2pPr>
              <a:defRPr sz="1275" b="1">
                <a:solidFill>
                  <a:srgbClr val="13D8E5"/>
                </a:solidFill>
              </a:defRPr>
            </a:lvl2pPr>
            <a:lvl3pPr>
              <a:defRPr sz="1275" b="1">
                <a:solidFill>
                  <a:srgbClr val="13D8E5"/>
                </a:solidFill>
              </a:defRPr>
            </a:lvl3pPr>
            <a:lvl4pPr>
              <a:defRPr sz="1275" b="1">
                <a:solidFill>
                  <a:srgbClr val="13D8E5"/>
                </a:solidFill>
              </a:defRPr>
            </a:lvl4pPr>
            <a:lvl5pPr>
              <a:defRPr sz="1275" b="1">
                <a:solidFill>
                  <a:srgbClr val="13D8E5"/>
                </a:solidFill>
              </a:defRPr>
            </a:lvl5pPr>
            <a:lvl6pPr>
              <a:defRPr sz="1275" b="1">
                <a:solidFill>
                  <a:srgbClr val="13D8E5"/>
                </a:solidFill>
              </a:defRPr>
            </a:lvl6pPr>
            <a:lvl7pPr>
              <a:defRPr sz="1275" b="1">
                <a:solidFill>
                  <a:srgbClr val="13D8E5"/>
                </a:solidFill>
              </a:defRPr>
            </a:lvl7pPr>
            <a:lvl8pPr>
              <a:defRPr sz="1275" b="1">
                <a:solidFill>
                  <a:srgbClr val="13D8E5"/>
                </a:solidFill>
              </a:defRPr>
            </a:lvl8pPr>
            <a:lvl9pPr>
              <a:defRPr sz="1275" b="1">
                <a:solidFill>
                  <a:srgbClr val="13D8E5"/>
                </a:solidFill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13D8E5"/>
                </a:solidFill>
              </a:defRPr>
            </a:pPr>
            <a:r>
              <a:rPr sz="1275" b="1">
                <a:solidFill>
                  <a:srgbClr val="13D8E5"/>
                </a:solidFill>
              </a:rPr>
              <a:t>Consistency rule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FE9E28D-5F44-4C94-8145-19AB6BD91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5295900"/>
            <a:ext cx="28765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FFFFFF"/>
                </a:solidFill>
              </a:defRPr>
            </a:defPPr>
            <a:lvl1pPr>
              <a:defRPr sz="1200" b="0">
                <a:solidFill>
                  <a:srgbClr val="FFFFFF"/>
                </a:solidFill>
              </a:defRPr>
            </a:lvl1pPr>
            <a:lvl2pPr>
              <a:defRPr sz="1200" b="0">
                <a:solidFill>
                  <a:srgbClr val="FFFFFF"/>
                </a:solidFill>
              </a:defRPr>
            </a:lvl2pPr>
            <a:lvl3pPr>
              <a:defRPr sz="1200" b="0">
                <a:solidFill>
                  <a:srgbClr val="FFFFFF"/>
                </a:solidFill>
              </a:defRPr>
            </a:lvl3pPr>
            <a:lvl4pPr>
              <a:defRPr sz="1200" b="0">
                <a:solidFill>
                  <a:srgbClr val="FFFFFF"/>
                </a:solidFill>
              </a:defRPr>
            </a:lvl4pPr>
            <a:lvl5pPr>
              <a:defRPr sz="1200" b="0">
                <a:solidFill>
                  <a:srgbClr val="FFFFFF"/>
                </a:solidFill>
              </a:defRPr>
            </a:lvl5pPr>
            <a:lvl6pPr>
              <a:defRPr sz="1200" b="0">
                <a:solidFill>
                  <a:srgbClr val="FFFFFF"/>
                </a:solidFill>
              </a:defRPr>
            </a:lvl6pPr>
            <a:lvl7pPr>
              <a:defRPr sz="1200" b="0">
                <a:solidFill>
                  <a:srgbClr val="FFFFFF"/>
                </a:solidFill>
              </a:defRPr>
            </a:lvl7pPr>
            <a:lvl8pPr>
              <a:defRPr sz="1200" b="0">
                <a:solidFill>
                  <a:srgbClr val="FFFFFF"/>
                </a:solidFill>
              </a:defRPr>
            </a:lvl8pPr>
            <a:lvl9pPr>
              <a:defRPr sz="1200" b="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FFFFFF"/>
                </a:solidFill>
              </a:defRPr>
            </a:pPr>
            <a:r>
              <a:rPr sz="1200" b="0">
                <a:solidFill>
                  <a:srgbClr val="FFFFFF"/>
                </a:solidFill>
              </a:rPr>
              <a:t>The gene card and chat use the same score loader, so NRXN1 receives the same result in both views.</a:t>
            </a:r>
          </a:p>
        </p:txBody>
      </p:sp>
    </p:spTree>
    <p:extLst>
      <p:ext uri="{BB962C8B-B14F-4D97-AF65-F5344CB8AC3E}">
        <p14:creationId xmlns:p14="http://schemas.microsoft.com/office/powerpoint/2010/main" val="739951422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1100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E3460BC-C4F6-4740-A034-9F2DCC045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61950"/>
            <a:ext cx="108108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1">
                <a:solidFill>
                  <a:srgbClr val="FFFFFF"/>
                </a:solidFill>
              </a:defRPr>
            </a:defPPr>
            <a:lvl1pPr>
              <a:defRPr sz="2325" b="1">
                <a:solidFill>
                  <a:srgbClr val="FFFFFF"/>
                </a:solidFill>
              </a:defRPr>
            </a:lvl1pPr>
            <a:lvl2pPr>
              <a:defRPr sz="2325" b="1">
                <a:solidFill>
                  <a:srgbClr val="FFFFFF"/>
                </a:solidFill>
              </a:defRPr>
            </a:lvl2pPr>
            <a:lvl3pPr>
              <a:defRPr sz="2325" b="1">
                <a:solidFill>
                  <a:srgbClr val="FFFFFF"/>
                </a:solidFill>
              </a:defRPr>
            </a:lvl3pPr>
            <a:lvl4pPr>
              <a:defRPr sz="2325" b="1">
                <a:solidFill>
                  <a:srgbClr val="FFFFFF"/>
                </a:solidFill>
              </a:defRPr>
            </a:lvl4pPr>
            <a:lvl5pPr>
              <a:defRPr sz="2325" b="1">
                <a:solidFill>
                  <a:srgbClr val="FFFFFF"/>
                </a:solidFill>
              </a:defRPr>
            </a:lvl5pPr>
            <a:lvl6pPr>
              <a:defRPr sz="2325" b="1">
                <a:solidFill>
                  <a:srgbClr val="FFFFFF"/>
                </a:solidFill>
              </a:defRPr>
            </a:lvl6pPr>
            <a:lvl7pPr>
              <a:defRPr sz="2325" b="1">
                <a:solidFill>
                  <a:srgbClr val="FFFFFF"/>
                </a:solidFill>
              </a:defRPr>
            </a:lvl7pPr>
            <a:lvl8pPr>
              <a:defRPr sz="2325" b="1">
                <a:solidFill>
                  <a:srgbClr val="FFFFFF"/>
                </a:solidFill>
              </a:defRPr>
            </a:lvl8pPr>
            <a:lvl9pPr>
              <a:defRPr sz="232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FFFFFF"/>
                </a:solidFill>
              </a:defRPr>
            </a:pPr>
            <a:r>
              <a:rPr sz="2325" b="1">
                <a:solidFill>
                  <a:srgbClr val="FFFFFF"/>
                </a:solidFill>
              </a:rPr>
              <a:t>Portal Regression Results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12307B-81DE-4289-912C-12806B90B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3820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C8C0D8"/>
                </a:solidFill>
              </a:defRPr>
            </a:defPPr>
            <a:lvl1pPr>
              <a:defRPr sz="1275" b="0">
                <a:solidFill>
                  <a:srgbClr val="C8C0D8"/>
                </a:solidFill>
              </a:defRPr>
            </a:lvl1pPr>
            <a:lvl2pPr>
              <a:defRPr sz="1275" b="0">
                <a:solidFill>
                  <a:srgbClr val="C8C0D8"/>
                </a:solidFill>
              </a:defRPr>
            </a:lvl2pPr>
            <a:lvl3pPr>
              <a:defRPr sz="1275" b="0">
                <a:solidFill>
                  <a:srgbClr val="C8C0D8"/>
                </a:solidFill>
              </a:defRPr>
            </a:lvl3pPr>
            <a:lvl4pPr>
              <a:defRPr sz="1275" b="0">
                <a:solidFill>
                  <a:srgbClr val="C8C0D8"/>
                </a:solidFill>
              </a:defRPr>
            </a:lvl4pPr>
            <a:lvl5pPr>
              <a:defRPr sz="1275" b="0">
                <a:solidFill>
                  <a:srgbClr val="C8C0D8"/>
                </a:solidFill>
              </a:defRPr>
            </a:lvl5pPr>
            <a:lvl6pPr>
              <a:defRPr sz="1275" b="0">
                <a:solidFill>
                  <a:srgbClr val="C8C0D8"/>
                </a:solidFill>
              </a:defRPr>
            </a:lvl6pPr>
            <a:lvl7pPr>
              <a:defRPr sz="1275" b="0">
                <a:solidFill>
                  <a:srgbClr val="C8C0D8"/>
                </a:solidFill>
              </a:defRPr>
            </a:lvl7pPr>
            <a:lvl8pPr>
              <a:defRPr sz="1275" b="0">
                <a:solidFill>
                  <a:srgbClr val="C8C0D8"/>
                </a:solidFill>
              </a:defRPr>
            </a:lvl8pPr>
            <a:lvl9pPr>
              <a:defRPr sz="1275" b="0">
                <a:solidFill>
                  <a:srgbClr val="C8C0D8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C8C0D8"/>
                </a:solidFill>
              </a:defRPr>
            </a:pPr>
            <a:r>
              <a:rPr sz="1275" b="0">
                <a:solidFill>
                  <a:srgbClr val="C8C0D8"/>
                </a:solidFill>
              </a:rPr>
              <a:t>The web interface now reproduces the verified command-line behavior across the full question set.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99F5AC-F2B7-4A55-8EEA-67705F9D8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38250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326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7752CF-C050-4A2B-8AED-00144EA9C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38250"/>
            <a:ext cx="1638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1F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1C3883-BAF1-400B-907C-4D7294789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81150"/>
            <a:ext cx="2476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9E0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CCC10D-6B5C-4F73-8D60-8050DC57F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52600"/>
            <a:ext cx="2476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59E0B6"/>
                </a:solidFill>
              </a:defRPr>
            </a:defPPr>
            <a:lvl1pPr>
              <a:defRPr sz="2850" b="1">
                <a:solidFill>
                  <a:srgbClr val="59E0B6"/>
                </a:solidFill>
              </a:defRPr>
            </a:lvl1pPr>
            <a:lvl2pPr>
              <a:defRPr sz="2850" b="1">
                <a:solidFill>
                  <a:srgbClr val="59E0B6"/>
                </a:solidFill>
              </a:defRPr>
            </a:lvl2pPr>
            <a:lvl3pPr>
              <a:defRPr sz="2850" b="1">
                <a:solidFill>
                  <a:srgbClr val="59E0B6"/>
                </a:solidFill>
              </a:defRPr>
            </a:lvl3pPr>
            <a:lvl4pPr>
              <a:defRPr sz="2850" b="1">
                <a:solidFill>
                  <a:srgbClr val="59E0B6"/>
                </a:solidFill>
              </a:defRPr>
            </a:lvl4pPr>
            <a:lvl5pPr>
              <a:defRPr sz="2850" b="1">
                <a:solidFill>
                  <a:srgbClr val="59E0B6"/>
                </a:solidFill>
              </a:defRPr>
            </a:lvl5pPr>
            <a:lvl6pPr>
              <a:defRPr sz="2850" b="1">
                <a:solidFill>
                  <a:srgbClr val="59E0B6"/>
                </a:solidFill>
              </a:defRPr>
            </a:lvl6pPr>
            <a:lvl7pPr>
              <a:defRPr sz="2850" b="1">
                <a:solidFill>
                  <a:srgbClr val="59E0B6"/>
                </a:solidFill>
              </a:defRPr>
            </a:lvl7pPr>
            <a:lvl8pPr>
              <a:defRPr sz="2850" b="1">
                <a:solidFill>
                  <a:srgbClr val="59E0B6"/>
                </a:solidFill>
              </a:defRPr>
            </a:lvl8pPr>
            <a:lvl9pPr>
              <a:defRPr sz="2850" b="1">
                <a:solidFill>
                  <a:srgbClr val="59E0B6"/>
                </a:solidFill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59E0B6"/>
                </a:solidFill>
              </a:defRPr>
            </a:pPr>
            <a:r>
              <a:rPr sz="2850" b="1">
                <a:solidFill>
                  <a:srgbClr val="59E0B6"/>
                </a:solidFill>
              </a:rPr>
              <a:t>44 / 44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144D7C-5F04-408C-AEB3-064968E12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24100"/>
            <a:ext cx="2476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C8C0D8"/>
                </a:solidFill>
              </a:defRPr>
            </a:defPPr>
            <a:lvl1pPr>
              <a:defRPr sz="1200" b="0">
                <a:solidFill>
                  <a:srgbClr val="C8C0D8"/>
                </a:solidFill>
              </a:defRPr>
            </a:lvl1pPr>
            <a:lvl2pPr>
              <a:defRPr sz="1200" b="0">
                <a:solidFill>
                  <a:srgbClr val="C8C0D8"/>
                </a:solidFill>
              </a:defRPr>
            </a:lvl2pPr>
            <a:lvl3pPr>
              <a:defRPr sz="1200" b="0">
                <a:solidFill>
                  <a:srgbClr val="C8C0D8"/>
                </a:solidFill>
              </a:defRPr>
            </a:lvl3pPr>
            <a:lvl4pPr>
              <a:defRPr sz="1200" b="0">
                <a:solidFill>
                  <a:srgbClr val="C8C0D8"/>
                </a:solidFill>
              </a:defRPr>
            </a:lvl4pPr>
            <a:lvl5pPr>
              <a:defRPr sz="1200" b="0">
                <a:solidFill>
                  <a:srgbClr val="C8C0D8"/>
                </a:solidFill>
              </a:defRPr>
            </a:lvl5pPr>
            <a:lvl6pPr>
              <a:defRPr sz="1200" b="0">
                <a:solidFill>
                  <a:srgbClr val="C8C0D8"/>
                </a:solidFill>
              </a:defRPr>
            </a:lvl6pPr>
            <a:lvl7pPr>
              <a:defRPr sz="1200" b="0">
                <a:solidFill>
                  <a:srgbClr val="C8C0D8"/>
                </a:solidFill>
              </a:defRPr>
            </a:lvl7pPr>
            <a:lvl8pPr>
              <a:defRPr sz="1200" b="0">
                <a:solidFill>
                  <a:srgbClr val="C8C0D8"/>
                </a:solidFill>
              </a:defRPr>
            </a:lvl8pPr>
            <a:lvl9pPr>
              <a:defRPr sz="1200" b="0">
                <a:solidFill>
                  <a:srgbClr val="C8C0D8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C8C0D8"/>
                </a:solidFill>
              </a:defRPr>
            </a:pPr>
            <a:r>
              <a:rPr sz="1200" b="0">
                <a:solidFill>
                  <a:srgbClr val="C8C0D8"/>
                </a:solidFill>
              </a:rPr>
              <a:t>questions matched across API and CLI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3DFC56D-A1AD-4BB3-903E-3486BF1CF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1581150"/>
            <a:ext cx="2476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9E0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829E1C9-9054-41BC-9894-A71CED4FE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1752600"/>
            <a:ext cx="2476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59E0B6"/>
                </a:solidFill>
              </a:defRPr>
            </a:defPPr>
            <a:lvl1pPr>
              <a:defRPr sz="2850" b="1">
                <a:solidFill>
                  <a:srgbClr val="59E0B6"/>
                </a:solidFill>
              </a:defRPr>
            </a:lvl1pPr>
            <a:lvl2pPr>
              <a:defRPr sz="2850" b="1">
                <a:solidFill>
                  <a:srgbClr val="59E0B6"/>
                </a:solidFill>
              </a:defRPr>
            </a:lvl2pPr>
            <a:lvl3pPr>
              <a:defRPr sz="2850" b="1">
                <a:solidFill>
                  <a:srgbClr val="59E0B6"/>
                </a:solidFill>
              </a:defRPr>
            </a:lvl3pPr>
            <a:lvl4pPr>
              <a:defRPr sz="2850" b="1">
                <a:solidFill>
                  <a:srgbClr val="59E0B6"/>
                </a:solidFill>
              </a:defRPr>
            </a:lvl4pPr>
            <a:lvl5pPr>
              <a:defRPr sz="2850" b="1">
                <a:solidFill>
                  <a:srgbClr val="59E0B6"/>
                </a:solidFill>
              </a:defRPr>
            </a:lvl5pPr>
            <a:lvl6pPr>
              <a:defRPr sz="2850" b="1">
                <a:solidFill>
                  <a:srgbClr val="59E0B6"/>
                </a:solidFill>
              </a:defRPr>
            </a:lvl6pPr>
            <a:lvl7pPr>
              <a:defRPr sz="2850" b="1">
                <a:solidFill>
                  <a:srgbClr val="59E0B6"/>
                </a:solidFill>
              </a:defRPr>
            </a:lvl7pPr>
            <a:lvl8pPr>
              <a:defRPr sz="2850" b="1">
                <a:solidFill>
                  <a:srgbClr val="59E0B6"/>
                </a:solidFill>
              </a:defRPr>
            </a:lvl8pPr>
            <a:lvl9pPr>
              <a:defRPr sz="2850" b="1">
                <a:solidFill>
                  <a:srgbClr val="59E0B6"/>
                </a:solidFill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59E0B6"/>
                </a:solidFill>
              </a:defRPr>
            </a:pPr>
            <a:r>
              <a:rPr sz="2850" b="1">
                <a:solidFill>
                  <a:srgbClr val="59E0B6"/>
                </a:solidFill>
              </a:rPr>
              <a:t>24 / 24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5F2A6F2-68D5-472F-9CD4-EE027D79C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324100"/>
            <a:ext cx="2476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C8C0D8"/>
                </a:solidFill>
              </a:defRPr>
            </a:defPPr>
            <a:lvl1pPr>
              <a:defRPr sz="1200" b="0">
                <a:solidFill>
                  <a:srgbClr val="C8C0D8"/>
                </a:solidFill>
              </a:defRPr>
            </a:lvl1pPr>
            <a:lvl2pPr>
              <a:defRPr sz="1200" b="0">
                <a:solidFill>
                  <a:srgbClr val="C8C0D8"/>
                </a:solidFill>
              </a:defRPr>
            </a:lvl2pPr>
            <a:lvl3pPr>
              <a:defRPr sz="1200" b="0">
                <a:solidFill>
                  <a:srgbClr val="C8C0D8"/>
                </a:solidFill>
              </a:defRPr>
            </a:lvl3pPr>
            <a:lvl4pPr>
              <a:defRPr sz="1200" b="0">
                <a:solidFill>
                  <a:srgbClr val="C8C0D8"/>
                </a:solidFill>
              </a:defRPr>
            </a:lvl4pPr>
            <a:lvl5pPr>
              <a:defRPr sz="1200" b="0">
                <a:solidFill>
                  <a:srgbClr val="C8C0D8"/>
                </a:solidFill>
              </a:defRPr>
            </a:lvl5pPr>
            <a:lvl6pPr>
              <a:defRPr sz="1200" b="0">
                <a:solidFill>
                  <a:srgbClr val="C8C0D8"/>
                </a:solidFill>
              </a:defRPr>
            </a:lvl6pPr>
            <a:lvl7pPr>
              <a:defRPr sz="1200" b="0">
                <a:solidFill>
                  <a:srgbClr val="C8C0D8"/>
                </a:solidFill>
              </a:defRPr>
            </a:lvl7pPr>
            <a:lvl8pPr>
              <a:defRPr sz="1200" b="0">
                <a:solidFill>
                  <a:srgbClr val="C8C0D8"/>
                </a:solidFill>
              </a:defRPr>
            </a:lvl8pPr>
            <a:lvl9pPr>
              <a:defRPr sz="1200" b="0">
                <a:solidFill>
                  <a:srgbClr val="C8C0D8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C8C0D8"/>
                </a:solidFill>
              </a:defRPr>
            </a:pPr>
            <a:r>
              <a:rPr sz="1200" b="0">
                <a:solidFill>
                  <a:srgbClr val="C8C0D8"/>
                </a:solidFill>
              </a:rPr>
              <a:t>MedGemma answers replayed from cache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2EF16BC-27E8-4334-8FF3-C34DBAF9A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1581150"/>
            <a:ext cx="2476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D8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8C6A8FF-BFB3-4674-8E4C-01027D705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1752600"/>
            <a:ext cx="2476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13D8E5"/>
                </a:solidFill>
              </a:defRPr>
            </a:defPPr>
            <a:lvl1pPr>
              <a:defRPr sz="2850" b="1">
                <a:solidFill>
                  <a:srgbClr val="13D8E5"/>
                </a:solidFill>
              </a:defRPr>
            </a:lvl1pPr>
            <a:lvl2pPr>
              <a:defRPr sz="2850" b="1">
                <a:solidFill>
                  <a:srgbClr val="13D8E5"/>
                </a:solidFill>
              </a:defRPr>
            </a:lvl2pPr>
            <a:lvl3pPr>
              <a:defRPr sz="2850" b="1">
                <a:solidFill>
                  <a:srgbClr val="13D8E5"/>
                </a:solidFill>
              </a:defRPr>
            </a:lvl3pPr>
            <a:lvl4pPr>
              <a:defRPr sz="2850" b="1">
                <a:solidFill>
                  <a:srgbClr val="13D8E5"/>
                </a:solidFill>
              </a:defRPr>
            </a:lvl4pPr>
            <a:lvl5pPr>
              <a:defRPr sz="2850" b="1">
                <a:solidFill>
                  <a:srgbClr val="13D8E5"/>
                </a:solidFill>
              </a:defRPr>
            </a:lvl5pPr>
            <a:lvl6pPr>
              <a:defRPr sz="2850" b="1">
                <a:solidFill>
                  <a:srgbClr val="13D8E5"/>
                </a:solidFill>
              </a:defRPr>
            </a:lvl6pPr>
            <a:lvl7pPr>
              <a:defRPr sz="2850" b="1">
                <a:solidFill>
                  <a:srgbClr val="13D8E5"/>
                </a:solidFill>
              </a:defRPr>
            </a:lvl7pPr>
            <a:lvl8pPr>
              <a:defRPr sz="2850" b="1">
                <a:solidFill>
                  <a:srgbClr val="13D8E5"/>
                </a:solidFill>
              </a:defRPr>
            </a:lvl8pPr>
            <a:lvl9pPr>
              <a:defRPr sz="2850" b="1">
                <a:solidFill>
                  <a:srgbClr val="13D8E5"/>
                </a:solidFill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13D8E5"/>
                </a:solidFill>
              </a:defRPr>
            </a:pPr>
            <a:r>
              <a:rPr sz="2850" b="1">
                <a:solidFill>
                  <a:srgbClr val="13D8E5"/>
                </a:solidFill>
              </a:rPr>
              <a:t>294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7D4502A-A84D-4954-B927-59E95926A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324100"/>
            <a:ext cx="2476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C8C0D8"/>
                </a:solidFill>
              </a:defRPr>
            </a:defPPr>
            <a:lvl1pPr>
              <a:defRPr sz="1200" b="0">
                <a:solidFill>
                  <a:srgbClr val="C8C0D8"/>
                </a:solidFill>
              </a:defRPr>
            </a:lvl1pPr>
            <a:lvl2pPr>
              <a:defRPr sz="1200" b="0">
                <a:solidFill>
                  <a:srgbClr val="C8C0D8"/>
                </a:solidFill>
              </a:defRPr>
            </a:lvl2pPr>
            <a:lvl3pPr>
              <a:defRPr sz="1200" b="0">
                <a:solidFill>
                  <a:srgbClr val="C8C0D8"/>
                </a:solidFill>
              </a:defRPr>
            </a:lvl3pPr>
            <a:lvl4pPr>
              <a:defRPr sz="1200" b="0">
                <a:solidFill>
                  <a:srgbClr val="C8C0D8"/>
                </a:solidFill>
              </a:defRPr>
            </a:lvl4pPr>
            <a:lvl5pPr>
              <a:defRPr sz="1200" b="0">
                <a:solidFill>
                  <a:srgbClr val="C8C0D8"/>
                </a:solidFill>
              </a:defRPr>
            </a:lvl5pPr>
            <a:lvl6pPr>
              <a:defRPr sz="1200" b="0">
                <a:solidFill>
                  <a:srgbClr val="C8C0D8"/>
                </a:solidFill>
              </a:defRPr>
            </a:lvl6pPr>
            <a:lvl7pPr>
              <a:defRPr sz="1200" b="0">
                <a:solidFill>
                  <a:srgbClr val="C8C0D8"/>
                </a:solidFill>
              </a:defRPr>
            </a:lvl7pPr>
            <a:lvl8pPr>
              <a:defRPr sz="1200" b="0">
                <a:solidFill>
                  <a:srgbClr val="C8C0D8"/>
                </a:solidFill>
              </a:defRPr>
            </a:lvl8pPr>
            <a:lvl9pPr>
              <a:defRPr sz="1200" b="0">
                <a:solidFill>
                  <a:srgbClr val="C8C0D8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C8C0D8"/>
                </a:solidFill>
              </a:defRPr>
            </a:pPr>
            <a:r>
              <a:rPr sz="1200" b="0">
                <a:solidFill>
                  <a:srgbClr val="C8C0D8"/>
                </a:solidFill>
              </a:rPr>
              <a:t>Python and RAG tests passed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091A121-083B-4320-AD96-94D0B3017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1581150"/>
            <a:ext cx="2476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D8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F870061-02B4-4F06-8CAD-A626C0E1D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1752600"/>
            <a:ext cx="2476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13D8E5"/>
                </a:solidFill>
              </a:defRPr>
            </a:defPPr>
            <a:lvl1pPr>
              <a:defRPr sz="2850" b="1">
                <a:solidFill>
                  <a:srgbClr val="13D8E5"/>
                </a:solidFill>
              </a:defRPr>
            </a:lvl1pPr>
            <a:lvl2pPr>
              <a:defRPr sz="2850" b="1">
                <a:solidFill>
                  <a:srgbClr val="13D8E5"/>
                </a:solidFill>
              </a:defRPr>
            </a:lvl2pPr>
            <a:lvl3pPr>
              <a:defRPr sz="2850" b="1">
                <a:solidFill>
                  <a:srgbClr val="13D8E5"/>
                </a:solidFill>
              </a:defRPr>
            </a:lvl3pPr>
            <a:lvl4pPr>
              <a:defRPr sz="2850" b="1">
                <a:solidFill>
                  <a:srgbClr val="13D8E5"/>
                </a:solidFill>
              </a:defRPr>
            </a:lvl4pPr>
            <a:lvl5pPr>
              <a:defRPr sz="2850" b="1">
                <a:solidFill>
                  <a:srgbClr val="13D8E5"/>
                </a:solidFill>
              </a:defRPr>
            </a:lvl5pPr>
            <a:lvl6pPr>
              <a:defRPr sz="2850" b="1">
                <a:solidFill>
                  <a:srgbClr val="13D8E5"/>
                </a:solidFill>
              </a:defRPr>
            </a:lvl6pPr>
            <a:lvl7pPr>
              <a:defRPr sz="2850" b="1">
                <a:solidFill>
                  <a:srgbClr val="13D8E5"/>
                </a:solidFill>
              </a:defRPr>
            </a:lvl7pPr>
            <a:lvl8pPr>
              <a:defRPr sz="2850" b="1">
                <a:solidFill>
                  <a:srgbClr val="13D8E5"/>
                </a:solidFill>
              </a:defRPr>
            </a:lvl8pPr>
            <a:lvl9pPr>
              <a:defRPr sz="2850" b="1">
                <a:solidFill>
                  <a:srgbClr val="13D8E5"/>
                </a:solidFill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13D8E5"/>
                </a:solidFill>
              </a:defRPr>
            </a:pPr>
            <a:r>
              <a:rPr sz="2850" b="1">
                <a:solidFill>
                  <a:srgbClr val="13D8E5"/>
                </a:solidFill>
              </a:rPr>
              <a:t>8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258A396-B24B-41DA-8E77-37639379A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324100"/>
            <a:ext cx="2476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C8C0D8"/>
                </a:solidFill>
              </a:defRPr>
            </a:defPPr>
            <a:lvl1pPr>
              <a:defRPr sz="1200" b="0">
                <a:solidFill>
                  <a:srgbClr val="C8C0D8"/>
                </a:solidFill>
              </a:defRPr>
            </a:lvl1pPr>
            <a:lvl2pPr>
              <a:defRPr sz="1200" b="0">
                <a:solidFill>
                  <a:srgbClr val="C8C0D8"/>
                </a:solidFill>
              </a:defRPr>
            </a:lvl2pPr>
            <a:lvl3pPr>
              <a:defRPr sz="1200" b="0">
                <a:solidFill>
                  <a:srgbClr val="C8C0D8"/>
                </a:solidFill>
              </a:defRPr>
            </a:lvl3pPr>
            <a:lvl4pPr>
              <a:defRPr sz="1200" b="0">
                <a:solidFill>
                  <a:srgbClr val="C8C0D8"/>
                </a:solidFill>
              </a:defRPr>
            </a:lvl4pPr>
            <a:lvl5pPr>
              <a:defRPr sz="1200" b="0">
                <a:solidFill>
                  <a:srgbClr val="C8C0D8"/>
                </a:solidFill>
              </a:defRPr>
            </a:lvl5pPr>
            <a:lvl6pPr>
              <a:defRPr sz="1200" b="0">
                <a:solidFill>
                  <a:srgbClr val="C8C0D8"/>
                </a:solidFill>
              </a:defRPr>
            </a:lvl6pPr>
            <a:lvl7pPr>
              <a:defRPr sz="1200" b="0">
                <a:solidFill>
                  <a:srgbClr val="C8C0D8"/>
                </a:solidFill>
              </a:defRPr>
            </a:lvl7pPr>
            <a:lvl8pPr>
              <a:defRPr sz="1200" b="0">
                <a:solidFill>
                  <a:srgbClr val="C8C0D8"/>
                </a:solidFill>
              </a:defRPr>
            </a:lvl8pPr>
            <a:lvl9pPr>
              <a:defRPr sz="1200" b="0">
                <a:solidFill>
                  <a:srgbClr val="C8C0D8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C8C0D8"/>
                </a:solidFill>
              </a:defRPr>
            </a:pPr>
            <a:r>
              <a:rPr sz="1200" b="0">
                <a:solidFill>
                  <a:srgbClr val="C8C0D8"/>
                </a:solidFill>
              </a:rPr>
              <a:t>frontend tests plus production build</a:t>
            </a:r>
          </a:p>
        </p:txBody>
      </p:sp>
      <p:graphicFrame>
        <p:nvGraphicFrame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EAD7EFB-7836-4C57-81E7-670193AE91C5}"/>
              </a:ext>
            </a:extLst>
          </p:cNvPr>
          <p:cNvGraphicFramePr/>
          <p:nvPr/>
        </p:nvGraphicFramePr>
        <p:xfrm>
          <a:off xmlns:a="http://schemas.openxmlformats.org/drawingml/2006/main" x="457200" y="3105150"/>
          <a:ext xmlns:a="http://schemas.openxmlformats.org/drawingml/2006/main" cx="11277600" cy="26098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647950"/>
                <a:gridCol w="6438900"/>
                <a:gridCol w="2190750"/>
              </a:tblGrid>
              <a:tr h="52197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3D8E5"/>
                          </a:solidFill>
                        </a:rPr>
                        <a:t>Check</a:t>
                      </a:r>
                    </a:p>
                  </a:txBody>
                  <a:tcPr marL="133350" marR="133350" marT="95250" marB="95250">
                    <a:lnL w="9525">
                      <a:solidFill>
                        <a:srgbClr val="43265F"/>
                      </a:solidFill>
                      <a:prstDash val="solid"/>
                    </a:lnL>
                    <a:lnR w="9525">
                      <a:solidFill>
                        <a:srgbClr val="43265F"/>
                      </a:solidFill>
                      <a:prstDash val="solid"/>
                    </a:lnR>
                    <a:lnT w="9525">
                      <a:solidFill>
                        <a:srgbClr val="43265F"/>
                      </a:solidFill>
                      <a:prstDash val="solid"/>
                    </a:lnT>
                    <a:lnB w="9525">
                      <a:solidFill>
                        <a:srgbClr val="43265F"/>
                      </a:solidFill>
                      <a:prstDash val="solid"/>
                    </a:lnB>
                    <a:solidFill>
                      <a:srgbClr val="180A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3D8E5"/>
                          </a:solidFill>
                        </a:rPr>
                        <a:t>Requirement</a:t>
                      </a:r>
                    </a:p>
                  </a:txBody>
                  <a:tcPr marL="133350" marR="133350" marT="95250" marB="95250">
                    <a:lnR w="9525">
                      <a:solidFill>
                        <a:srgbClr val="43265F"/>
                      </a:solidFill>
                      <a:prstDash val="solid"/>
                    </a:lnR>
                    <a:lnT w="9525">
                      <a:solidFill>
                        <a:srgbClr val="43265F"/>
                      </a:solidFill>
                      <a:prstDash val="solid"/>
                    </a:lnT>
                    <a:lnB w="9525">
                      <a:solidFill>
                        <a:srgbClr val="43265F"/>
                      </a:solidFill>
                      <a:prstDash val="solid"/>
                    </a:lnB>
                    <a:solidFill>
                      <a:srgbClr val="180A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3D8E5"/>
                          </a:solidFill>
                        </a:rPr>
                        <a:t>Result</a:t>
                      </a:r>
                    </a:p>
                  </a:txBody>
                  <a:tcPr marL="133350" marR="133350" marT="95250" marB="95250">
                    <a:lnR w="9525">
                      <a:solidFill>
                        <a:srgbClr val="43265F"/>
                      </a:solidFill>
                      <a:prstDash val="solid"/>
                    </a:lnR>
                    <a:lnT w="9525">
                      <a:solidFill>
                        <a:srgbClr val="43265F"/>
                      </a:solidFill>
                      <a:prstDash val="solid"/>
                    </a:lnT>
                    <a:lnB w="9525">
                      <a:solidFill>
                        <a:srgbClr val="43265F"/>
                      </a:solidFill>
                      <a:prstDash val="solid"/>
                    </a:lnB>
                    <a:solidFill>
                      <a:srgbClr val="180A34"/>
                    </a:solidFill>
                  </a:tcPr>
                </a:tc>
              </a:tr>
              <a:tr h="521970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FFFFFF"/>
                          </a:solidFill>
                        </a:rPr>
                        <a:t>Grounded Q1–Q44</a:t>
                      </a:r>
                    </a:p>
                  </a:txBody>
                  <a:tcPr marL="133350" marR="133350" marT="85725" marB="85725">
                    <a:lnL w="9525">
                      <a:solidFill>
                        <a:srgbClr val="43265F"/>
                      </a:solidFill>
                      <a:prstDash val="solid"/>
                    </a:lnL>
                    <a:lnR w="9525">
                      <a:solidFill>
                        <a:srgbClr val="43265F"/>
                      </a:solidFill>
                      <a:prstDash val="solid"/>
                    </a:lnR>
                    <a:lnB w="9525">
                      <a:solidFill>
                        <a:srgbClr val="43265F"/>
                      </a:solidFill>
                      <a:prstDash val="solid"/>
                    </a:lnB>
                    <a:solidFill>
                      <a:srgbClr val="21113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FFFFFF"/>
                          </a:solidFill>
                        </a:rPr>
                        <a:t>Same tools and required evidence terms</a:t>
                      </a:r>
                    </a:p>
                  </a:txBody>
                  <a:tcPr marL="133350" marR="133350" marT="85725" marB="85725">
                    <a:lnR w="9525">
                      <a:solidFill>
                        <a:srgbClr val="43265F"/>
                      </a:solidFill>
                      <a:prstDash val="solid"/>
                    </a:lnR>
                    <a:lnB w="9525">
                      <a:solidFill>
                        <a:srgbClr val="43265F"/>
                      </a:solidFill>
                      <a:prstDash val="solid"/>
                    </a:lnB>
                    <a:solidFill>
                      <a:srgbClr val="21113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59E0B6"/>
                          </a:solidFill>
                        </a:rPr>
                        <a:t>PASS</a:t>
                      </a:r>
                    </a:p>
                  </a:txBody>
                  <a:tcPr marL="133350" marR="133350" marT="85725" marB="85725">
                    <a:lnR w="9525">
                      <a:solidFill>
                        <a:srgbClr val="43265F"/>
                      </a:solidFill>
                      <a:prstDash val="solid"/>
                    </a:lnR>
                    <a:lnB w="9525">
                      <a:solidFill>
                        <a:srgbClr val="43265F"/>
                      </a:solidFill>
                      <a:prstDash val="solid"/>
                    </a:lnB>
                    <a:solidFill>
                      <a:srgbClr val="15352F"/>
                    </a:solidFill>
                  </a:tcPr>
                </a:tc>
              </a:tr>
              <a:tr h="521970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FFFFFF"/>
                          </a:solidFill>
                        </a:rPr>
                        <a:t>Published genes</a:t>
                      </a:r>
                    </a:p>
                  </a:txBody>
                  <a:tcPr marL="133350" marR="133350" marT="85725" marB="85725">
                    <a:lnL w="9525">
                      <a:solidFill>
                        <a:srgbClr val="43265F"/>
                      </a:solidFill>
                      <a:prstDash val="solid"/>
                    </a:lnL>
                    <a:lnR w="9525">
                      <a:solidFill>
                        <a:srgbClr val="43265F"/>
                      </a:solidFill>
                      <a:prstDash val="solid"/>
                    </a:lnR>
                    <a:lnB w="9525">
                      <a:solidFill>
                        <a:srgbClr val="43265F"/>
                      </a:solidFill>
                      <a:prstDash val="solid"/>
                    </a:lnB>
                    <a:solidFill>
                      <a:srgbClr val="21113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FFFFFF"/>
                          </a:solidFill>
                        </a:rPr>
                        <a:t>Portal scores and ranks match nominate_lookup</a:t>
                      </a:r>
                    </a:p>
                  </a:txBody>
                  <a:tcPr marL="133350" marR="133350" marT="85725" marB="85725">
                    <a:lnR w="9525">
                      <a:solidFill>
                        <a:srgbClr val="43265F"/>
                      </a:solidFill>
                      <a:prstDash val="solid"/>
                    </a:lnR>
                    <a:lnB w="9525">
                      <a:solidFill>
                        <a:srgbClr val="43265F"/>
                      </a:solidFill>
                      <a:prstDash val="solid"/>
                    </a:lnB>
                    <a:solidFill>
                      <a:srgbClr val="21113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59E0B6"/>
                          </a:solidFill>
                        </a:rPr>
                        <a:t>PASS</a:t>
                      </a:r>
                    </a:p>
                  </a:txBody>
                  <a:tcPr marL="133350" marR="133350" marT="85725" marB="85725">
                    <a:lnR w="9525">
                      <a:solidFill>
                        <a:srgbClr val="43265F"/>
                      </a:solidFill>
                      <a:prstDash val="solid"/>
                    </a:lnR>
                    <a:lnB w="9525">
                      <a:solidFill>
                        <a:srgbClr val="43265F"/>
                      </a:solidFill>
                      <a:prstDash val="solid"/>
                    </a:lnB>
                    <a:solidFill>
                      <a:srgbClr val="15352F"/>
                    </a:solidFill>
                  </a:tcPr>
                </a:tc>
              </a:tr>
              <a:tr h="521970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FFFFFF"/>
                          </a:solidFill>
                        </a:rPr>
                        <a:t>MedGemma replay</a:t>
                      </a:r>
                    </a:p>
                  </a:txBody>
                  <a:tcPr marL="133350" marR="133350" marT="85725" marB="85725">
                    <a:lnL w="9525">
                      <a:solidFill>
                        <a:srgbClr val="43265F"/>
                      </a:solidFill>
                      <a:prstDash val="solid"/>
                    </a:lnL>
                    <a:lnR w="9525">
                      <a:solidFill>
                        <a:srgbClr val="43265F"/>
                      </a:solidFill>
                      <a:prstDash val="solid"/>
                    </a:lnR>
                    <a:lnB w="9525">
                      <a:solidFill>
                        <a:srgbClr val="43265F"/>
                      </a:solidFill>
                      <a:prstDash val="solid"/>
                    </a:lnB>
                    <a:solidFill>
                      <a:srgbClr val="21113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FFFFFF"/>
                          </a:solidFill>
                        </a:rPr>
                        <a:t>Cached answers return without a provider call</a:t>
                      </a:r>
                    </a:p>
                  </a:txBody>
                  <a:tcPr marL="133350" marR="133350" marT="85725" marB="85725">
                    <a:lnR w="9525">
                      <a:solidFill>
                        <a:srgbClr val="43265F"/>
                      </a:solidFill>
                      <a:prstDash val="solid"/>
                    </a:lnR>
                    <a:lnB w="9525">
                      <a:solidFill>
                        <a:srgbClr val="43265F"/>
                      </a:solidFill>
                      <a:prstDash val="solid"/>
                    </a:lnB>
                    <a:solidFill>
                      <a:srgbClr val="21113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59E0B6"/>
                          </a:solidFill>
                        </a:rPr>
                        <a:t>PASS</a:t>
                      </a:r>
                    </a:p>
                  </a:txBody>
                  <a:tcPr marL="133350" marR="133350" marT="85725" marB="85725">
                    <a:lnR w="9525">
                      <a:solidFill>
                        <a:srgbClr val="43265F"/>
                      </a:solidFill>
                      <a:prstDash val="solid"/>
                    </a:lnR>
                    <a:lnB w="9525">
                      <a:solidFill>
                        <a:srgbClr val="43265F"/>
                      </a:solidFill>
                      <a:prstDash val="solid"/>
                    </a:lnB>
                    <a:solidFill>
                      <a:srgbClr val="15352F"/>
                    </a:solidFill>
                  </a:tcPr>
                </a:tc>
              </a:tr>
              <a:tr h="521970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FFFFFF"/>
                          </a:solidFill>
                        </a:rPr>
                        <a:t>Production portal</a:t>
                      </a:r>
                    </a:p>
                  </a:txBody>
                  <a:tcPr marL="133350" marR="133350" marT="85725" marB="85725">
                    <a:lnL w="9525">
                      <a:solidFill>
                        <a:srgbClr val="43265F"/>
                      </a:solidFill>
                      <a:prstDash val="solid"/>
                    </a:lnL>
                    <a:lnR w="9525">
                      <a:solidFill>
                        <a:srgbClr val="43265F"/>
                      </a:solidFill>
                      <a:prstDash val="solid"/>
                    </a:lnR>
                    <a:lnB w="9525">
                      <a:solidFill>
                        <a:srgbClr val="43265F"/>
                      </a:solidFill>
                      <a:prstDash val="solid"/>
                    </a:lnB>
                    <a:solidFill>
                      <a:srgbClr val="21113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FFFFFF"/>
                          </a:solidFill>
                        </a:rPr>
                        <a:t>Backend, frontend, and build checks complete</a:t>
                      </a:r>
                    </a:p>
                  </a:txBody>
                  <a:tcPr marL="133350" marR="133350" marT="85725" marB="85725">
                    <a:lnR w="9525">
                      <a:solidFill>
                        <a:srgbClr val="43265F"/>
                      </a:solidFill>
                      <a:prstDash val="solid"/>
                    </a:lnR>
                    <a:lnB w="9525">
                      <a:solidFill>
                        <a:srgbClr val="43265F"/>
                      </a:solidFill>
                      <a:prstDash val="solid"/>
                    </a:lnB>
                    <a:solidFill>
                      <a:srgbClr val="21113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59E0B6"/>
                          </a:solidFill>
                        </a:rPr>
                        <a:t>PASS</a:t>
                      </a:r>
                    </a:p>
                  </a:txBody>
                  <a:tcPr marL="133350" marR="133350" marT="85725" marB="85725">
                    <a:lnR w="9525">
                      <a:solidFill>
                        <a:srgbClr val="43265F"/>
                      </a:solidFill>
                      <a:prstDash val="solid"/>
                    </a:lnR>
                    <a:lnB w="9525">
                      <a:solidFill>
                        <a:srgbClr val="43265F"/>
                      </a:solidFill>
                      <a:prstDash val="solid"/>
                    </a:lnB>
                    <a:solidFill>
                      <a:srgbClr val="15352F"/>
                    </a:solidFill>
                  </a:tcPr>
                </a:tc>
              </a:tr>
            </a:tbl>
          </a:graphicData>
        </a:graphic>
      </p:graphicFrame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7868780-50F8-4A65-9824-A09BC81B0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43600"/>
            <a:ext cx="112776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80A34"/>
          </a:solidFill>
          <a:ln xmlns:a="http://schemas.openxmlformats.org/drawingml/2006/main" w="9525">
            <a:solidFill>
              <a:srgbClr val="43265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95563E9-DC1A-49F9-9DB4-BCE18CA98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57900"/>
            <a:ext cx="1085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125" b="0">
                <a:solidFill>
                  <a:srgbClr val="C8C0D8"/>
                </a:solidFill>
              </a:defRPr>
            </a:defPPr>
            <a:lvl1pPr algn="ctr">
              <a:defRPr sz="1125" b="0">
                <a:solidFill>
                  <a:srgbClr val="C8C0D8"/>
                </a:solidFill>
              </a:defRPr>
            </a:lvl1pPr>
            <a:lvl2pPr algn="ctr">
              <a:defRPr sz="1125" b="0">
                <a:solidFill>
                  <a:srgbClr val="C8C0D8"/>
                </a:solidFill>
              </a:defRPr>
            </a:lvl2pPr>
            <a:lvl3pPr algn="ctr">
              <a:defRPr sz="1125" b="0">
                <a:solidFill>
                  <a:srgbClr val="C8C0D8"/>
                </a:solidFill>
              </a:defRPr>
            </a:lvl3pPr>
            <a:lvl4pPr algn="ctr">
              <a:defRPr sz="1125" b="0">
                <a:solidFill>
                  <a:srgbClr val="C8C0D8"/>
                </a:solidFill>
              </a:defRPr>
            </a:lvl4pPr>
            <a:lvl5pPr algn="ctr">
              <a:defRPr sz="1125" b="0">
                <a:solidFill>
                  <a:srgbClr val="C8C0D8"/>
                </a:solidFill>
              </a:defRPr>
            </a:lvl5pPr>
            <a:lvl6pPr algn="ctr">
              <a:defRPr sz="1125" b="0">
                <a:solidFill>
                  <a:srgbClr val="C8C0D8"/>
                </a:solidFill>
              </a:defRPr>
            </a:lvl6pPr>
            <a:lvl7pPr algn="ctr">
              <a:defRPr sz="1125" b="0">
                <a:solidFill>
                  <a:srgbClr val="C8C0D8"/>
                </a:solidFill>
              </a:defRPr>
            </a:lvl7pPr>
            <a:lvl8pPr algn="ctr">
              <a:defRPr sz="1125" b="0">
                <a:solidFill>
                  <a:srgbClr val="C8C0D8"/>
                </a:solidFill>
              </a:defRPr>
            </a:lvl8pPr>
            <a:lvl9pPr algn="ctr">
              <a:defRPr sz="1125" b="0">
                <a:solidFill>
                  <a:srgbClr val="C8C0D8"/>
                </a:solidFill>
              </a:defRPr>
            </a:lvl9pPr>
          </a:lstStyle>
          <a:p xmlns:a="http://schemas.openxmlformats.org/drawingml/2006/main">
            <a:pPr algn="ctr">
              <a:defRPr sz="1125" b="0">
                <a:solidFill>
                  <a:srgbClr val="C8C0D8"/>
                </a:solidFill>
              </a:defRPr>
            </a:pPr>
            <a:r>
              <a:rPr sz="1125" b="0">
                <a:solidFill>
                  <a:srgbClr val="C8C0D8"/>
                </a:solidFill>
              </a:rPr>
              <a:t>These checks establish software consistency and evidence provenance. Experimental validation remains the next scientific step.</a:t>
            </a:r>
          </a:p>
        </p:txBody>
      </p:sp>
    </p:spTree>
    <p:extLst>
      <p:ext uri="{BB962C8B-B14F-4D97-AF65-F5344CB8AC3E}">
        <p14:creationId xmlns:p14="http://schemas.microsoft.com/office/powerpoint/2010/main" val="1855410905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1100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D68738-D464-4A10-B7CC-F2A16023F3A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b3af9e9737b4063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6913597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1100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A28C69-850C-4C9B-9504-93AED6A6129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faecc1b5c3244e2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4519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2026-10-19T01:06:06.8530000Z</dcterms:created>
  <dcterms:modified xsi:type="dcterms:W3CDTF">2026-10-19T01:06:06.8530000Z</dcterms:modified>
</coreProperties>
</file>