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7c3a871ec094ca3" /><Relationship Type="http://schemas.openxmlformats.org/officeDocument/2006/relationships/extended-properties" Target="/docProps/app.xml" Id="R293b938da5514c69" /><Relationship Type="http://schemas.openxmlformats.org/officeDocument/2006/relationships/officeDocument" Target="/ppt/presentation.xml" Id="R064a2e195cb140e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056cd8755094a4a"/>
  </p:sldMasterIdLst>
  <p:notesMasterIdLst>
    <p:notesMasterId xmlns:r="http://schemas.openxmlformats.org/officeDocument/2006/relationships" r:id="Ra29112baeb5f4500"/>
  </p:notesMasterIdLst>
  <p:sldIdLst>
    <p:sldId xmlns:r="http://schemas.openxmlformats.org/officeDocument/2006/relationships" id="256" r:id="R89621e62435f4de2"/>
    <p:sldId xmlns:r="http://schemas.openxmlformats.org/officeDocument/2006/relationships" id="257" r:id="R1ccf5e7d65774150"/>
    <p:sldId xmlns:r="http://schemas.openxmlformats.org/officeDocument/2006/relationships" id="258" r:id="Rf7367fd879454aac"/>
    <p:sldId xmlns:r="http://schemas.openxmlformats.org/officeDocument/2006/relationships" id="259" r:id="Rf1d8cd9e3753492f"/>
    <p:sldId xmlns:r="http://schemas.openxmlformats.org/officeDocument/2006/relationships" id="260" r:id="Ra14a88996fa64e4f"/>
    <p:sldId xmlns:r="http://schemas.openxmlformats.org/officeDocument/2006/relationships" id="261" r:id="Rd4f22abbec274c1f"/>
    <p:sldId xmlns:r="http://schemas.openxmlformats.org/officeDocument/2006/relationships" id="262" r:id="R8d964b7cf70642a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3509e2a181e46fa" /><Relationship Type="http://schemas.openxmlformats.org/officeDocument/2006/relationships/slideMaster" Target="/ppt/slideMasters/slideMaster1.xml" Id="Rc056cd8755094a4a" /><Relationship Type="http://schemas.openxmlformats.org/officeDocument/2006/relationships/notesMaster" Target="/ppt/notesMasters/notesMaster1.xml" Id="Ra29112baeb5f4500" /><Relationship Type="http://schemas.openxmlformats.org/officeDocument/2006/relationships/presProps" Target="/ppt/presProps.xml" Id="Rbe45255afde949f5" /><Relationship Type="http://schemas.openxmlformats.org/officeDocument/2006/relationships/tableStyles" Target="/ppt/tableStyles.xml" Id="Rd3246080fba34c30" /><Relationship Type="http://schemas.openxmlformats.org/officeDocument/2006/relationships/slide" Target="/ppt/slides/slide1.xml" Id="R89621e62435f4de2" /><Relationship Type="http://schemas.openxmlformats.org/officeDocument/2006/relationships/slide" Target="/ppt/slides/slide2.xml" Id="R1ccf5e7d65774150" /><Relationship Type="http://schemas.openxmlformats.org/officeDocument/2006/relationships/slide" Target="/ppt/slides/slide3.xml" Id="Rf7367fd879454aac" /><Relationship Type="http://schemas.openxmlformats.org/officeDocument/2006/relationships/slide" Target="/ppt/slides/slide4.xml" Id="Rf1d8cd9e3753492f" /><Relationship Type="http://schemas.openxmlformats.org/officeDocument/2006/relationships/slide" Target="/ppt/slides/slide5.xml" Id="Ra14a88996fa64e4f" /><Relationship Type="http://schemas.openxmlformats.org/officeDocument/2006/relationships/slide" Target="/ppt/slides/slide6.xml" Id="Rd4f22abbec274c1f" /><Relationship Type="http://schemas.openxmlformats.org/officeDocument/2006/relationships/slide" Target="/ppt/slides/slide7.xml" Id="R8d964b7cf70642a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f5c7fe0f890440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d9a36de39754ab2" /><Relationship Type="http://schemas.openxmlformats.org/officeDocument/2006/relationships/notesMaster" Target="/ppt/notesMasters/notesMaster1.xml" Id="R4b2c90e2cb054eb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fc01593b3664a7e" /><Relationship Type="http://schemas.openxmlformats.org/officeDocument/2006/relationships/notesMaster" Target="/ppt/notesMasters/notesMaster1.xml" Id="Rc00005d0e8c3411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8e8b183709f45ed" /><Relationship Type="http://schemas.openxmlformats.org/officeDocument/2006/relationships/notesMaster" Target="/ppt/notesMasters/notesMaster1.xml" Id="R7c644f5192c2457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71e78912e434360" /><Relationship Type="http://schemas.openxmlformats.org/officeDocument/2006/relationships/notesMaster" Target="/ppt/notesMasters/notesMaster1.xml" Id="R59ce744ff4394e4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a54b4d22ffc4871" /><Relationship Type="http://schemas.openxmlformats.org/officeDocument/2006/relationships/notesMaster" Target="/ppt/notesMasters/notesMaster1.xml" Id="Redade1a92811404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8bd55bce67141a2" /><Relationship Type="http://schemas.openxmlformats.org/officeDocument/2006/relationships/notesMaster" Target="/ppt/notesMasters/notesMaster1.xml" Id="R92608298a27c4ea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569b0dfb85d4d99" /><Relationship Type="http://schemas.openxmlformats.org/officeDocument/2006/relationships/notesMaster" Target="/ppt/notesMasters/notesMaster1.xml" Id="R59f25a0522a34ac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project goal: convert large single-cell tables into traceable evidence and ranked validation candidates.</a:t>
            </a:r>
          </a:p>
          <a:p xmlns:a="http://schemas.openxmlformats.org/drawingml/2006/main">
            <a:r>
              <a:t>The new contribution this week is the portal integration. It does not retrain the models; it exposes the already verified agent and ranker through one user interface.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right: single-cell data and public gene lists feed derived tables and scETM features.</a:t>
            </a:r>
          </a:p>
          <a:p xmlns:a="http://schemas.openxmlformats.org/drawingml/2006/main">
            <a:r>
              <a:t>The upper lane answers questions with explicit table tools. The lower lane ranks genes with held-out LightGBM scores.</a:t>
            </a:r>
          </a:p>
          <a:p xmlns:a="http://schemas.openxmlformats.org/drawingml/2006/main">
            <a:r>
              <a:t>Week 5 linked the ranker back into the agent through nominate_lookup. Week 6 exposes both lanes through the portal.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agent separates retrieval from generation. A model only receives the evidence returned by the tools.</a:t>
            </a:r>
          </a:p>
          <a:p xmlns:a="http://schemas.openxmlformats.org/drawingml/2006/main">
            <a:r>
              <a:t>This screenshot shows the Week 5 nominate_lookup tool firing inside the Week 6 chat.</a:t>
            </a:r>
          </a:p>
          <a:p xmlns:a="http://schemas.openxmlformats.org/drawingml/2006/main">
            <a:r>
              <a:t>Q9 through Q32 reused 24 cached MedGemma responses. Verification blocked provider entry points and observed zero calls.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ranker uses gene-by-context rows. Cross-validation is grouped so a gene is never scored by a model trained on that gene.</a:t>
            </a:r>
          </a:p>
          <a:p xmlns:a="http://schemas.openxmlformats.org/drawingml/2006/main">
            <a:r>
              <a:t>Adding scETM features increased tumor AUROC from 0.675 to 0.742 and immune AUROC from 0.666 to 0.725.</a:t>
            </a:r>
          </a:p>
          <a:p xmlns:a="http://schemas.openxmlformats.org/drawingml/2006/main">
            <a:r>
              <a:t>The nominee tool returns probabilities, driving features, evidence flags, minimum cell count, and fold provenance.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Genes tab adds four panels: a gene card, ranked list, scETM neighbors, and evidence tables.</a:t>
            </a:r>
          </a:p>
          <a:p xmlns:a="http://schemas.openxmlformats.org/drawingml/2006/main">
            <a:r>
              <a:t>The backend loads the reasoning engine, rank scores, and embeddings once and serves them through the new reasoning and gene endpoints.</a:t>
            </a:r>
          </a:p>
          <a:p xmlns:a="http://schemas.openxmlformats.org/drawingml/2006/main">
            <a:r>
              <a:t>The central consistency decision is that the portal and nominate_lookup share one loader and the same score files.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44-of-44 result requires equal tool sets, allowed tool combinations, and every required evidence group on both API and CLI sides.</a:t>
            </a:r>
          </a:p>
          <a:p xmlns:a="http://schemas.openxmlformats.org/drawingml/2006/main">
            <a:r>
              <a:t>The published-gene check covered 310 scored outputs. AXL was absent in both places and correctly returned no score.</a:t>
            </a:r>
          </a:p>
          <a:p xmlns:a="http://schemas.openxmlformats.org/drawingml/2006/main">
            <a:r>
              <a:t>These are integration and reproducibility checks. They do not replace experimental validation of the biological nominees.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portal is now a review surface for the same evidence and rankings produced earlier in the project.</a:t>
            </a:r>
          </a:p>
          <a:p xmlns:a="http://schemas.openxmlformats.org/drawingml/2006/main">
            <a:r>
              <a:t>The screenshot demonstrates the grounding boundary: an invented pathway is rejected rather than answered from model memory.</a:t>
            </a:r>
          </a:p>
          <a:p xmlns:a="http://schemas.openxmlformats.org/drawingml/2006/main">
            <a:r>
              <a:t>The next scientific step is team review of high-scoring novel nominees and selection of candidates for experimental validation.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67c5a5f835466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5bd26805f04f0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4a4a93ab564da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22977052f6466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3f342e98f741d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38ba6d406944e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E848821-2FA1-43AD-AC38-5896A143DD0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02199FBA-3086-4C9A-B245-24212137133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1C76631-E138-4E3C-8690-E31842B4E0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162D0BB-2BDC-4A52-BC94-CC13C9650C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4257500-A9D1-4AAA-93CD-E1A2F574885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6943BEE-0F2C-4245-8F88-3D7A0389890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3BADE19-36FE-4D4E-BBB2-D61767A9160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F015129-60E3-4155-BF6B-F9D3B751726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AC10847-B374-4C9E-8829-B11F6FDC68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04238F4-088D-4414-BB4A-CC8370730FF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3ff37af9edd4d95" /><Relationship Type="http://schemas.openxmlformats.org/officeDocument/2006/relationships/slideLayout" Target="/ppt/slideLayouts/slideLayout1.xml" Id="R16767d7a255e4701" /><Relationship Type="http://schemas.openxmlformats.org/officeDocument/2006/relationships/slideLayout" Target="/ppt/slideLayouts/slideLayout2.xml" Id="R746ef7d2b38841e4" /><Relationship Type="http://schemas.openxmlformats.org/officeDocument/2006/relationships/slideLayout" Target="/ppt/slideLayouts/slideLayout3.xml" Id="R96f00e3422ab47fe" /><Relationship Type="http://schemas.openxmlformats.org/officeDocument/2006/relationships/slideLayout" Target="/ppt/slideLayouts/slideLayout4.xml" Id="R38a2d55639e049c1" /><Relationship Type="http://schemas.openxmlformats.org/officeDocument/2006/relationships/slideLayout" Target="/ppt/slideLayouts/slideLayout5.xml" Id="R7da4110a46bc4a50" /><Relationship Type="http://schemas.openxmlformats.org/officeDocument/2006/relationships/slideLayout" Target="/ppt/slideLayouts/slideLayout6.xml" Id="Rabae4f6c852d4a7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6767d7a255e4701"/>
    <p:sldLayoutId xmlns:r="http://schemas.openxmlformats.org/officeDocument/2006/relationships" id="2147483650" r:id="R746ef7d2b38841e4"/>
    <p:sldLayoutId xmlns:r="http://schemas.openxmlformats.org/officeDocument/2006/relationships" id="2147483651" r:id="R96f00e3422ab47fe"/>
    <p:sldLayoutId xmlns:r="http://schemas.openxmlformats.org/officeDocument/2006/relationships" id="2147483652" r:id="R38a2d55639e049c1"/>
    <p:sldLayoutId xmlns:r="http://schemas.openxmlformats.org/officeDocument/2006/relationships" id="2147483653" r:id="R7da4110a46bc4a50"/>
    <p:sldLayoutId xmlns:r="http://schemas.openxmlformats.org/officeDocument/2006/relationships" id="2147483654" r:id="Rabae4f6c852d4a7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021653f14764bd9" /><Relationship Type="http://schemas.openxmlformats.org/officeDocument/2006/relationships/notesSlide" Target="/ppt/notesSlides/notesSlide1.xml" Id="Rdcab3378424246e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5260c405fb74949" /><Relationship Type="http://schemas.openxmlformats.org/officeDocument/2006/relationships/image" Target="/ppt/media/image.png" Id="R64e57f5180214e54" /><Relationship Type="http://schemas.openxmlformats.org/officeDocument/2006/relationships/notesSlide" Target="/ppt/notesSlides/notesSlide2.xml" Id="R281f9969b21341d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f883f6dd5cb4c64" /><Relationship Type="http://schemas.openxmlformats.org/officeDocument/2006/relationships/image" Target="/ppt/media/image2.png" Id="R3ba2293677b0443e" /><Relationship Type="http://schemas.openxmlformats.org/officeDocument/2006/relationships/notesSlide" Target="/ppt/notesSlides/notesSlide3.xml" Id="Re1f1c6aca3434ed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64e48ec13624440" /><Relationship Type="http://schemas.openxmlformats.org/officeDocument/2006/relationships/notesSlide" Target="/ppt/notesSlides/notesSlide4.xml" Id="Rf2b4bd5869e34fc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41d5a3ece84882" /><Relationship Type="http://schemas.openxmlformats.org/officeDocument/2006/relationships/image" Target="/ppt/media/image3.png" Id="R35559b3fd4114081" /><Relationship Type="http://schemas.openxmlformats.org/officeDocument/2006/relationships/image" Target="/ppt/media/image4.png" Id="R1b11c9c153d5436f" /><Relationship Type="http://schemas.openxmlformats.org/officeDocument/2006/relationships/notesSlide" Target="/ppt/notesSlides/notesSlide5.xml" Id="R028138ceb9524db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49b45d960684054" /><Relationship Type="http://schemas.openxmlformats.org/officeDocument/2006/relationships/notesSlide" Target="/ppt/notesSlides/notesSlide6.xml" Id="R455139cd24a84f9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ac2667cc775426e" /><Relationship Type="http://schemas.openxmlformats.org/officeDocument/2006/relationships/image" Target="/ppt/media/image5.png" Id="R77ee4bd3c7874615" /><Relationship Type="http://schemas.openxmlformats.org/officeDocument/2006/relationships/notesSlide" Target="/ppt/notesSlides/notesSlide7.xml" Id="R6ce6540efa30432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D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F5DFA39-57E7-4FFE-A5DE-2061759F7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6B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359FE3-7A76-4C72-82F8-1E3747735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62000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46BFC9"/>
                </a:solidFill>
              </a:defRPr>
            </a:defPPr>
            <a:lvl1pPr>
              <a:defRPr sz="1050" b="1">
                <a:solidFill>
                  <a:srgbClr val="46BFC9"/>
                </a:solidFill>
              </a:defRPr>
            </a:lvl1pPr>
            <a:lvl2pPr>
              <a:defRPr sz="1050" b="1">
                <a:solidFill>
                  <a:srgbClr val="46BFC9"/>
                </a:solidFill>
              </a:defRPr>
            </a:lvl2pPr>
            <a:lvl3pPr>
              <a:defRPr sz="1050" b="1">
                <a:solidFill>
                  <a:srgbClr val="46BFC9"/>
                </a:solidFill>
              </a:defRPr>
            </a:lvl3pPr>
            <a:lvl4pPr>
              <a:defRPr sz="1050" b="1">
                <a:solidFill>
                  <a:srgbClr val="46BFC9"/>
                </a:solidFill>
              </a:defRPr>
            </a:lvl4pPr>
            <a:lvl5pPr>
              <a:defRPr sz="1050" b="1">
                <a:solidFill>
                  <a:srgbClr val="46BFC9"/>
                </a:solidFill>
              </a:defRPr>
            </a:lvl5pPr>
            <a:lvl6pPr>
              <a:defRPr sz="1050" b="1">
                <a:solidFill>
                  <a:srgbClr val="46BFC9"/>
                </a:solidFill>
              </a:defRPr>
            </a:lvl6pPr>
            <a:lvl7pPr>
              <a:defRPr sz="1050" b="1">
                <a:solidFill>
                  <a:srgbClr val="46BFC9"/>
                </a:solidFill>
              </a:defRPr>
            </a:lvl7pPr>
            <a:lvl8pPr>
              <a:defRPr sz="1050" b="1">
                <a:solidFill>
                  <a:srgbClr val="46BFC9"/>
                </a:solidFill>
              </a:defRPr>
            </a:lvl8pPr>
            <a:lvl9pPr>
              <a:defRPr sz="1050" b="1">
                <a:solidFill>
                  <a:srgbClr val="46BFC9"/>
                </a:solidFill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46BFC9"/>
                </a:solidFill>
              </a:defRPr>
            </a:pPr>
            <a:r>
              <a:rPr sz="1050" b="1">
                <a:solidFill>
                  <a:srgbClr val="46BFC9"/>
                </a:solidFill>
              </a:rPr>
              <a:t>BIOREASONING CAPSTONE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9CF1D0-B035-4EE6-875C-45583FCFF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52550"/>
            <a:ext cx="71437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600" b="1">
                <a:solidFill>
                  <a:srgbClr val="E1E9EC"/>
                </a:solidFill>
              </a:defRPr>
            </a:defPPr>
            <a:lvl1pPr>
              <a:defRPr sz="3600" b="1">
                <a:solidFill>
                  <a:srgbClr val="E1E9EC"/>
                </a:solidFill>
              </a:defRPr>
            </a:lvl1pPr>
            <a:lvl2pPr>
              <a:defRPr sz="3600" b="1">
                <a:solidFill>
                  <a:srgbClr val="E1E9EC"/>
                </a:solidFill>
              </a:defRPr>
            </a:lvl2pPr>
            <a:lvl3pPr>
              <a:defRPr sz="3600" b="1">
                <a:solidFill>
                  <a:srgbClr val="E1E9EC"/>
                </a:solidFill>
              </a:defRPr>
            </a:lvl3pPr>
            <a:lvl4pPr>
              <a:defRPr sz="3600" b="1">
                <a:solidFill>
                  <a:srgbClr val="E1E9EC"/>
                </a:solidFill>
              </a:defRPr>
            </a:lvl4pPr>
            <a:lvl5pPr>
              <a:defRPr sz="3600" b="1">
                <a:solidFill>
                  <a:srgbClr val="E1E9EC"/>
                </a:solidFill>
              </a:defRPr>
            </a:lvl5pPr>
            <a:lvl6pPr>
              <a:defRPr sz="3600" b="1">
                <a:solidFill>
                  <a:srgbClr val="E1E9EC"/>
                </a:solidFill>
              </a:defRPr>
            </a:lvl6pPr>
            <a:lvl7pPr>
              <a:defRPr sz="3600" b="1">
                <a:solidFill>
                  <a:srgbClr val="E1E9EC"/>
                </a:solidFill>
              </a:defRPr>
            </a:lvl7pPr>
            <a:lvl8pPr>
              <a:defRPr sz="3600" b="1">
                <a:solidFill>
                  <a:srgbClr val="E1E9EC"/>
                </a:solidFill>
              </a:defRPr>
            </a:lvl8pPr>
            <a:lvl9pPr>
              <a:defRPr sz="3600" b="1">
                <a:solidFill>
                  <a:srgbClr val="E1E9EC"/>
                </a:solidFill>
              </a:defRPr>
            </a:lvl9pPr>
          </a:lstStyle>
          <a:p xmlns:a="http://schemas.openxmlformats.org/drawingml/2006/main">
            <a:pPr>
              <a:defRPr sz="3600" b="1">
                <a:solidFill>
                  <a:srgbClr val="E1E9EC"/>
                </a:solidFill>
              </a:defRPr>
            </a:pPr>
            <a:r>
              <a:rPr sz="3600" b="1">
                <a:solidFill>
                  <a:srgbClr val="E1E9EC"/>
                </a:solidFill>
              </a:rPr>
              <a:t>From single-cell evidence</a:t>
            </a:r>
          </a:p>
          <a:p xmlns:a="http://schemas.openxmlformats.org/drawingml/2006/main">
            <a:pPr>
              <a:defRPr sz="3600" b="1">
                <a:solidFill>
                  <a:srgbClr val="E1E9EC"/>
                </a:solidFill>
              </a:defRPr>
            </a:pPr>
            <a:r>
              <a:rPr sz="3600" b="1">
                <a:solidFill>
                  <a:srgbClr val="E1E9EC"/>
                </a:solidFill>
              </a:rPr>
              <a:t>to auditable gene nominees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A61858-4A49-4A7C-9938-A933EFB08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43225"/>
            <a:ext cx="4381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92A3A9"/>
                </a:solidFill>
              </a:defRPr>
            </a:defPPr>
            <a:lvl1pPr>
              <a:defRPr sz="1725" b="0">
                <a:solidFill>
                  <a:srgbClr val="92A3A9"/>
                </a:solidFill>
              </a:defRPr>
            </a:lvl1pPr>
            <a:lvl2pPr>
              <a:defRPr sz="1725" b="0">
                <a:solidFill>
                  <a:srgbClr val="92A3A9"/>
                </a:solidFill>
              </a:defRPr>
            </a:lvl2pPr>
            <a:lvl3pPr>
              <a:defRPr sz="1725" b="0">
                <a:solidFill>
                  <a:srgbClr val="92A3A9"/>
                </a:solidFill>
              </a:defRPr>
            </a:lvl3pPr>
            <a:lvl4pPr>
              <a:defRPr sz="1725" b="0">
                <a:solidFill>
                  <a:srgbClr val="92A3A9"/>
                </a:solidFill>
              </a:defRPr>
            </a:lvl4pPr>
            <a:lvl5pPr>
              <a:defRPr sz="1725" b="0">
                <a:solidFill>
                  <a:srgbClr val="92A3A9"/>
                </a:solidFill>
              </a:defRPr>
            </a:lvl5pPr>
            <a:lvl6pPr>
              <a:defRPr sz="1725" b="0">
                <a:solidFill>
                  <a:srgbClr val="92A3A9"/>
                </a:solidFill>
              </a:defRPr>
            </a:lvl6pPr>
            <a:lvl7pPr>
              <a:defRPr sz="1725" b="0">
                <a:solidFill>
                  <a:srgbClr val="92A3A9"/>
                </a:solidFill>
              </a:defRPr>
            </a:lvl7pPr>
            <a:lvl8pPr>
              <a:defRPr sz="1725" b="0">
                <a:solidFill>
                  <a:srgbClr val="92A3A9"/>
                </a:solidFill>
              </a:defRPr>
            </a:lvl8pPr>
            <a:lvl9pPr>
              <a:defRPr sz="1725" b="0">
                <a:solidFill>
                  <a:srgbClr val="92A3A9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92A3A9"/>
                </a:solidFill>
              </a:defRPr>
            </a:pPr>
            <a:r>
              <a:rPr sz="1725" b="0">
                <a:solidFill>
                  <a:srgbClr val="92A3A9"/>
                </a:solidFill>
              </a:rPr>
              <a:t>Midterm progress · Weeks 1–6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72EBDB-376F-48B5-B0E4-5CE72B1CD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952500"/>
            <a:ext cx="3543300" cy="4229100"/>
          </a:xfrm>
          <a:prstGeom xmlns:a="http://schemas.openxmlformats.org/drawingml/2006/main" prst="roundRect">
            <a:avLst>
              <a:gd name="adj" fmla="val 4301"/>
            </a:avLst>
          </a:prstGeom>
          <a:solidFill xmlns:a="http://schemas.openxmlformats.org/drawingml/2006/main">
            <a:srgbClr val="141C20"/>
          </a:solidFill>
          <a:ln xmlns:a="http://schemas.openxmlformats.org/drawingml/2006/main" w="9525">
            <a:solidFill>
              <a:srgbClr val="2A383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ADB6A1-9D12-4CDA-8FA8-7DA10BB09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2763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43A"/>
          </a:solidFill>
          <a:ln xmlns:a="http://schemas.openxmlformats.org/drawingml/2006/main" w="9525">
            <a:solidFill>
              <a:srgbClr val="46BFC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157F0C-7EA5-40C7-AA92-B94F5AFF4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343025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46BFC9"/>
                </a:solidFill>
              </a:defRPr>
            </a:defPPr>
            <a:lvl1pPr algn="ctr">
              <a:defRPr sz="1275" b="1">
                <a:solidFill>
                  <a:srgbClr val="46BFC9"/>
                </a:solidFill>
              </a:defRPr>
            </a:lvl1pPr>
            <a:lvl2pPr algn="ctr">
              <a:defRPr sz="1275" b="1">
                <a:solidFill>
                  <a:srgbClr val="46BFC9"/>
                </a:solidFill>
              </a:defRPr>
            </a:lvl2pPr>
            <a:lvl3pPr algn="ctr">
              <a:defRPr sz="1275" b="1">
                <a:solidFill>
                  <a:srgbClr val="46BFC9"/>
                </a:solidFill>
              </a:defRPr>
            </a:lvl3pPr>
            <a:lvl4pPr algn="ctr">
              <a:defRPr sz="1275" b="1">
                <a:solidFill>
                  <a:srgbClr val="46BFC9"/>
                </a:solidFill>
              </a:defRPr>
            </a:lvl4pPr>
            <a:lvl5pPr algn="ctr">
              <a:defRPr sz="1275" b="1">
                <a:solidFill>
                  <a:srgbClr val="46BFC9"/>
                </a:solidFill>
              </a:defRPr>
            </a:lvl5pPr>
            <a:lvl6pPr algn="ctr">
              <a:defRPr sz="1275" b="1">
                <a:solidFill>
                  <a:srgbClr val="46BFC9"/>
                </a:solidFill>
              </a:defRPr>
            </a:lvl6pPr>
            <a:lvl7pPr algn="ctr">
              <a:defRPr sz="1275" b="1">
                <a:solidFill>
                  <a:srgbClr val="46BFC9"/>
                </a:solidFill>
              </a:defRPr>
            </a:lvl7pPr>
            <a:lvl8pPr algn="ctr">
              <a:defRPr sz="1275" b="1">
                <a:solidFill>
                  <a:srgbClr val="46BFC9"/>
                </a:solidFill>
              </a:defRPr>
            </a:lvl8pPr>
            <a:lvl9pPr algn="ctr">
              <a:defRPr sz="1275" b="1">
                <a:solidFill>
                  <a:srgbClr val="46BFC9"/>
                </a:solidFill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46BFC9"/>
                </a:solidFill>
              </a:defRPr>
            </a:pPr>
            <a:r>
              <a:rPr sz="1275" b="1">
                <a:solidFill>
                  <a:srgbClr val="46BFC9"/>
                </a:solidFill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B8A617-0603-459E-9789-153615BB5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257300"/>
            <a:ext cx="2266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E1E9EC"/>
                </a:solidFill>
              </a:defRPr>
            </a:defPPr>
            <a:lvl1pPr>
              <a:defRPr sz="1425" b="1">
                <a:solidFill>
                  <a:srgbClr val="E1E9EC"/>
                </a:solidFill>
              </a:defRPr>
            </a:lvl1pPr>
            <a:lvl2pPr>
              <a:defRPr sz="1425" b="1">
                <a:solidFill>
                  <a:srgbClr val="E1E9EC"/>
                </a:solidFill>
              </a:defRPr>
            </a:lvl2pPr>
            <a:lvl3pPr>
              <a:defRPr sz="1425" b="1">
                <a:solidFill>
                  <a:srgbClr val="E1E9EC"/>
                </a:solidFill>
              </a:defRPr>
            </a:lvl3pPr>
            <a:lvl4pPr>
              <a:defRPr sz="1425" b="1">
                <a:solidFill>
                  <a:srgbClr val="E1E9EC"/>
                </a:solidFill>
              </a:defRPr>
            </a:lvl4pPr>
            <a:lvl5pPr>
              <a:defRPr sz="1425" b="1">
                <a:solidFill>
                  <a:srgbClr val="E1E9EC"/>
                </a:solidFill>
              </a:defRPr>
            </a:lvl5pPr>
            <a:lvl6pPr>
              <a:defRPr sz="1425" b="1">
                <a:solidFill>
                  <a:srgbClr val="E1E9EC"/>
                </a:solidFill>
              </a:defRPr>
            </a:lvl6pPr>
            <a:lvl7pPr>
              <a:defRPr sz="1425" b="1">
                <a:solidFill>
                  <a:srgbClr val="E1E9EC"/>
                </a:solidFill>
              </a:defRPr>
            </a:lvl7pPr>
            <a:lvl8pPr>
              <a:defRPr sz="1425" b="1">
                <a:solidFill>
                  <a:srgbClr val="E1E9EC"/>
                </a:solidFill>
              </a:defRPr>
            </a:lvl8pPr>
            <a:lvl9pPr>
              <a:defRPr sz="1425" b="1">
                <a:solidFill>
                  <a:srgbClr val="E1E9EC"/>
                </a:solidFill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E1E9EC"/>
                </a:solidFill>
              </a:defRPr>
            </a:pPr>
            <a:r>
              <a:rPr sz="1425" b="1">
                <a:solidFill>
                  <a:srgbClr val="E1E9EC"/>
                </a:solidFill>
              </a:rPr>
              <a:t>Derived tables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0C0CC0-E456-484E-B8E1-03DA75E20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543050"/>
            <a:ext cx="2266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92A3A9"/>
                </a:solidFill>
              </a:defRPr>
            </a:defPPr>
            <a:lvl1pPr>
              <a:defRPr sz="1050" b="0">
                <a:solidFill>
                  <a:srgbClr val="92A3A9"/>
                </a:solidFill>
              </a:defRPr>
            </a:lvl1pPr>
            <a:lvl2pPr>
              <a:defRPr sz="1050" b="0">
                <a:solidFill>
                  <a:srgbClr val="92A3A9"/>
                </a:solidFill>
              </a:defRPr>
            </a:lvl2pPr>
            <a:lvl3pPr>
              <a:defRPr sz="1050" b="0">
                <a:solidFill>
                  <a:srgbClr val="92A3A9"/>
                </a:solidFill>
              </a:defRPr>
            </a:lvl3pPr>
            <a:lvl4pPr>
              <a:defRPr sz="1050" b="0">
                <a:solidFill>
                  <a:srgbClr val="92A3A9"/>
                </a:solidFill>
              </a:defRPr>
            </a:lvl4pPr>
            <a:lvl5pPr>
              <a:defRPr sz="1050" b="0">
                <a:solidFill>
                  <a:srgbClr val="92A3A9"/>
                </a:solidFill>
              </a:defRPr>
            </a:lvl5pPr>
            <a:lvl6pPr>
              <a:defRPr sz="1050" b="0">
                <a:solidFill>
                  <a:srgbClr val="92A3A9"/>
                </a:solidFill>
              </a:defRPr>
            </a:lvl6pPr>
            <a:lvl7pPr>
              <a:defRPr sz="1050" b="0">
                <a:solidFill>
                  <a:srgbClr val="92A3A9"/>
                </a:solidFill>
              </a:defRPr>
            </a:lvl7pPr>
            <a:lvl8pPr>
              <a:defRPr sz="1050" b="0">
                <a:solidFill>
                  <a:srgbClr val="92A3A9"/>
                </a:solidFill>
              </a:defRPr>
            </a:lvl8pPr>
            <a:lvl9pPr>
              <a:defRPr sz="1050" b="0">
                <a:solidFill>
                  <a:srgbClr val="92A3A9"/>
                </a:solidFill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92A3A9"/>
                </a:solidFill>
              </a:defRPr>
            </a:pPr>
            <a:r>
              <a:rPr sz="1050" b="0">
                <a:solidFill>
                  <a:srgbClr val="92A3A9"/>
                </a:solidFill>
              </a:rPr>
              <a:t>CellChat · DEG · cell counts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17F634-FFCF-436A-8DD4-3A839FFA2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190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43A"/>
          </a:solidFill>
          <a:ln xmlns:a="http://schemas.openxmlformats.org/drawingml/2006/main" w="9525">
            <a:solidFill>
              <a:srgbClr val="46BFC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9493D0-68D0-4AAE-85CA-1729CDB58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57425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46BFC9"/>
                </a:solidFill>
              </a:defRPr>
            </a:defPPr>
            <a:lvl1pPr algn="ctr">
              <a:defRPr sz="1275" b="1">
                <a:solidFill>
                  <a:srgbClr val="46BFC9"/>
                </a:solidFill>
              </a:defRPr>
            </a:lvl1pPr>
            <a:lvl2pPr algn="ctr">
              <a:defRPr sz="1275" b="1">
                <a:solidFill>
                  <a:srgbClr val="46BFC9"/>
                </a:solidFill>
              </a:defRPr>
            </a:lvl2pPr>
            <a:lvl3pPr algn="ctr">
              <a:defRPr sz="1275" b="1">
                <a:solidFill>
                  <a:srgbClr val="46BFC9"/>
                </a:solidFill>
              </a:defRPr>
            </a:lvl3pPr>
            <a:lvl4pPr algn="ctr">
              <a:defRPr sz="1275" b="1">
                <a:solidFill>
                  <a:srgbClr val="46BFC9"/>
                </a:solidFill>
              </a:defRPr>
            </a:lvl4pPr>
            <a:lvl5pPr algn="ctr">
              <a:defRPr sz="1275" b="1">
                <a:solidFill>
                  <a:srgbClr val="46BFC9"/>
                </a:solidFill>
              </a:defRPr>
            </a:lvl5pPr>
            <a:lvl6pPr algn="ctr">
              <a:defRPr sz="1275" b="1">
                <a:solidFill>
                  <a:srgbClr val="46BFC9"/>
                </a:solidFill>
              </a:defRPr>
            </a:lvl6pPr>
            <a:lvl7pPr algn="ctr">
              <a:defRPr sz="1275" b="1">
                <a:solidFill>
                  <a:srgbClr val="46BFC9"/>
                </a:solidFill>
              </a:defRPr>
            </a:lvl7pPr>
            <a:lvl8pPr algn="ctr">
              <a:defRPr sz="1275" b="1">
                <a:solidFill>
                  <a:srgbClr val="46BFC9"/>
                </a:solidFill>
              </a:defRPr>
            </a:lvl8pPr>
            <a:lvl9pPr algn="ctr">
              <a:defRPr sz="1275" b="1">
                <a:solidFill>
                  <a:srgbClr val="46BFC9"/>
                </a:solidFill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46BFC9"/>
                </a:solidFill>
              </a:defRPr>
            </a:pPr>
            <a:r>
              <a:rPr sz="1275" b="1">
                <a:solidFill>
                  <a:srgbClr val="46BFC9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2FE053-BCC5-4DC3-8066-904DCC5BD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171700"/>
            <a:ext cx="2266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E1E9EC"/>
                </a:solidFill>
              </a:defRPr>
            </a:defPPr>
            <a:lvl1pPr>
              <a:defRPr sz="1425" b="1">
                <a:solidFill>
                  <a:srgbClr val="E1E9EC"/>
                </a:solidFill>
              </a:defRPr>
            </a:lvl1pPr>
            <a:lvl2pPr>
              <a:defRPr sz="1425" b="1">
                <a:solidFill>
                  <a:srgbClr val="E1E9EC"/>
                </a:solidFill>
              </a:defRPr>
            </a:lvl2pPr>
            <a:lvl3pPr>
              <a:defRPr sz="1425" b="1">
                <a:solidFill>
                  <a:srgbClr val="E1E9EC"/>
                </a:solidFill>
              </a:defRPr>
            </a:lvl3pPr>
            <a:lvl4pPr>
              <a:defRPr sz="1425" b="1">
                <a:solidFill>
                  <a:srgbClr val="E1E9EC"/>
                </a:solidFill>
              </a:defRPr>
            </a:lvl4pPr>
            <a:lvl5pPr>
              <a:defRPr sz="1425" b="1">
                <a:solidFill>
                  <a:srgbClr val="E1E9EC"/>
                </a:solidFill>
              </a:defRPr>
            </a:lvl5pPr>
            <a:lvl6pPr>
              <a:defRPr sz="1425" b="1">
                <a:solidFill>
                  <a:srgbClr val="E1E9EC"/>
                </a:solidFill>
              </a:defRPr>
            </a:lvl6pPr>
            <a:lvl7pPr>
              <a:defRPr sz="1425" b="1">
                <a:solidFill>
                  <a:srgbClr val="E1E9EC"/>
                </a:solidFill>
              </a:defRPr>
            </a:lvl7pPr>
            <a:lvl8pPr>
              <a:defRPr sz="1425" b="1">
                <a:solidFill>
                  <a:srgbClr val="E1E9EC"/>
                </a:solidFill>
              </a:defRPr>
            </a:lvl8pPr>
            <a:lvl9pPr>
              <a:defRPr sz="1425" b="1">
                <a:solidFill>
                  <a:srgbClr val="E1E9EC"/>
                </a:solidFill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E1E9EC"/>
                </a:solidFill>
              </a:defRPr>
            </a:pPr>
            <a:r>
              <a:rPr sz="1425" b="1">
                <a:solidFill>
                  <a:srgbClr val="E1E9EC"/>
                </a:solidFill>
              </a:rPr>
              <a:t>Grounded reasoning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E142DF-6BA3-4F52-943B-D1F884A9A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457450"/>
            <a:ext cx="2266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92A3A9"/>
                </a:solidFill>
              </a:defRPr>
            </a:defPPr>
            <a:lvl1pPr>
              <a:defRPr sz="1050" b="0">
                <a:solidFill>
                  <a:srgbClr val="92A3A9"/>
                </a:solidFill>
              </a:defRPr>
            </a:lvl1pPr>
            <a:lvl2pPr>
              <a:defRPr sz="1050" b="0">
                <a:solidFill>
                  <a:srgbClr val="92A3A9"/>
                </a:solidFill>
              </a:defRPr>
            </a:lvl2pPr>
            <a:lvl3pPr>
              <a:defRPr sz="1050" b="0">
                <a:solidFill>
                  <a:srgbClr val="92A3A9"/>
                </a:solidFill>
              </a:defRPr>
            </a:lvl3pPr>
            <a:lvl4pPr>
              <a:defRPr sz="1050" b="0">
                <a:solidFill>
                  <a:srgbClr val="92A3A9"/>
                </a:solidFill>
              </a:defRPr>
            </a:lvl4pPr>
            <a:lvl5pPr>
              <a:defRPr sz="1050" b="0">
                <a:solidFill>
                  <a:srgbClr val="92A3A9"/>
                </a:solidFill>
              </a:defRPr>
            </a:lvl5pPr>
            <a:lvl6pPr>
              <a:defRPr sz="1050" b="0">
                <a:solidFill>
                  <a:srgbClr val="92A3A9"/>
                </a:solidFill>
              </a:defRPr>
            </a:lvl6pPr>
            <a:lvl7pPr>
              <a:defRPr sz="1050" b="0">
                <a:solidFill>
                  <a:srgbClr val="92A3A9"/>
                </a:solidFill>
              </a:defRPr>
            </a:lvl7pPr>
            <a:lvl8pPr>
              <a:defRPr sz="1050" b="0">
                <a:solidFill>
                  <a:srgbClr val="92A3A9"/>
                </a:solidFill>
              </a:defRPr>
            </a:lvl8pPr>
            <a:lvl9pPr>
              <a:defRPr sz="1050" b="0">
                <a:solidFill>
                  <a:srgbClr val="92A3A9"/>
                </a:solidFill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92A3A9"/>
                </a:solidFill>
              </a:defRPr>
            </a:pPr>
            <a:r>
              <a:rPr sz="1050" b="0">
                <a:solidFill>
                  <a:srgbClr val="92A3A9"/>
                </a:solidFill>
              </a:rPr>
              <a:t>Tool traces before any model answer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FAB9F4-1D2A-44D8-BFC1-814766346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1051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343A"/>
          </a:solidFill>
          <a:ln xmlns:a="http://schemas.openxmlformats.org/drawingml/2006/main" w="9525">
            <a:solidFill>
              <a:srgbClr val="46BFC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79D926-BB55-4D50-A3FD-7FED8EA4E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171825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46BFC9"/>
                </a:solidFill>
              </a:defRPr>
            </a:defPPr>
            <a:lvl1pPr algn="ctr">
              <a:defRPr sz="1275" b="1">
                <a:solidFill>
                  <a:srgbClr val="46BFC9"/>
                </a:solidFill>
              </a:defRPr>
            </a:lvl1pPr>
            <a:lvl2pPr algn="ctr">
              <a:defRPr sz="1275" b="1">
                <a:solidFill>
                  <a:srgbClr val="46BFC9"/>
                </a:solidFill>
              </a:defRPr>
            </a:lvl2pPr>
            <a:lvl3pPr algn="ctr">
              <a:defRPr sz="1275" b="1">
                <a:solidFill>
                  <a:srgbClr val="46BFC9"/>
                </a:solidFill>
              </a:defRPr>
            </a:lvl3pPr>
            <a:lvl4pPr algn="ctr">
              <a:defRPr sz="1275" b="1">
                <a:solidFill>
                  <a:srgbClr val="46BFC9"/>
                </a:solidFill>
              </a:defRPr>
            </a:lvl4pPr>
            <a:lvl5pPr algn="ctr">
              <a:defRPr sz="1275" b="1">
                <a:solidFill>
                  <a:srgbClr val="46BFC9"/>
                </a:solidFill>
              </a:defRPr>
            </a:lvl5pPr>
            <a:lvl6pPr algn="ctr">
              <a:defRPr sz="1275" b="1">
                <a:solidFill>
                  <a:srgbClr val="46BFC9"/>
                </a:solidFill>
              </a:defRPr>
            </a:lvl6pPr>
            <a:lvl7pPr algn="ctr">
              <a:defRPr sz="1275" b="1">
                <a:solidFill>
                  <a:srgbClr val="46BFC9"/>
                </a:solidFill>
              </a:defRPr>
            </a:lvl7pPr>
            <a:lvl8pPr algn="ctr">
              <a:defRPr sz="1275" b="1">
                <a:solidFill>
                  <a:srgbClr val="46BFC9"/>
                </a:solidFill>
              </a:defRPr>
            </a:lvl8pPr>
            <a:lvl9pPr algn="ctr">
              <a:defRPr sz="1275" b="1">
                <a:solidFill>
                  <a:srgbClr val="46BFC9"/>
                </a:solidFill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46BFC9"/>
                </a:solidFill>
              </a:defRPr>
            </a:pPr>
            <a:r>
              <a:rPr sz="1275" b="1">
                <a:solidFill>
                  <a:srgbClr val="46BFC9"/>
                </a:solidFill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EB422F-17EC-4C39-AF8B-7FB83264A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086100"/>
            <a:ext cx="2266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E1E9EC"/>
                </a:solidFill>
              </a:defRPr>
            </a:defPPr>
            <a:lvl1pPr>
              <a:defRPr sz="1425" b="1">
                <a:solidFill>
                  <a:srgbClr val="E1E9EC"/>
                </a:solidFill>
              </a:defRPr>
            </a:lvl1pPr>
            <a:lvl2pPr>
              <a:defRPr sz="1425" b="1">
                <a:solidFill>
                  <a:srgbClr val="E1E9EC"/>
                </a:solidFill>
              </a:defRPr>
            </a:lvl2pPr>
            <a:lvl3pPr>
              <a:defRPr sz="1425" b="1">
                <a:solidFill>
                  <a:srgbClr val="E1E9EC"/>
                </a:solidFill>
              </a:defRPr>
            </a:lvl3pPr>
            <a:lvl4pPr>
              <a:defRPr sz="1425" b="1">
                <a:solidFill>
                  <a:srgbClr val="E1E9EC"/>
                </a:solidFill>
              </a:defRPr>
            </a:lvl4pPr>
            <a:lvl5pPr>
              <a:defRPr sz="1425" b="1">
                <a:solidFill>
                  <a:srgbClr val="E1E9EC"/>
                </a:solidFill>
              </a:defRPr>
            </a:lvl5pPr>
            <a:lvl6pPr>
              <a:defRPr sz="1425" b="1">
                <a:solidFill>
                  <a:srgbClr val="E1E9EC"/>
                </a:solidFill>
              </a:defRPr>
            </a:lvl6pPr>
            <a:lvl7pPr>
              <a:defRPr sz="1425" b="1">
                <a:solidFill>
                  <a:srgbClr val="E1E9EC"/>
                </a:solidFill>
              </a:defRPr>
            </a:lvl7pPr>
            <a:lvl8pPr>
              <a:defRPr sz="1425" b="1">
                <a:solidFill>
                  <a:srgbClr val="E1E9EC"/>
                </a:solidFill>
              </a:defRPr>
            </a:lvl8pPr>
            <a:lvl9pPr>
              <a:defRPr sz="1425" b="1">
                <a:solidFill>
                  <a:srgbClr val="E1E9EC"/>
                </a:solidFill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E1E9EC"/>
                </a:solidFill>
              </a:defRPr>
            </a:pPr>
            <a:r>
              <a:rPr sz="1425" b="1">
                <a:solidFill>
                  <a:srgbClr val="E1E9EC"/>
                </a:solidFill>
              </a:rPr>
              <a:t>Gene ranking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17AC7B-F8AE-4282-A5BC-8FBB2C671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371850"/>
            <a:ext cx="2266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92A3A9"/>
                </a:solidFill>
              </a:defRPr>
            </a:defPPr>
            <a:lvl1pPr>
              <a:defRPr sz="1050" b="0">
                <a:solidFill>
                  <a:srgbClr val="92A3A9"/>
                </a:solidFill>
              </a:defRPr>
            </a:lvl1pPr>
            <a:lvl2pPr>
              <a:defRPr sz="1050" b="0">
                <a:solidFill>
                  <a:srgbClr val="92A3A9"/>
                </a:solidFill>
              </a:defRPr>
            </a:lvl2pPr>
            <a:lvl3pPr>
              <a:defRPr sz="1050" b="0">
                <a:solidFill>
                  <a:srgbClr val="92A3A9"/>
                </a:solidFill>
              </a:defRPr>
            </a:lvl3pPr>
            <a:lvl4pPr>
              <a:defRPr sz="1050" b="0">
                <a:solidFill>
                  <a:srgbClr val="92A3A9"/>
                </a:solidFill>
              </a:defRPr>
            </a:lvl4pPr>
            <a:lvl5pPr>
              <a:defRPr sz="1050" b="0">
                <a:solidFill>
                  <a:srgbClr val="92A3A9"/>
                </a:solidFill>
              </a:defRPr>
            </a:lvl5pPr>
            <a:lvl6pPr>
              <a:defRPr sz="1050" b="0">
                <a:solidFill>
                  <a:srgbClr val="92A3A9"/>
                </a:solidFill>
              </a:defRPr>
            </a:lvl6pPr>
            <a:lvl7pPr>
              <a:defRPr sz="1050" b="0">
                <a:solidFill>
                  <a:srgbClr val="92A3A9"/>
                </a:solidFill>
              </a:defRPr>
            </a:lvl7pPr>
            <a:lvl8pPr>
              <a:defRPr sz="1050" b="0">
                <a:solidFill>
                  <a:srgbClr val="92A3A9"/>
                </a:solidFill>
              </a:defRPr>
            </a:lvl8pPr>
            <a:lvl9pPr>
              <a:defRPr sz="1050" b="0">
                <a:solidFill>
                  <a:srgbClr val="92A3A9"/>
                </a:solidFill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92A3A9"/>
                </a:solidFill>
              </a:defRPr>
            </a:pPr>
            <a:r>
              <a:rPr sz="1050" b="0">
                <a:solidFill>
                  <a:srgbClr val="92A3A9"/>
                </a:solidFill>
              </a:rPr>
              <a:t>LightGBM + scETM features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E27209-F6FA-4912-9647-7FBFB6AC4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0195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281D"/>
          </a:solidFill>
          <a:ln xmlns:a="http://schemas.openxmlformats.org/drawingml/2006/main" w="9525">
            <a:solidFill>
              <a:srgbClr val="66BF8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AB37F4-0721-45E1-A863-4C26B73DC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086225"/>
            <a:ext cx="171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75" b="1">
                <a:solidFill>
                  <a:srgbClr val="66BF8B"/>
                </a:solidFill>
              </a:defRPr>
            </a:defPPr>
            <a:lvl1pPr algn="ctr">
              <a:defRPr sz="1275" b="1">
                <a:solidFill>
                  <a:srgbClr val="66BF8B"/>
                </a:solidFill>
              </a:defRPr>
            </a:lvl1pPr>
            <a:lvl2pPr algn="ctr">
              <a:defRPr sz="1275" b="1">
                <a:solidFill>
                  <a:srgbClr val="66BF8B"/>
                </a:solidFill>
              </a:defRPr>
            </a:lvl2pPr>
            <a:lvl3pPr algn="ctr">
              <a:defRPr sz="1275" b="1">
                <a:solidFill>
                  <a:srgbClr val="66BF8B"/>
                </a:solidFill>
              </a:defRPr>
            </a:lvl3pPr>
            <a:lvl4pPr algn="ctr">
              <a:defRPr sz="1275" b="1">
                <a:solidFill>
                  <a:srgbClr val="66BF8B"/>
                </a:solidFill>
              </a:defRPr>
            </a:lvl4pPr>
            <a:lvl5pPr algn="ctr">
              <a:defRPr sz="1275" b="1">
                <a:solidFill>
                  <a:srgbClr val="66BF8B"/>
                </a:solidFill>
              </a:defRPr>
            </a:lvl5pPr>
            <a:lvl6pPr algn="ctr">
              <a:defRPr sz="1275" b="1">
                <a:solidFill>
                  <a:srgbClr val="66BF8B"/>
                </a:solidFill>
              </a:defRPr>
            </a:lvl6pPr>
            <a:lvl7pPr algn="ctr">
              <a:defRPr sz="1275" b="1">
                <a:solidFill>
                  <a:srgbClr val="66BF8B"/>
                </a:solidFill>
              </a:defRPr>
            </a:lvl7pPr>
            <a:lvl8pPr algn="ctr">
              <a:defRPr sz="1275" b="1">
                <a:solidFill>
                  <a:srgbClr val="66BF8B"/>
                </a:solidFill>
              </a:defRPr>
            </a:lvl8pPr>
            <a:lvl9pPr algn="ctr">
              <a:defRPr sz="1275" b="1">
                <a:solidFill>
                  <a:srgbClr val="66BF8B"/>
                </a:solidFill>
              </a:defRPr>
            </a:lvl9pPr>
          </a:lstStyle>
          <a:p xmlns:a="http://schemas.openxmlformats.org/drawingml/2006/main">
            <a:pPr algn="ctr">
              <a:defRPr sz="1275" b="1">
                <a:solidFill>
                  <a:srgbClr val="66BF8B"/>
                </a:solidFill>
              </a:defRPr>
            </a:pPr>
            <a:r>
              <a:rPr sz="1275" b="1">
                <a:solidFill>
                  <a:srgbClr val="66BF8B"/>
                </a:solidFill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AD6FBF-0172-46AA-ADFE-67932543E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000500"/>
            <a:ext cx="2266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1">
                <a:solidFill>
                  <a:srgbClr val="E1E9EC"/>
                </a:solidFill>
              </a:defRPr>
            </a:defPPr>
            <a:lvl1pPr>
              <a:defRPr sz="1425" b="1">
                <a:solidFill>
                  <a:srgbClr val="E1E9EC"/>
                </a:solidFill>
              </a:defRPr>
            </a:lvl1pPr>
            <a:lvl2pPr>
              <a:defRPr sz="1425" b="1">
                <a:solidFill>
                  <a:srgbClr val="E1E9EC"/>
                </a:solidFill>
              </a:defRPr>
            </a:lvl2pPr>
            <a:lvl3pPr>
              <a:defRPr sz="1425" b="1">
                <a:solidFill>
                  <a:srgbClr val="E1E9EC"/>
                </a:solidFill>
              </a:defRPr>
            </a:lvl3pPr>
            <a:lvl4pPr>
              <a:defRPr sz="1425" b="1">
                <a:solidFill>
                  <a:srgbClr val="E1E9EC"/>
                </a:solidFill>
              </a:defRPr>
            </a:lvl4pPr>
            <a:lvl5pPr>
              <a:defRPr sz="1425" b="1">
                <a:solidFill>
                  <a:srgbClr val="E1E9EC"/>
                </a:solidFill>
              </a:defRPr>
            </a:lvl5pPr>
            <a:lvl6pPr>
              <a:defRPr sz="1425" b="1">
                <a:solidFill>
                  <a:srgbClr val="E1E9EC"/>
                </a:solidFill>
              </a:defRPr>
            </a:lvl6pPr>
            <a:lvl7pPr>
              <a:defRPr sz="1425" b="1">
                <a:solidFill>
                  <a:srgbClr val="E1E9EC"/>
                </a:solidFill>
              </a:defRPr>
            </a:lvl7pPr>
            <a:lvl8pPr>
              <a:defRPr sz="1425" b="1">
                <a:solidFill>
                  <a:srgbClr val="E1E9EC"/>
                </a:solidFill>
              </a:defRPr>
            </a:lvl8pPr>
            <a:lvl9pPr>
              <a:defRPr sz="1425" b="1">
                <a:solidFill>
                  <a:srgbClr val="E1E9EC"/>
                </a:solidFill>
              </a:defRPr>
            </a:lvl9pPr>
          </a:lstStyle>
          <a:p xmlns:a="http://schemas.openxmlformats.org/drawingml/2006/main">
            <a:pPr>
              <a:defRPr sz="1425" b="1">
                <a:solidFill>
                  <a:srgbClr val="E1E9EC"/>
                </a:solidFill>
              </a:defRPr>
            </a:pPr>
            <a:r>
              <a:rPr sz="1425" b="1">
                <a:solidFill>
                  <a:srgbClr val="E1E9EC"/>
                </a:solidFill>
              </a:rPr>
              <a:t>Portal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8E9B13-1BFA-4700-A428-9157BEBD0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286250"/>
            <a:ext cx="2266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92A3A9"/>
                </a:solidFill>
              </a:defRPr>
            </a:defPPr>
            <a:lvl1pPr>
              <a:defRPr sz="1050" b="0">
                <a:solidFill>
                  <a:srgbClr val="92A3A9"/>
                </a:solidFill>
              </a:defRPr>
            </a:lvl1pPr>
            <a:lvl2pPr>
              <a:defRPr sz="1050" b="0">
                <a:solidFill>
                  <a:srgbClr val="92A3A9"/>
                </a:solidFill>
              </a:defRPr>
            </a:lvl2pPr>
            <a:lvl3pPr>
              <a:defRPr sz="1050" b="0">
                <a:solidFill>
                  <a:srgbClr val="92A3A9"/>
                </a:solidFill>
              </a:defRPr>
            </a:lvl3pPr>
            <a:lvl4pPr>
              <a:defRPr sz="1050" b="0">
                <a:solidFill>
                  <a:srgbClr val="92A3A9"/>
                </a:solidFill>
              </a:defRPr>
            </a:lvl4pPr>
            <a:lvl5pPr>
              <a:defRPr sz="1050" b="0">
                <a:solidFill>
                  <a:srgbClr val="92A3A9"/>
                </a:solidFill>
              </a:defRPr>
            </a:lvl5pPr>
            <a:lvl6pPr>
              <a:defRPr sz="1050" b="0">
                <a:solidFill>
                  <a:srgbClr val="92A3A9"/>
                </a:solidFill>
              </a:defRPr>
            </a:lvl6pPr>
            <a:lvl7pPr>
              <a:defRPr sz="1050" b="0">
                <a:solidFill>
                  <a:srgbClr val="92A3A9"/>
                </a:solidFill>
              </a:defRPr>
            </a:lvl7pPr>
            <a:lvl8pPr>
              <a:defRPr sz="1050" b="0">
                <a:solidFill>
                  <a:srgbClr val="92A3A9"/>
                </a:solidFill>
              </a:defRPr>
            </a:lvl8pPr>
            <a:lvl9pPr>
              <a:defRPr sz="1050" b="0">
                <a:solidFill>
                  <a:srgbClr val="92A3A9"/>
                </a:solidFill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92A3A9"/>
                </a:solidFill>
              </a:defRPr>
            </a:pPr>
            <a:r>
              <a:rPr sz="1050" b="0">
                <a:solidFill>
                  <a:srgbClr val="92A3A9"/>
                </a:solidFill>
              </a:rPr>
              <a:t>One interface, same evidence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BD235B-2AFC-432A-94FD-6BD76E255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91150"/>
            <a:ext cx="1638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15281D"/>
          </a:solidFill>
          <a:ln xmlns:a="http://schemas.openxmlformats.org/drawingml/2006/main" w="9525">
            <a:solidFill>
              <a:srgbClr val="66BF8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B82F40-408B-4F73-AA64-DFF2E0A3D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38775"/>
            <a:ext cx="144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75" b="1">
                <a:solidFill>
                  <a:srgbClr val="66BF8B"/>
                </a:solidFill>
              </a:defRPr>
            </a:defPPr>
            <a:lvl1pPr algn="ctr">
              <a:defRPr sz="975" b="1">
                <a:solidFill>
                  <a:srgbClr val="66BF8B"/>
                </a:solidFill>
              </a:defRPr>
            </a:lvl1pPr>
            <a:lvl2pPr algn="ctr">
              <a:defRPr sz="975" b="1">
                <a:solidFill>
                  <a:srgbClr val="66BF8B"/>
                </a:solidFill>
              </a:defRPr>
            </a:lvl2pPr>
            <a:lvl3pPr algn="ctr">
              <a:defRPr sz="975" b="1">
                <a:solidFill>
                  <a:srgbClr val="66BF8B"/>
                </a:solidFill>
              </a:defRPr>
            </a:lvl3pPr>
            <a:lvl4pPr algn="ctr">
              <a:defRPr sz="975" b="1">
                <a:solidFill>
                  <a:srgbClr val="66BF8B"/>
                </a:solidFill>
              </a:defRPr>
            </a:lvl4pPr>
            <a:lvl5pPr algn="ctr">
              <a:defRPr sz="975" b="1">
                <a:solidFill>
                  <a:srgbClr val="66BF8B"/>
                </a:solidFill>
              </a:defRPr>
            </a:lvl5pPr>
            <a:lvl6pPr algn="ctr">
              <a:defRPr sz="975" b="1">
                <a:solidFill>
                  <a:srgbClr val="66BF8B"/>
                </a:solidFill>
              </a:defRPr>
            </a:lvl6pPr>
            <a:lvl7pPr algn="ctr">
              <a:defRPr sz="975" b="1">
                <a:solidFill>
                  <a:srgbClr val="66BF8B"/>
                </a:solidFill>
              </a:defRPr>
            </a:lvl7pPr>
            <a:lvl8pPr algn="ctr">
              <a:defRPr sz="975" b="1">
                <a:solidFill>
                  <a:srgbClr val="66BF8B"/>
                </a:solidFill>
              </a:defRPr>
            </a:lvl8pPr>
            <a:lvl9pPr algn="ctr">
              <a:defRPr sz="975" b="1">
                <a:solidFill>
                  <a:srgbClr val="66BF8B"/>
                </a:solidFill>
              </a:defRPr>
            </a:lvl9pPr>
          </a:lstStyle>
          <a:p xmlns:a="http://schemas.openxmlformats.org/drawingml/2006/main">
            <a:pPr algn="ctr">
              <a:defRPr sz="975" b="1">
                <a:solidFill>
                  <a:srgbClr val="66BF8B"/>
                </a:solidFill>
              </a:defRPr>
            </a:pPr>
            <a:r>
              <a:rPr sz="975" b="1">
                <a:solidFill>
                  <a:srgbClr val="66BF8B"/>
                </a:solidFill>
              </a:rPr>
              <a:t>WEEK 6 VERIFIED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A13A22B-1CAA-4EEF-AE0D-672417612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24550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E1E9EC"/>
                </a:solidFill>
              </a:defRPr>
            </a:defPPr>
            <a:lvl1pPr>
              <a:defRPr sz="1275" b="1">
                <a:solidFill>
                  <a:srgbClr val="E1E9EC"/>
                </a:solidFill>
              </a:defRPr>
            </a:lvl1pPr>
            <a:lvl2pPr>
              <a:defRPr sz="1275" b="1">
                <a:solidFill>
                  <a:srgbClr val="E1E9EC"/>
                </a:solidFill>
              </a:defRPr>
            </a:lvl2pPr>
            <a:lvl3pPr>
              <a:defRPr sz="1275" b="1">
                <a:solidFill>
                  <a:srgbClr val="E1E9EC"/>
                </a:solidFill>
              </a:defRPr>
            </a:lvl3pPr>
            <a:lvl4pPr>
              <a:defRPr sz="1275" b="1">
                <a:solidFill>
                  <a:srgbClr val="E1E9EC"/>
                </a:solidFill>
              </a:defRPr>
            </a:lvl4pPr>
            <a:lvl5pPr>
              <a:defRPr sz="1275" b="1">
                <a:solidFill>
                  <a:srgbClr val="E1E9EC"/>
                </a:solidFill>
              </a:defRPr>
            </a:lvl5pPr>
            <a:lvl6pPr>
              <a:defRPr sz="1275" b="1">
                <a:solidFill>
                  <a:srgbClr val="E1E9EC"/>
                </a:solidFill>
              </a:defRPr>
            </a:lvl6pPr>
            <a:lvl7pPr>
              <a:defRPr sz="1275" b="1">
                <a:solidFill>
                  <a:srgbClr val="E1E9EC"/>
                </a:solidFill>
              </a:defRPr>
            </a:lvl7pPr>
            <a:lvl8pPr>
              <a:defRPr sz="1275" b="1">
                <a:solidFill>
                  <a:srgbClr val="E1E9EC"/>
                </a:solidFill>
              </a:defRPr>
            </a:lvl8pPr>
            <a:lvl9pPr>
              <a:defRPr sz="1275" b="1">
                <a:solidFill>
                  <a:srgbClr val="E1E9EC"/>
                </a:solidFill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E1E9EC"/>
                </a:solidFill>
              </a:defRPr>
            </a:pPr>
            <a:r>
              <a:rPr sz="1275" b="1">
                <a:solidFill>
                  <a:srgbClr val="E1E9EC"/>
                </a:solidFill>
              </a:rPr>
              <a:t>Jasper Chen · BT-CAP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CC9BFF-8A66-4813-9290-3766B3595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19825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92A3A9"/>
                </a:solidFill>
              </a:defRPr>
            </a:defPPr>
            <a:lvl1pPr>
              <a:defRPr sz="1050" b="0">
                <a:solidFill>
                  <a:srgbClr val="92A3A9"/>
                </a:solidFill>
              </a:defRPr>
            </a:lvl1pPr>
            <a:lvl2pPr>
              <a:defRPr sz="1050" b="0">
                <a:solidFill>
                  <a:srgbClr val="92A3A9"/>
                </a:solidFill>
              </a:defRPr>
            </a:lvl2pPr>
            <a:lvl3pPr>
              <a:defRPr sz="1050" b="0">
                <a:solidFill>
                  <a:srgbClr val="92A3A9"/>
                </a:solidFill>
              </a:defRPr>
            </a:lvl3pPr>
            <a:lvl4pPr>
              <a:defRPr sz="1050" b="0">
                <a:solidFill>
                  <a:srgbClr val="92A3A9"/>
                </a:solidFill>
              </a:defRPr>
            </a:lvl4pPr>
            <a:lvl5pPr>
              <a:defRPr sz="1050" b="0">
                <a:solidFill>
                  <a:srgbClr val="92A3A9"/>
                </a:solidFill>
              </a:defRPr>
            </a:lvl5pPr>
            <a:lvl6pPr>
              <a:defRPr sz="1050" b="0">
                <a:solidFill>
                  <a:srgbClr val="92A3A9"/>
                </a:solidFill>
              </a:defRPr>
            </a:lvl6pPr>
            <a:lvl7pPr>
              <a:defRPr sz="1050" b="0">
                <a:solidFill>
                  <a:srgbClr val="92A3A9"/>
                </a:solidFill>
              </a:defRPr>
            </a:lvl7pPr>
            <a:lvl8pPr>
              <a:defRPr sz="1050" b="0">
                <a:solidFill>
                  <a:srgbClr val="92A3A9"/>
                </a:solidFill>
              </a:defRPr>
            </a:lvl8pPr>
            <a:lvl9pPr>
              <a:defRPr sz="1050" b="0">
                <a:solidFill>
                  <a:srgbClr val="92A3A9"/>
                </a:solidFill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92A3A9"/>
                </a:solidFill>
              </a:defRPr>
            </a:pPr>
            <a:r>
              <a:rPr sz="1050" b="0">
                <a:solidFill>
                  <a:srgbClr val="92A3A9"/>
                </a:solidFill>
              </a:rPr>
              <a:t>19 October 2026</a:t>
            </a:r>
          </a:p>
        </p:txBody>
      </p:sp>
    </p:spTree>
    <p:extLst>
      <p:ext uri="{BB962C8B-B14F-4D97-AF65-F5344CB8AC3E}">
        <p14:creationId xmlns:p14="http://schemas.microsoft.com/office/powerpoint/2010/main" val="111916819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D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E017A6-83C5-4205-B75F-B7CCA9A4F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46BFC9"/>
                </a:solidFill>
              </a:defRPr>
            </a:defPPr>
            <a:lvl1pPr>
              <a:defRPr sz="975" b="1">
                <a:solidFill>
                  <a:srgbClr val="46BFC9"/>
                </a:solidFill>
              </a:defRPr>
            </a:lvl1pPr>
            <a:lvl2pPr>
              <a:defRPr sz="975" b="1">
                <a:solidFill>
                  <a:srgbClr val="46BFC9"/>
                </a:solidFill>
              </a:defRPr>
            </a:lvl2pPr>
            <a:lvl3pPr>
              <a:defRPr sz="975" b="1">
                <a:solidFill>
                  <a:srgbClr val="46BFC9"/>
                </a:solidFill>
              </a:defRPr>
            </a:lvl3pPr>
            <a:lvl4pPr>
              <a:defRPr sz="975" b="1">
                <a:solidFill>
                  <a:srgbClr val="46BFC9"/>
                </a:solidFill>
              </a:defRPr>
            </a:lvl4pPr>
            <a:lvl5pPr>
              <a:defRPr sz="975" b="1">
                <a:solidFill>
                  <a:srgbClr val="46BFC9"/>
                </a:solidFill>
              </a:defRPr>
            </a:lvl5pPr>
            <a:lvl6pPr>
              <a:defRPr sz="975" b="1">
                <a:solidFill>
                  <a:srgbClr val="46BFC9"/>
                </a:solidFill>
              </a:defRPr>
            </a:lvl6pPr>
            <a:lvl7pPr>
              <a:defRPr sz="975" b="1">
                <a:solidFill>
                  <a:srgbClr val="46BFC9"/>
                </a:solidFill>
              </a:defRPr>
            </a:lvl7pPr>
            <a:lvl8pPr>
              <a:defRPr sz="975" b="1">
                <a:solidFill>
                  <a:srgbClr val="46BFC9"/>
                </a:solidFill>
              </a:defRPr>
            </a:lvl8pPr>
            <a:lvl9pPr>
              <a:defRPr sz="975" b="1">
                <a:solidFill>
                  <a:srgbClr val="46BFC9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46BFC9"/>
                </a:solidFill>
              </a:defRPr>
            </a:pPr>
            <a:r>
              <a:rPr sz="975" b="1">
                <a:solidFill>
                  <a:srgbClr val="46BFC9"/>
                </a:solidFill>
              </a:rPr>
              <a:t>SYSTEM OVERVIEW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08BAE4-1EB1-4F65-96B4-0827A54DD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E1E9EC"/>
                </a:solidFill>
              </a:defRPr>
            </a:defPPr>
            <a:lvl1pPr>
              <a:defRPr sz="2550" b="1">
                <a:solidFill>
                  <a:srgbClr val="E1E9EC"/>
                </a:solidFill>
              </a:defRPr>
            </a:lvl1pPr>
            <a:lvl2pPr>
              <a:defRPr sz="2550" b="1">
                <a:solidFill>
                  <a:srgbClr val="E1E9EC"/>
                </a:solidFill>
              </a:defRPr>
            </a:lvl2pPr>
            <a:lvl3pPr>
              <a:defRPr sz="2550" b="1">
                <a:solidFill>
                  <a:srgbClr val="E1E9EC"/>
                </a:solidFill>
              </a:defRPr>
            </a:lvl3pPr>
            <a:lvl4pPr>
              <a:defRPr sz="2550" b="1">
                <a:solidFill>
                  <a:srgbClr val="E1E9EC"/>
                </a:solidFill>
              </a:defRPr>
            </a:lvl4pPr>
            <a:lvl5pPr>
              <a:defRPr sz="2550" b="1">
                <a:solidFill>
                  <a:srgbClr val="E1E9EC"/>
                </a:solidFill>
              </a:defRPr>
            </a:lvl5pPr>
            <a:lvl6pPr>
              <a:defRPr sz="2550" b="1">
                <a:solidFill>
                  <a:srgbClr val="E1E9EC"/>
                </a:solidFill>
              </a:defRPr>
            </a:lvl6pPr>
            <a:lvl7pPr>
              <a:defRPr sz="2550" b="1">
                <a:solidFill>
                  <a:srgbClr val="E1E9EC"/>
                </a:solidFill>
              </a:defRPr>
            </a:lvl7pPr>
            <a:lvl8pPr>
              <a:defRPr sz="2550" b="1">
                <a:solidFill>
                  <a:srgbClr val="E1E9EC"/>
                </a:solidFill>
              </a:defRPr>
            </a:lvl8pPr>
            <a:lvl9pPr>
              <a:defRPr sz="2550" b="1">
                <a:solidFill>
                  <a:srgbClr val="E1E9EC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E1E9EC"/>
                </a:solidFill>
              </a:defRPr>
            </a:pPr>
            <a:r>
              <a:rPr sz="2550" b="1">
                <a:solidFill>
                  <a:srgbClr val="E1E9EC"/>
                </a:solidFill>
              </a:rPr>
              <a:t>One evidence base now powers two analysis paths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635256-3A77-4480-873C-CF1FFE3F0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8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4E6D3E-DC5C-4F96-ACC6-410DE06E6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524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00" b="1">
                <a:solidFill>
                  <a:srgbClr val="92A3A9"/>
                </a:solidFill>
              </a:defRPr>
            </a:defPPr>
            <a:lvl1pPr algn="r">
              <a:defRPr sz="900" b="1">
                <a:solidFill>
                  <a:srgbClr val="92A3A9"/>
                </a:solidFill>
              </a:defRPr>
            </a:lvl1pPr>
            <a:lvl2pPr algn="r">
              <a:defRPr sz="900" b="1">
                <a:solidFill>
                  <a:srgbClr val="92A3A9"/>
                </a:solidFill>
              </a:defRPr>
            </a:lvl2pPr>
            <a:lvl3pPr algn="r">
              <a:defRPr sz="900" b="1">
                <a:solidFill>
                  <a:srgbClr val="92A3A9"/>
                </a:solidFill>
              </a:defRPr>
            </a:lvl3pPr>
            <a:lvl4pPr algn="r">
              <a:defRPr sz="900" b="1">
                <a:solidFill>
                  <a:srgbClr val="92A3A9"/>
                </a:solidFill>
              </a:defRPr>
            </a:lvl4pPr>
            <a:lvl5pPr algn="r">
              <a:defRPr sz="900" b="1">
                <a:solidFill>
                  <a:srgbClr val="92A3A9"/>
                </a:solidFill>
              </a:defRPr>
            </a:lvl5pPr>
            <a:lvl6pPr algn="r">
              <a:defRPr sz="900" b="1">
                <a:solidFill>
                  <a:srgbClr val="92A3A9"/>
                </a:solidFill>
              </a:defRPr>
            </a:lvl6pPr>
            <a:lvl7pPr algn="r">
              <a:defRPr sz="900" b="1">
                <a:solidFill>
                  <a:srgbClr val="92A3A9"/>
                </a:solidFill>
              </a:defRPr>
            </a:lvl7pPr>
            <a:lvl8pPr algn="r">
              <a:defRPr sz="900" b="1">
                <a:solidFill>
                  <a:srgbClr val="92A3A9"/>
                </a:solidFill>
              </a:defRPr>
            </a:lvl8pPr>
            <a:lvl9pPr algn="r">
              <a:defRPr sz="900" b="1">
                <a:solidFill>
                  <a:srgbClr val="92A3A9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92A3A9"/>
                </a:solidFill>
              </a:defRPr>
            </a:pPr>
            <a:r>
              <a:rPr sz="900" b="1">
                <a:solidFill>
                  <a:srgbClr val="92A3A9"/>
                </a:solidFill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36B854-CEB0-4067-B3EE-17BF7F078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47800"/>
            <a:ext cx="11010900" cy="468630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182329"/>
          </a:solidFill>
          <a:ln xmlns:a="http://schemas.openxmlformats.org/drawingml/2006/main" w="9525">
            <a:solidFill>
              <a:srgbClr val="2A383D"/>
            </a:solidFill>
            <a:prstDash val="solid"/>
          </a:ln>
        </p:spPr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5BF5F6-7495-41CF-B323-A6251ECE66A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e57f5180214e54"/>
          <a:srcRect xmlns:a="http://schemas.openxmlformats.org/drawingml/2006/main" l="0" t="1000" r="0" b="39000"/>
          <a:stretch xmlns:a="http://schemas.openxmlformats.org/drawingml/2006/main"/>
        </p:blipFill>
        <p:spPr>
          <a:xfrm xmlns:a="http://schemas.openxmlformats.org/drawingml/2006/main">
            <a:off x="609600" y="1466850"/>
            <a:ext cx="10972800" cy="4648200"/>
          </a:xfrm>
          <a:prstGeom xmlns:a="http://schemas.openxmlformats.org/drawingml/2006/main" prst="roundRect">
            <a:avLst>
              <a:gd name="adj" fmla="val 2459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8A199C-9936-43F0-AD67-1293034A5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5810250"/>
            <a:ext cx="10287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15281D"/>
          </a:solidFill>
          <a:ln xmlns:a="http://schemas.openxmlformats.org/drawingml/2006/main" w="9525">
            <a:solidFill>
              <a:srgbClr val="66BF8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3C7EF5-2202-42ED-B52E-2E35CF1B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5857875"/>
            <a:ext cx="838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75" b="1">
                <a:solidFill>
                  <a:srgbClr val="66BF8B"/>
                </a:solidFill>
              </a:defRPr>
            </a:defPPr>
            <a:lvl1pPr algn="ctr">
              <a:defRPr sz="975" b="1">
                <a:solidFill>
                  <a:srgbClr val="66BF8B"/>
                </a:solidFill>
              </a:defRPr>
            </a:lvl1pPr>
            <a:lvl2pPr algn="ctr">
              <a:defRPr sz="975" b="1">
                <a:solidFill>
                  <a:srgbClr val="66BF8B"/>
                </a:solidFill>
              </a:defRPr>
            </a:lvl2pPr>
            <a:lvl3pPr algn="ctr">
              <a:defRPr sz="975" b="1">
                <a:solidFill>
                  <a:srgbClr val="66BF8B"/>
                </a:solidFill>
              </a:defRPr>
            </a:lvl3pPr>
            <a:lvl4pPr algn="ctr">
              <a:defRPr sz="975" b="1">
                <a:solidFill>
                  <a:srgbClr val="66BF8B"/>
                </a:solidFill>
              </a:defRPr>
            </a:lvl4pPr>
            <a:lvl5pPr algn="ctr">
              <a:defRPr sz="975" b="1">
                <a:solidFill>
                  <a:srgbClr val="66BF8B"/>
                </a:solidFill>
              </a:defRPr>
            </a:lvl5pPr>
            <a:lvl6pPr algn="ctr">
              <a:defRPr sz="975" b="1">
                <a:solidFill>
                  <a:srgbClr val="66BF8B"/>
                </a:solidFill>
              </a:defRPr>
            </a:lvl6pPr>
            <a:lvl7pPr algn="ctr">
              <a:defRPr sz="975" b="1">
                <a:solidFill>
                  <a:srgbClr val="66BF8B"/>
                </a:solidFill>
              </a:defRPr>
            </a:lvl7pPr>
            <a:lvl8pPr algn="ctr">
              <a:defRPr sz="975" b="1">
                <a:solidFill>
                  <a:srgbClr val="66BF8B"/>
                </a:solidFill>
              </a:defRPr>
            </a:lvl8pPr>
            <a:lvl9pPr algn="ctr">
              <a:defRPr sz="975" b="1">
                <a:solidFill>
                  <a:srgbClr val="66BF8B"/>
                </a:solidFill>
              </a:defRPr>
            </a:lvl9pPr>
          </a:lstStyle>
          <a:p xmlns:a="http://schemas.openxmlformats.org/drawingml/2006/main">
            <a:pPr algn="ctr">
              <a:defRPr sz="975" b="1">
                <a:solidFill>
                  <a:srgbClr val="66BF8B"/>
                </a:solidFill>
              </a:defRPr>
            </a:pPr>
            <a:r>
              <a:rPr sz="975" b="1">
                <a:solidFill>
                  <a:srgbClr val="66BF8B"/>
                </a:solidFill>
              </a:rPr>
              <a:t>DONE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5B0E88-ECB0-4895-AE8F-60DB64CDC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09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92A3A9"/>
                </a:solidFill>
              </a:defRPr>
            </a:defPPr>
            <a:lvl1pPr>
              <a:defRPr sz="750" b="0">
                <a:solidFill>
                  <a:srgbClr val="92A3A9"/>
                </a:solidFill>
              </a:defRPr>
            </a:lvl1pPr>
            <a:lvl2pPr>
              <a:defRPr sz="750" b="0">
                <a:solidFill>
                  <a:srgbClr val="92A3A9"/>
                </a:solidFill>
              </a:defRPr>
            </a:lvl2pPr>
            <a:lvl3pPr>
              <a:defRPr sz="750" b="0">
                <a:solidFill>
                  <a:srgbClr val="92A3A9"/>
                </a:solidFill>
              </a:defRPr>
            </a:lvl3pPr>
            <a:lvl4pPr>
              <a:defRPr sz="750" b="0">
                <a:solidFill>
                  <a:srgbClr val="92A3A9"/>
                </a:solidFill>
              </a:defRPr>
            </a:lvl4pPr>
            <a:lvl5pPr>
              <a:defRPr sz="750" b="0">
                <a:solidFill>
                  <a:srgbClr val="92A3A9"/>
                </a:solidFill>
              </a:defRPr>
            </a:lvl5pPr>
            <a:lvl6pPr>
              <a:defRPr sz="750" b="0">
                <a:solidFill>
                  <a:srgbClr val="92A3A9"/>
                </a:solidFill>
              </a:defRPr>
            </a:lvl6pPr>
            <a:lvl7pPr>
              <a:defRPr sz="750" b="0">
                <a:solidFill>
                  <a:srgbClr val="92A3A9"/>
                </a:solidFill>
              </a:defRPr>
            </a:lvl7pPr>
            <a:lvl8pPr>
              <a:defRPr sz="750" b="0">
                <a:solidFill>
                  <a:srgbClr val="92A3A9"/>
                </a:solidFill>
              </a:defRPr>
            </a:lvl8pPr>
            <a:lvl9pPr>
              <a:defRPr sz="750" b="0">
                <a:solidFill>
                  <a:srgbClr val="92A3A9"/>
                </a:solidFill>
              </a:defRPr>
            </a:lvl9pPr>
          </a:lstStyle>
          <a:p xmlns:a="http://schemas.openxmlformats.org/drawingml/2006/main">
            <a:pPr>
              <a:defRPr sz="750" b="0">
                <a:solidFill>
                  <a:srgbClr val="92A3A9"/>
                </a:solidFill>
              </a:defRPr>
            </a:pPr>
            <a:r>
              <a:rPr sz="750" b="0">
                <a:solidFill>
                  <a:srgbClr val="92A3A9"/>
                </a:solidFill>
              </a:rPr>
              <a:t>Source: BioReasoning Capstone.html · verified 18 Oct 2026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3E2D9C-E3B2-4A79-9627-529E2D4D9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15100"/>
            <a:ext cx="1676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750" b="1">
                <a:solidFill>
                  <a:srgbClr val="92A3A9"/>
                </a:solidFill>
              </a:defRPr>
            </a:defPPr>
            <a:lvl1pPr algn="r">
              <a:defRPr sz="750" b="1">
                <a:solidFill>
                  <a:srgbClr val="92A3A9"/>
                </a:solidFill>
              </a:defRPr>
            </a:lvl1pPr>
            <a:lvl2pPr algn="r">
              <a:defRPr sz="750" b="1">
                <a:solidFill>
                  <a:srgbClr val="92A3A9"/>
                </a:solidFill>
              </a:defRPr>
            </a:lvl2pPr>
            <a:lvl3pPr algn="r">
              <a:defRPr sz="750" b="1">
                <a:solidFill>
                  <a:srgbClr val="92A3A9"/>
                </a:solidFill>
              </a:defRPr>
            </a:lvl3pPr>
            <a:lvl4pPr algn="r">
              <a:defRPr sz="750" b="1">
                <a:solidFill>
                  <a:srgbClr val="92A3A9"/>
                </a:solidFill>
              </a:defRPr>
            </a:lvl4pPr>
            <a:lvl5pPr algn="r">
              <a:defRPr sz="750" b="1">
                <a:solidFill>
                  <a:srgbClr val="92A3A9"/>
                </a:solidFill>
              </a:defRPr>
            </a:lvl5pPr>
            <a:lvl6pPr algn="r">
              <a:defRPr sz="750" b="1">
                <a:solidFill>
                  <a:srgbClr val="92A3A9"/>
                </a:solidFill>
              </a:defRPr>
            </a:lvl6pPr>
            <a:lvl7pPr algn="r">
              <a:defRPr sz="750" b="1">
                <a:solidFill>
                  <a:srgbClr val="92A3A9"/>
                </a:solidFill>
              </a:defRPr>
            </a:lvl7pPr>
            <a:lvl8pPr algn="r">
              <a:defRPr sz="750" b="1">
                <a:solidFill>
                  <a:srgbClr val="92A3A9"/>
                </a:solidFill>
              </a:defRPr>
            </a:lvl8pPr>
            <a:lvl9pPr algn="r">
              <a:defRPr sz="750" b="1">
                <a:solidFill>
                  <a:srgbClr val="92A3A9"/>
                </a:solidFill>
              </a:defRPr>
            </a:lvl9pPr>
          </a:lstStyle>
          <a:p xmlns:a="http://schemas.openxmlformats.org/drawingml/2006/main">
            <a:pPr algn="r">
              <a:defRPr sz="750" b="1">
                <a:solidFill>
                  <a:srgbClr val="92A3A9"/>
                </a:solidFill>
              </a:defRPr>
            </a:pPr>
            <a:r>
              <a:rPr sz="750" b="1">
                <a:solidFill>
                  <a:srgbClr val="92A3A9"/>
                </a:solidFill>
              </a:rPr>
              <a:t>BT-CAP · 18 OCT 2026</a:t>
            </a:r>
          </a:p>
        </p:txBody>
      </p:sp>
    </p:spTree>
    <p:extLst>
      <p:ext uri="{BB962C8B-B14F-4D97-AF65-F5344CB8AC3E}">
        <p14:creationId xmlns:p14="http://schemas.microsoft.com/office/powerpoint/2010/main" val="232342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D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8AA74C9-011B-46D8-B432-2C34936F2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46BFC9"/>
                </a:solidFill>
              </a:defRPr>
            </a:defPPr>
            <a:lvl1pPr>
              <a:defRPr sz="975" b="1">
                <a:solidFill>
                  <a:srgbClr val="46BFC9"/>
                </a:solidFill>
              </a:defRPr>
            </a:lvl1pPr>
            <a:lvl2pPr>
              <a:defRPr sz="975" b="1">
                <a:solidFill>
                  <a:srgbClr val="46BFC9"/>
                </a:solidFill>
              </a:defRPr>
            </a:lvl2pPr>
            <a:lvl3pPr>
              <a:defRPr sz="975" b="1">
                <a:solidFill>
                  <a:srgbClr val="46BFC9"/>
                </a:solidFill>
              </a:defRPr>
            </a:lvl3pPr>
            <a:lvl4pPr>
              <a:defRPr sz="975" b="1">
                <a:solidFill>
                  <a:srgbClr val="46BFC9"/>
                </a:solidFill>
              </a:defRPr>
            </a:lvl4pPr>
            <a:lvl5pPr>
              <a:defRPr sz="975" b="1">
                <a:solidFill>
                  <a:srgbClr val="46BFC9"/>
                </a:solidFill>
              </a:defRPr>
            </a:lvl5pPr>
            <a:lvl6pPr>
              <a:defRPr sz="975" b="1">
                <a:solidFill>
                  <a:srgbClr val="46BFC9"/>
                </a:solidFill>
              </a:defRPr>
            </a:lvl6pPr>
            <a:lvl7pPr>
              <a:defRPr sz="975" b="1">
                <a:solidFill>
                  <a:srgbClr val="46BFC9"/>
                </a:solidFill>
              </a:defRPr>
            </a:lvl7pPr>
            <a:lvl8pPr>
              <a:defRPr sz="975" b="1">
                <a:solidFill>
                  <a:srgbClr val="46BFC9"/>
                </a:solidFill>
              </a:defRPr>
            </a:lvl8pPr>
            <a:lvl9pPr>
              <a:defRPr sz="975" b="1">
                <a:solidFill>
                  <a:srgbClr val="46BFC9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46BFC9"/>
                </a:solidFill>
              </a:defRPr>
            </a:pPr>
            <a:r>
              <a:rPr sz="975" b="1">
                <a:solidFill>
                  <a:srgbClr val="46BFC9"/>
                </a:solidFill>
              </a:rPr>
              <a:t>WEEKS 1–3 · GROUNDED REASONING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7A05FF-1793-4A5B-99DF-C9964DBCD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E1E9EC"/>
                </a:solidFill>
              </a:defRPr>
            </a:defPPr>
            <a:lvl1pPr>
              <a:defRPr sz="2550" b="1">
                <a:solidFill>
                  <a:srgbClr val="E1E9EC"/>
                </a:solidFill>
              </a:defRPr>
            </a:lvl1pPr>
            <a:lvl2pPr>
              <a:defRPr sz="2550" b="1">
                <a:solidFill>
                  <a:srgbClr val="E1E9EC"/>
                </a:solidFill>
              </a:defRPr>
            </a:lvl2pPr>
            <a:lvl3pPr>
              <a:defRPr sz="2550" b="1">
                <a:solidFill>
                  <a:srgbClr val="E1E9EC"/>
                </a:solidFill>
              </a:defRPr>
            </a:lvl3pPr>
            <a:lvl4pPr>
              <a:defRPr sz="2550" b="1">
                <a:solidFill>
                  <a:srgbClr val="E1E9EC"/>
                </a:solidFill>
              </a:defRPr>
            </a:lvl4pPr>
            <a:lvl5pPr>
              <a:defRPr sz="2550" b="1">
                <a:solidFill>
                  <a:srgbClr val="E1E9EC"/>
                </a:solidFill>
              </a:defRPr>
            </a:lvl5pPr>
            <a:lvl6pPr>
              <a:defRPr sz="2550" b="1">
                <a:solidFill>
                  <a:srgbClr val="E1E9EC"/>
                </a:solidFill>
              </a:defRPr>
            </a:lvl6pPr>
            <a:lvl7pPr>
              <a:defRPr sz="2550" b="1">
                <a:solidFill>
                  <a:srgbClr val="E1E9EC"/>
                </a:solidFill>
              </a:defRPr>
            </a:lvl7pPr>
            <a:lvl8pPr>
              <a:defRPr sz="2550" b="1">
                <a:solidFill>
                  <a:srgbClr val="E1E9EC"/>
                </a:solidFill>
              </a:defRPr>
            </a:lvl8pPr>
            <a:lvl9pPr>
              <a:defRPr sz="2550" b="1">
                <a:solidFill>
                  <a:srgbClr val="E1E9EC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E1E9EC"/>
                </a:solidFill>
              </a:defRPr>
            </a:pPr>
            <a:r>
              <a:rPr sz="2550" b="1">
                <a:solidFill>
                  <a:srgbClr val="E1E9EC"/>
                </a:solidFill>
              </a:rPr>
              <a:t>The model writes from retrieved evidence, not memory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0D05F7-E37D-4736-91EE-8E305A5E9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8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F256E0-FCE7-49A5-A695-58E983145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524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00" b="1">
                <a:solidFill>
                  <a:srgbClr val="92A3A9"/>
                </a:solidFill>
              </a:defRPr>
            </a:defPPr>
            <a:lvl1pPr algn="r">
              <a:defRPr sz="900" b="1">
                <a:solidFill>
                  <a:srgbClr val="92A3A9"/>
                </a:solidFill>
              </a:defRPr>
            </a:lvl1pPr>
            <a:lvl2pPr algn="r">
              <a:defRPr sz="900" b="1">
                <a:solidFill>
                  <a:srgbClr val="92A3A9"/>
                </a:solidFill>
              </a:defRPr>
            </a:lvl2pPr>
            <a:lvl3pPr algn="r">
              <a:defRPr sz="900" b="1">
                <a:solidFill>
                  <a:srgbClr val="92A3A9"/>
                </a:solidFill>
              </a:defRPr>
            </a:lvl3pPr>
            <a:lvl4pPr algn="r">
              <a:defRPr sz="900" b="1">
                <a:solidFill>
                  <a:srgbClr val="92A3A9"/>
                </a:solidFill>
              </a:defRPr>
            </a:lvl4pPr>
            <a:lvl5pPr algn="r">
              <a:defRPr sz="900" b="1">
                <a:solidFill>
                  <a:srgbClr val="92A3A9"/>
                </a:solidFill>
              </a:defRPr>
            </a:lvl5pPr>
            <a:lvl6pPr algn="r">
              <a:defRPr sz="900" b="1">
                <a:solidFill>
                  <a:srgbClr val="92A3A9"/>
                </a:solidFill>
              </a:defRPr>
            </a:lvl6pPr>
            <a:lvl7pPr algn="r">
              <a:defRPr sz="900" b="1">
                <a:solidFill>
                  <a:srgbClr val="92A3A9"/>
                </a:solidFill>
              </a:defRPr>
            </a:lvl7pPr>
            <a:lvl8pPr algn="r">
              <a:defRPr sz="900" b="1">
                <a:solidFill>
                  <a:srgbClr val="92A3A9"/>
                </a:solidFill>
              </a:defRPr>
            </a:lvl8pPr>
            <a:lvl9pPr algn="r">
              <a:defRPr sz="900" b="1">
                <a:solidFill>
                  <a:srgbClr val="92A3A9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92A3A9"/>
                </a:solidFill>
              </a:defRPr>
            </a:pPr>
            <a:r>
              <a:rPr sz="900" b="1">
                <a:solidFill>
                  <a:srgbClr val="92A3A9"/>
                </a:solidFill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BD17B8-123B-4F68-A876-3D17DA3C0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71625"/>
            <a:ext cx="238125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41C20"/>
          </a:solidFill>
          <a:ln xmlns:a="http://schemas.openxmlformats.org/drawingml/2006/main" w="9525">
            <a:solidFill>
              <a:srgbClr val="2A383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D197FD-F19F-4973-B343-FBED50D45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2402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46BFC9"/>
                </a:solidFill>
              </a:defRPr>
            </a:defPPr>
            <a:lvl1pPr>
              <a:defRPr sz="1500" b="1">
                <a:solidFill>
                  <a:srgbClr val="46BFC9"/>
                </a:solidFill>
              </a:defRPr>
            </a:lvl1pPr>
            <a:lvl2pPr>
              <a:defRPr sz="1500" b="1">
                <a:solidFill>
                  <a:srgbClr val="46BFC9"/>
                </a:solidFill>
              </a:defRPr>
            </a:lvl2pPr>
            <a:lvl3pPr>
              <a:defRPr sz="1500" b="1">
                <a:solidFill>
                  <a:srgbClr val="46BFC9"/>
                </a:solidFill>
              </a:defRPr>
            </a:lvl3pPr>
            <a:lvl4pPr>
              <a:defRPr sz="1500" b="1">
                <a:solidFill>
                  <a:srgbClr val="46BFC9"/>
                </a:solidFill>
              </a:defRPr>
            </a:lvl4pPr>
            <a:lvl5pPr>
              <a:defRPr sz="1500" b="1">
                <a:solidFill>
                  <a:srgbClr val="46BFC9"/>
                </a:solidFill>
              </a:defRPr>
            </a:lvl5pPr>
            <a:lvl6pPr>
              <a:defRPr sz="1500" b="1">
                <a:solidFill>
                  <a:srgbClr val="46BFC9"/>
                </a:solidFill>
              </a:defRPr>
            </a:lvl6pPr>
            <a:lvl7pPr>
              <a:defRPr sz="1500" b="1">
                <a:solidFill>
                  <a:srgbClr val="46BFC9"/>
                </a:solidFill>
              </a:defRPr>
            </a:lvl7pPr>
            <a:lvl8pPr>
              <a:defRPr sz="1500" b="1">
                <a:solidFill>
                  <a:srgbClr val="46BFC9"/>
                </a:solidFill>
              </a:defRPr>
            </a:lvl8pPr>
            <a:lvl9pPr>
              <a:defRPr sz="1500" b="1">
                <a:solidFill>
                  <a:srgbClr val="46BFC9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46BFC9"/>
                </a:solidFill>
              </a:defRPr>
            </a:pPr>
            <a:r>
              <a:rPr sz="1500" b="1">
                <a:solidFill>
                  <a:srgbClr val="46BFC9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9F7193-101F-40F2-9C6F-CCC93AF97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1450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E1E9EC"/>
                </a:solidFill>
              </a:defRPr>
            </a:defPPr>
            <a:lvl1pPr>
              <a:defRPr sz="1500" b="1">
                <a:solidFill>
                  <a:srgbClr val="E1E9EC"/>
                </a:solidFill>
              </a:defRPr>
            </a:lvl1pPr>
            <a:lvl2pPr>
              <a:defRPr sz="1500" b="1">
                <a:solidFill>
                  <a:srgbClr val="E1E9EC"/>
                </a:solidFill>
              </a:defRPr>
            </a:lvl2pPr>
            <a:lvl3pPr>
              <a:defRPr sz="1500" b="1">
                <a:solidFill>
                  <a:srgbClr val="E1E9EC"/>
                </a:solidFill>
              </a:defRPr>
            </a:lvl3pPr>
            <a:lvl4pPr>
              <a:defRPr sz="1500" b="1">
                <a:solidFill>
                  <a:srgbClr val="E1E9EC"/>
                </a:solidFill>
              </a:defRPr>
            </a:lvl4pPr>
            <a:lvl5pPr>
              <a:defRPr sz="1500" b="1">
                <a:solidFill>
                  <a:srgbClr val="E1E9EC"/>
                </a:solidFill>
              </a:defRPr>
            </a:lvl5pPr>
            <a:lvl6pPr>
              <a:defRPr sz="1500" b="1">
                <a:solidFill>
                  <a:srgbClr val="E1E9EC"/>
                </a:solidFill>
              </a:defRPr>
            </a:lvl6pPr>
            <a:lvl7pPr>
              <a:defRPr sz="1500" b="1">
                <a:solidFill>
                  <a:srgbClr val="E1E9EC"/>
                </a:solidFill>
              </a:defRPr>
            </a:lvl7pPr>
            <a:lvl8pPr>
              <a:defRPr sz="1500" b="1">
                <a:solidFill>
                  <a:srgbClr val="E1E9EC"/>
                </a:solidFill>
              </a:defRPr>
            </a:lvl8pPr>
            <a:lvl9pPr>
              <a:defRPr sz="1500" b="1">
                <a:solidFill>
                  <a:srgbClr val="E1E9EC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E1E9EC"/>
                </a:solidFill>
              </a:defRPr>
            </a:pPr>
            <a:r>
              <a:rPr sz="1500" b="1">
                <a:solidFill>
                  <a:srgbClr val="E1E9EC"/>
                </a:solidFill>
              </a:rPr>
              <a:t>Question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455E93-7034-445B-9307-4F4C5C6A0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57400"/>
            <a:ext cx="2038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92A3A9"/>
                </a:solidFill>
              </a:defRPr>
            </a:defPPr>
            <a:lvl1pPr>
              <a:defRPr sz="1050" b="0">
                <a:solidFill>
                  <a:srgbClr val="92A3A9"/>
                </a:solidFill>
              </a:defRPr>
            </a:lvl1pPr>
            <a:lvl2pPr>
              <a:defRPr sz="1050" b="0">
                <a:solidFill>
                  <a:srgbClr val="92A3A9"/>
                </a:solidFill>
              </a:defRPr>
            </a:lvl2pPr>
            <a:lvl3pPr>
              <a:defRPr sz="1050" b="0">
                <a:solidFill>
                  <a:srgbClr val="92A3A9"/>
                </a:solidFill>
              </a:defRPr>
            </a:lvl3pPr>
            <a:lvl4pPr>
              <a:defRPr sz="1050" b="0">
                <a:solidFill>
                  <a:srgbClr val="92A3A9"/>
                </a:solidFill>
              </a:defRPr>
            </a:lvl4pPr>
            <a:lvl5pPr>
              <a:defRPr sz="1050" b="0">
                <a:solidFill>
                  <a:srgbClr val="92A3A9"/>
                </a:solidFill>
              </a:defRPr>
            </a:lvl5pPr>
            <a:lvl6pPr>
              <a:defRPr sz="1050" b="0">
                <a:solidFill>
                  <a:srgbClr val="92A3A9"/>
                </a:solidFill>
              </a:defRPr>
            </a:lvl6pPr>
            <a:lvl7pPr>
              <a:defRPr sz="1050" b="0">
                <a:solidFill>
                  <a:srgbClr val="92A3A9"/>
                </a:solidFill>
              </a:defRPr>
            </a:lvl7pPr>
            <a:lvl8pPr>
              <a:defRPr sz="1050" b="0">
                <a:solidFill>
                  <a:srgbClr val="92A3A9"/>
                </a:solidFill>
              </a:defRPr>
            </a:lvl8pPr>
            <a:lvl9pPr>
              <a:defRPr sz="1050" b="0">
                <a:solidFill>
                  <a:srgbClr val="92A3A9"/>
                </a:solidFill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92A3A9"/>
                </a:solidFill>
              </a:defRPr>
            </a:pPr>
            <a:r>
              <a:rPr sz="1050" b="0">
                <a:solidFill>
                  <a:srgbClr val="92A3A9"/>
                </a:solidFill>
              </a:rPr>
              <a:t>Plain-English biological question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7E0DBB-1D85-495C-A7EF-047A5BBBE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066925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6B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59C3BA-BF67-4D2A-BEA7-884569575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571625"/>
            <a:ext cx="238125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41C20"/>
          </a:solidFill>
          <a:ln xmlns:a="http://schemas.openxmlformats.org/drawingml/2006/main" w="9525">
            <a:solidFill>
              <a:srgbClr val="2A383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120012-95D7-4B09-932C-1E4A00DF9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72402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46BFC9"/>
                </a:solidFill>
              </a:defRPr>
            </a:defPPr>
            <a:lvl1pPr>
              <a:defRPr sz="1500" b="1">
                <a:solidFill>
                  <a:srgbClr val="46BFC9"/>
                </a:solidFill>
              </a:defRPr>
            </a:lvl1pPr>
            <a:lvl2pPr>
              <a:defRPr sz="1500" b="1">
                <a:solidFill>
                  <a:srgbClr val="46BFC9"/>
                </a:solidFill>
              </a:defRPr>
            </a:lvl2pPr>
            <a:lvl3pPr>
              <a:defRPr sz="1500" b="1">
                <a:solidFill>
                  <a:srgbClr val="46BFC9"/>
                </a:solidFill>
              </a:defRPr>
            </a:lvl3pPr>
            <a:lvl4pPr>
              <a:defRPr sz="1500" b="1">
                <a:solidFill>
                  <a:srgbClr val="46BFC9"/>
                </a:solidFill>
              </a:defRPr>
            </a:lvl4pPr>
            <a:lvl5pPr>
              <a:defRPr sz="1500" b="1">
                <a:solidFill>
                  <a:srgbClr val="46BFC9"/>
                </a:solidFill>
              </a:defRPr>
            </a:lvl5pPr>
            <a:lvl6pPr>
              <a:defRPr sz="1500" b="1">
                <a:solidFill>
                  <a:srgbClr val="46BFC9"/>
                </a:solidFill>
              </a:defRPr>
            </a:lvl6pPr>
            <a:lvl7pPr>
              <a:defRPr sz="1500" b="1">
                <a:solidFill>
                  <a:srgbClr val="46BFC9"/>
                </a:solidFill>
              </a:defRPr>
            </a:lvl7pPr>
            <a:lvl8pPr>
              <a:defRPr sz="1500" b="1">
                <a:solidFill>
                  <a:srgbClr val="46BFC9"/>
                </a:solidFill>
              </a:defRPr>
            </a:lvl8pPr>
            <a:lvl9pPr>
              <a:defRPr sz="1500" b="1">
                <a:solidFill>
                  <a:srgbClr val="46BFC9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46BFC9"/>
                </a:solidFill>
              </a:defRPr>
            </a:pPr>
            <a:r>
              <a:rPr sz="1500" b="1">
                <a:solidFill>
                  <a:srgbClr val="46BFC9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30EC7A-FE6E-4A27-AC87-F35147A71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71450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E1E9EC"/>
                </a:solidFill>
              </a:defRPr>
            </a:defPPr>
            <a:lvl1pPr>
              <a:defRPr sz="1500" b="1">
                <a:solidFill>
                  <a:srgbClr val="E1E9EC"/>
                </a:solidFill>
              </a:defRPr>
            </a:lvl1pPr>
            <a:lvl2pPr>
              <a:defRPr sz="1500" b="1">
                <a:solidFill>
                  <a:srgbClr val="E1E9EC"/>
                </a:solidFill>
              </a:defRPr>
            </a:lvl2pPr>
            <a:lvl3pPr>
              <a:defRPr sz="1500" b="1">
                <a:solidFill>
                  <a:srgbClr val="E1E9EC"/>
                </a:solidFill>
              </a:defRPr>
            </a:lvl3pPr>
            <a:lvl4pPr>
              <a:defRPr sz="1500" b="1">
                <a:solidFill>
                  <a:srgbClr val="E1E9EC"/>
                </a:solidFill>
              </a:defRPr>
            </a:lvl4pPr>
            <a:lvl5pPr>
              <a:defRPr sz="1500" b="1">
                <a:solidFill>
                  <a:srgbClr val="E1E9EC"/>
                </a:solidFill>
              </a:defRPr>
            </a:lvl5pPr>
            <a:lvl6pPr>
              <a:defRPr sz="1500" b="1">
                <a:solidFill>
                  <a:srgbClr val="E1E9EC"/>
                </a:solidFill>
              </a:defRPr>
            </a:lvl6pPr>
            <a:lvl7pPr>
              <a:defRPr sz="1500" b="1">
                <a:solidFill>
                  <a:srgbClr val="E1E9EC"/>
                </a:solidFill>
              </a:defRPr>
            </a:lvl7pPr>
            <a:lvl8pPr>
              <a:defRPr sz="1500" b="1">
                <a:solidFill>
                  <a:srgbClr val="E1E9EC"/>
                </a:solidFill>
              </a:defRPr>
            </a:lvl8pPr>
            <a:lvl9pPr>
              <a:defRPr sz="1500" b="1">
                <a:solidFill>
                  <a:srgbClr val="E1E9EC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E1E9EC"/>
                </a:solidFill>
              </a:defRPr>
            </a:pPr>
            <a:r>
              <a:rPr sz="1500" b="1">
                <a:solidFill>
                  <a:srgbClr val="E1E9EC"/>
                </a:solidFill>
              </a:rPr>
              <a:t>Router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B7AD14-4FE5-4F52-B4D2-F38C9D1D6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057400"/>
            <a:ext cx="2038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92A3A9"/>
                </a:solidFill>
              </a:defRPr>
            </a:defPPr>
            <a:lvl1pPr>
              <a:defRPr sz="1050" b="0">
                <a:solidFill>
                  <a:srgbClr val="92A3A9"/>
                </a:solidFill>
              </a:defRPr>
            </a:lvl1pPr>
            <a:lvl2pPr>
              <a:defRPr sz="1050" b="0">
                <a:solidFill>
                  <a:srgbClr val="92A3A9"/>
                </a:solidFill>
              </a:defRPr>
            </a:lvl2pPr>
            <a:lvl3pPr>
              <a:defRPr sz="1050" b="0">
                <a:solidFill>
                  <a:srgbClr val="92A3A9"/>
                </a:solidFill>
              </a:defRPr>
            </a:lvl3pPr>
            <a:lvl4pPr>
              <a:defRPr sz="1050" b="0">
                <a:solidFill>
                  <a:srgbClr val="92A3A9"/>
                </a:solidFill>
              </a:defRPr>
            </a:lvl4pPr>
            <a:lvl5pPr>
              <a:defRPr sz="1050" b="0">
                <a:solidFill>
                  <a:srgbClr val="92A3A9"/>
                </a:solidFill>
              </a:defRPr>
            </a:lvl5pPr>
            <a:lvl6pPr>
              <a:defRPr sz="1050" b="0">
                <a:solidFill>
                  <a:srgbClr val="92A3A9"/>
                </a:solidFill>
              </a:defRPr>
            </a:lvl6pPr>
            <a:lvl7pPr>
              <a:defRPr sz="1050" b="0">
                <a:solidFill>
                  <a:srgbClr val="92A3A9"/>
                </a:solidFill>
              </a:defRPr>
            </a:lvl7pPr>
            <a:lvl8pPr>
              <a:defRPr sz="1050" b="0">
                <a:solidFill>
                  <a:srgbClr val="92A3A9"/>
                </a:solidFill>
              </a:defRPr>
            </a:lvl8pPr>
            <a:lvl9pPr>
              <a:defRPr sz="1050" b="0">
                <a:solidFill>
                  <a:srgbClr val="92A3A9"/>
                </a:solidFill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92A3A9"/>
                </a:solidFill>
              </a:defRPr>
            </a:pPr>
            <a:r>
              <a:rPr sz="1050" b="0">
                <a:solidFill>
                  <a:srgbClr val="92A3A9"/>
                </a:solidFill>
              </a:rPr>
              <a:t>Selects CellChat, DEG, count, annotation, or rank tools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744C23-330E-4BC3-BED7-EBCC0AB8F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066925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6B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04ED72-22E5-43E5-8E1C-1618D9331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571625"/>
            <a:ext cx="238125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41C20"/>
          </a:solidFill>
          <a:ln xmlns:a="http://schemas.openxmlformats.org/drawingml/2006/main" w="9525">
            <a:solidFill>
              <a:srgbClr val="46BFC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3096D9-96FA-4BD3-A9AE-38BEF47FC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2402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46BFC9"/>
                </a:solidFill>
              </a:defRPr>
            </a:defPPr>
            <a:lvl1pPr>
              <a:defRPr sz="1500" b="1">
                <a:solidFill>
                  <a:srgbClr val="46BFC9"/>
                </a:solidFill>
              </a:defRPr>
            </a:lvl1pPr>
            <a:lvl2pPr>
              <a:defRPr sz="1500" b="1">
                <a:solidFill>
                  <a:srgbClr val="46BFC9"/>
                </a:solidFill>
              </a:defRPr>
            </a:lvl2pPr>
            <a:lvl3pPr>
              <a:defRPr sz="1500" b="1">
                <a:solidFill>
                  <a:srgbClr val="46BFC9"/>
                </a:solidFill>
              </a:defRPr>
            </a:lvl3pPr>
            <a:lvl4pPr>
              <a:defRPr sz="1500" b="1">
                <a:solidFill>
                  <a:srgbClr val="46BFC9"/>
                </a:solidFill>
              </a:defRPr>
            </a:lvl4pPr>
            <a:lvl5pPr>
              <a:defRPr sz="1500" b="1">
                <a:solidFill>
                  <a:srgbClr val="46BFC9"/>
                </a:solidFill>
              </a:defRPr>
            </a:lvl5pPr>
            <a:lvl6pPr>
              <a:defRPr sz="1500" b="1">
                <a:solidFill>
                  <a:srgbClr val="46BFC9"/>
                </a:solidFill>
              </a:defRPr>
            </a:lvl6pPr>
            <a:lvl7pPr>
              <a:defRPr sz="1500" b="1">
                <a:solidFill>
                  <a:srgbClr val="46BFC9"/>
                </a:solidFill>
              </a:defRPr>
            </a:lvl7pPr>
            <a:lvl8pPr>
              <a:defRPr sz="1500" b="1">
                <a:solidFill>
                  <a:srgbClr val="46BFC9"/>
                </a:solidFill>
              </a:defRPr>
            </a:lvl8pPr>
            <a:lvl9pPr>
              <a:defRPr sz="1500" b="1">
                <a:solidFill>
                  <a:srgbClr val="46BFC9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46BFC9"/>
                </a:solidFill>
              </a:defRPr>
            </a:pPr>
            <a:r>
              <a:rPr sz="1500" b="1">
                <a:solidFill>
                  <a:srgbClr val="46BFC9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3520E0-9399-49D6-9B5F-F8F3D8AD8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1450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E1E9EC"/>
                </a:solidFill>
              </a:defRPr>
            </a:defPPr>
            <a:lvl1pPr>
              <a:defRPr sz="1500" b="1">
                <a:solidFill>
                  <a:srgbClr val="E1E9EC"/>
                </a:solidFill>
              </a:defRPr>
            </a:lvl1pPr>
            <a:lvl2pPr>
              <a:defRPr sz="1500" b="1">
                <a:solidFill>
                  <a:srgbClr val="E1E9EC"/>
                </a:solidFill>
              </a:defRPr>
            </a:lvl2pPr>
            <a:lvl3pPr>
              <a:defRPr sz="1500" b="1">
                <a:solidFill>
                  <a:srgbClr val="E1E9EC"/>
                </a:solidFill>
              </a:defRPr>
            </a:lvl3pPr>
            <a:lvl4pPr>
              <a:defRPr sz="1500" b="1">
                <a:solidFill>
                  <a:srgbClr val="E1E9EC"/>
                </a:solidFill>
              </a:defRPr>
            </a:lvl4pPr>
            <a:lvl5pPr>
              <a:defRPr sz="1500" b="1">
                <a:solidFill>
                  <a:srgbClr val="E1E9EC"/>
                </a:solidFill>
              </a:defRPr>
            </a:lvl5pPr>
            <a:lvl6pPr>
              <a:defRPr sz="1500" b="1">
                <a:solidFill>
                  <a:srgbClr val="E1E9EC"/>
                </a:solidFill>
              </a:defRPr>
            </a:lvl6pPr>
            <a:lvl7pPr>
              <a:defRPr sz="1500" b="1">
                <a:solidFill>
                  <a:srgbClr val="E1E9EC"/>
                </a:solidFill>
              </a:defRPr>
            </a:lvl7pPr>
            <a:lvl8pPr>
              <a:defRPr sz="1500" b="1">
                <a:solidFill>
                  <a:srgbClr val="E1E9EC"/>
                </a:solidFill>
              </a:defRPr>
            </a:lvl8pPr>
            <a:lvl9pPr>
              <a:defRPr sz="1500" b="1">
                <a:solidFill>
                  <a:srgbClr val="E1E9EC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E1E9EC"/>
                </a:solidFill>
              </a:defRPr>
            </a:pPr>
            <a:r>
              <a:rPr sz="1500" b="1">
                <a:solidFill>
                  <a:srgbClr val="E1E9EC"/>
                </a:solidFill>
              </a:rPr>
              <a:t>Trace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A29578-B820-4E7E-8D9B-F144B98F6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57400"/>
            <a:ext cx="2038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92A3A9"/>
                </a:solidFill>
              </a:defRPr>
            </a:defPPr>
            <a:lvl1pPr>
              <a:defRPr sz="1050" b="0">
                <a:solidFill>
                  <a:srgbClr val="92A3A9"/>
                </a:solidFill>
              </a:defRPr>
            </a:lvl1pPr>
            <a:lvl2pPr>
              <a:defRPr sz="1050" b="0">
                <a:solidFill>
                  <a:srgbClr val="92A3A9"/>
                </a:solidFill>
              </a:defRPr>
            </a:lvl2pPr>
            <a:lvl3pPr>
              <a:defRPr sz="1050" b="0">
                <a:solidFill>
                  <a:srgbClr val="92A3A9"/>
                </a:solidFill>
              </a:defRPr>
            </a:lvl3pPr>
            <a:lvl4pPr>
              <a:defRPr sz="1050" b="0">
                <a:solidFill>
                  <a:srgbClr val="92A3A9"/>
                </a:solidFill>
              </a:defRPr>
            </a:lvl4pPr>
            <a:lvl5pPr>
              <a:defRPr sz="1050" b="0">
                <a:solidFill>
                  <a:srgbClr val="92A3A9"/>
                </a:solidFill>
              </a:defRPr>
            </a:lvl5pPr>
            <a:lvl6pPr>
              <a:defRPr sz="1050" b="0">
                <a:solidFill>
                  <a:srgbClr val="92A3A9"/>
                </a:solidFill>
              </a:defRPr>
            </a:lvl6pPr>
            <a:lvl7pPr>
              <a:defRPr sz="1050" b="0">
                <a:solidFill>
                  <a:srgbClr val="92A3A9"/>
                </a:solidFill>
              </a:defRPr>
            </a:lvl7pPr>
            <a:lvl8pPr>
              <a:defRPr sz="1050" b="0">
                <a:solidFill>
                  <a:srgbClr val="92A3A9"/>
                </a:solidFill>
              </a:defRPr>
            </a:lvl8pPr>
            <a:lvl9pPr>
              <a:defRPr sz="1050" b="0">
                <a:solidFill>
                  <a:srgbClr val="92A3A9"/>
                </a:solidFill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92A3A9"/>
                </a:solidFill>
              </a:defRPr>
            </a:pPr>
            <a:r>
              <a:rPr sz="1050" b="0">
                <a:solidFill>
                  <a:srgbClr val="92A3A9"/>
                </a:solidFill>
              </a:rPr>
              <a:t>Rows, filters, and source file are preserved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D4A94A-62ED-44E0-B983-8B21E48C3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066925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6B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75DA78-F071-492A-A4EB-7BAB67D1C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571625"/>
            <a:ext cx="238125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41C20"/>
          </a:solidFill>
          <a:ln xmlns:a="http://schemas.openxmlformats.org/drawingml/2006/main" w="9525">
            <a:solidFill>
              <a:srgbClr val="2A383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DC143D-4A20-4466-8FA6-BB2291CCA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72402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46BFC9"/>
                </a:solidFill>
              </a:defRPr>
            </a:defPPr>
            <a:lvl1pPr>
              <a:defRPr sz="1500" b="1">
                <a:solidFill>
                  <a:srgbClr val="46BFC9"/>
                </a:solidFill>
              </a:defRPr>
            </a:lvl1pPr>
            <a:lvl2pPr>
              <a:defRPr sz="1500" b="1">
                <a:solidFill>
                  <a:srgbClr val="46BFC9"/>
                </a:solidFill>
              </a:defRPr>
            </a:lvl2pPr>
            <a:lvl3pPr>
              <a:defRPr sz="1500" b="1">
                <a:solidFill>
                  <a:srgbClr val="46BFC9"/>
                </a:solidFill>
              </a:defRPr>
            </a:lvl3pPr>
            <a:lvl4pPr>
              <a:defRPr sz="1500" b="1">
                <a:solidFill>
                  <a:srgbClr val="46BFC9"/>
                </a:solidFill>
              </a:defRPr>
            </a:lvl4pPr>
            <a:lvl5pPr>
              <a:defRPr sz="1500" b="1">
                <a:solidFill>
                  <a:srgbClr val="46BFC9"/>
                </a:solidFill>
              </a:defRPr>
            </a:lvl5pPr>
            <a:lvl6pPr>
              <a:defRPr sz="1500" b="1">
                <a:solidFill>
                  <a:srgbClr val="46BFC9"/>
                </a:solidFill>
              </a:defRPr>
            </a:lvl6pPr>
            <a:lvl7pPr>
              <a:defRPr sz="1500" b="1">
                <a:solidFill>
                  <a:srgbClr val="46BFC9"/>
                </a:solidFill>
              </a:defRPr>
            </a:lvl7pPr>
            <a:lvl8pPr>
              <a:defRPr sz="1500" b="1">
                <a:solidFill>
                  <a:srgbClr val="46BFC9"/>
                </a:solidFill>
              </a:defRPr>
            </a:lvl8pPr>
            <a:lvl9pPr>
              <a:defRPr sz="1500" b="1">
                <a:solidFill>
                  <a:srgbClr val="46BFC9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46BFC9"/>
                </a:solidFill>
              </a:defRPr>
            </a:pPr>
            <a:r>
              <a:rPr sz="1500" b="1">
                <a:solidFill>
                  <a:srgbClr val="46BFC9"/>
                </a:solidFill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412DE7-46A4-427B-A5B2-57436B4A9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714500"/>
            <a:ext cx="1676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E1E9EC"/>
                </a:solidFill>
              </a:defRPr>
            </a:defPPr>
            <a:lvl1pPr>
              <a:defRPr sz="1500" b="1">
                <a:solidFill>
                  <a:srgbClr val="E1E9EC"/>
                </a:solidFill>
              </a:defRPr>
            </a:lvl1pPr>
            <a:lvl2pPr>
              <a:defRPr sz="1500" b="1">
                <a:solidFill>
                  <a:srgbClr val="E1E9EC"/>
                </a:solidFill>
              </a:defRPr>
            </a:lvl2pPr>
            <a:lvl3pPr>
              <a:defRPr sz="1500" b="1">
                <a:solidFill>
                  <a:srgbClr val="E1E9EC"/>
                </a:solidFill>
              </a:defRPr>
            </a:lvl3pPr>
            <a:lvl4pPr>
              <a:defRPr sz="1500" b="1">
                <a:solidFill>
                  <a:srgbClr val="E1E9EC"/>
                </a:solidFill>
              </a:defRPr>
            </a:lvl4pPr>
            <a:lvl5pPr>
              <a:defRPr sz="1500" b="1">
                <a:solidFill>
                  <a:srgbClr val="E1E9EC"/>
                </a:solidFill>
              </a:defRPr>
            </a:lvl5pPr>
            <a:lvl6pPr>
              <a:defRPr sz="1500" b="1">
                <a:solidFill>
                  <a:srgbClr val="E1E9EC"/>
                </a:solidFill>
              </a:defRPr>
            </a:lvl6pPr>
            <a:lvl7pPr>
              <a:defRPr sz="1500" b="1">
                <a:solidFill>
                  <a:srgbClr val="E1E9EC"/>
                </a:solidFill>
              </a:defRPr>
            </a:lvl7pPr>
            <a:lvl8pPr>
              <a:defRPr sz="1500" b="1">
                <a:solidFill>
                  <a:srgbClr val="E1E9EC"/>
                </a:solidFill>
              </a:defRPr>
            </a:lvl8pPr>
            <a:lvl9pPr>
              <a:defRPr sz="1500" b="1">
                <a:solidFill>
                  <a:srgbClr val="E1E9EC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E1E9EC"/>
                </a:solidFill>
              </a:defRPr>
            </a:pPr>
            <a:r>
              <a:rPr sz="1500" b="1">
                <a:solidFill>
                  <a:srgbClr val="E1E9EC"/>
                </a:solidFill>
              </a:rPr>
              <a:t>Answer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588EE6-711B-4642-BC2D-47BD1A8F4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057400"/>
            <a:ext cx="2038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92A3A9"/>
                </a:solidFill>
              </a:defRPr>
            </a:defPPr>
            <a:lvl1pPr>
              <a:defRPr sz="1050" b="0">
                <a:solidFill>
                  <a:srgbClr val="92A3A9"/>
                </a:solidFill>
              </a:defRPr>
            </a:lvl1pPr>
            <a:lvl2pPr>
              <a:defRPr sz="1050" b="0">
                <a:solidFill>
                  <a:srgbClr val="92A3A9"/>
                </a:solidFill>
              </a:defRPr>
            </a:lvl2pPr>
            <a:lvl3pPr>
              <a:defRPr sz="1050" b="0">
                <a:solidFill>
                  <a:srgbClr val="92A3A9"/>
                </a:solidFill>
              </a:defRPr>
            </a:lvl3pPr>
            <a:lvl4pPr>
              <a:defRPr sz="1050" b="0">
                <a:solidFill>
                  <a:srgbClr val="92A3A9"/>
                </a:solidFill>
              </a:defRPr>
            </a:lvl4pPr>
            <a:lvl5pPr>
              <a:defRPr sz="1050" b="0">
                <a:solidFill>
                  <a:srgbClr val="92A3A9"/>
                </a:solidFill>
              </a:defRPr>
            </a:lvl5pPr>
            <a:lvl6pPr>
              <a:defRPr sz="1050" b="0">
                <a:solidFill>
                  <a:srgbClr val="92A3A9"/>
                </a:solidFill>
              </a:defRPr>
            </a:lvl6pPr>
            <a:lvl7pPr>
              <a:defRPr sz="1050" b="0">
                <a:solidFill>
                  <a:srgbClr val="92A3A9"/>
                </a:solidFill>
              </a:defRPr>
            </a:lvl7pPr>
            <a:lvl8pPr>
              <a:defRPr sz="1050" b="0">
                <a:solidFill>
                  <a:srgbClr val="92A3A9"/>
                </a:solidFill>
              </a:defRPr>
            </a:lvl8pPr>
            <a:lvl9pPr>
              <a:defRPr sz="1050" b="0">
                <a:solidFill>
                  <a:srgbClr val="92A3A9"/>
                </a:solidFill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92A3A9"/>
                </a:solidFill>
              </a:defRPr>
            </a:pPr>
            <a:r>
              <a:rPr sz="1050" b="0">
                <a:solidFill>
                  <a:srgbClr val="92A3A9"/>
                </a:solidFill>
              </a:rPr>
              <a:t>Extractive or MedGemma response stays tied to the trace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870461A-ACD1-488C-8518-95572D233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90850"/>
            <a:ext cx="6181725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182329"/>
          </a:solidFill>
          <a:ln xmlns:a="http://schemas.openxmlformats.org/drawingml/2006/main" w="9525">
            <a:solidFill>
              <a:srgbClr val="2A383D"/>
            </a:solidFill>
            <a:prstDash val="solid"/>
          </a:ln>
        </p:spPr>
      </p:sp>
      <p:pic>
        <p:nvPic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7B3D971-41E1-43EB-A81E-32B20A547C7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a2293677b0443e"/>
          <a:srcRect xmlns:a="http://schemas.openxmlformats.org/drawingml/2006/main" l="42000" t="3000" r="0" b="6000"/>
          <a:stretch xmlns:a="http://schemas.openxmlformats.org/drawingml/2006/main"/>
        </p:blipFill>
        <p:spPr>
          <a:xfrm xmlns:a="http://schemas.openxmlformats.org/drawingml/2006/main">
            <a:off x="628650" y="3009900"/>
            <a:ext cx="6143625" cy="3105150"/>
          </a:xfrm>
          <a:prstGeom xmlns:a="http://schemas.openxmlformats.org/drawingml/2006/main" prst="roundRect">
            <a:avLst>
              <a:gd name="adj" fmla="val 3681"/>
            </a:avLst>
          </a:prstGeom>
        </p:spPr>
      </p:pic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F3024F-F6E2-462C-ABA5-C9F667C9D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009900"/>
            <a:ext cx="4457700" cy="3105150"/>
          </a:xfrm>
          <a:prstGeom xmlns:a="http://schemas.openxmlformats.org/drawingml/2006/main" prst="roundRect">
            <a:avLst>
              <a:gd name="adj" fmla="val 4908"/>
            </a:avLst>
          </a:prstGeom>
          <a:solidFill xmlns:a="http://schemas.openxmlformats.org/drawingml/2006/main">
            <a:srgbClr val="141C20"/>
          </a:solidFill>
          <a:ln xmlns:a="http://schemas.openxmlformats.org/drawingml/2006/main" w="9525">
            <a:solidFill>
              <a:srgbClr val="2A383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D120E8C-1EBC-49CB-B91F-801E10544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2956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E1E9EC"/>
                </a:solidFill>
              </a:defRPr>
            </a:defPPr>
            <a:lvl1pPr>
              <a:defRPr sz="1800" b="1">
                <a:solidFill>
                  <a:srgbClr val="E1E9EC"/>
                </a:solidFill>
              </a:defRPr>
            </a:lvl1pPr>
            <a:lvl2pPr>
              <a:defRPr sz="1800" b="1">
                <a:solidFill>
                  <a:srgbClr val="E1E9EC"/>
                </a:solidFill>
              </a:defRPr>
            </a:lvl2pPr>
            <a:lvl3pPr>
              <a:defRPr sz="1800" b="1">
                <a:solidFill>
                  <a:srgbClr val="E1E9EC"/>
                </a:solidFill>
              </a:defRPr>
            </a:lvl3pPr>
            <a:lvl4pPr>
              <a:defRPr sz="1800" b="1">
                <a:solidFill>
                  <a:srgbClr val="E1E9EC"/>
                </a:solidFill>
              </a:defRPr>
            </a:lvl4pPr>
            <a:lvl5pPr>
              <a:defRPr sz="1800" b="1">
                <a:solidFill>
                  <a:srgbClr val="E1E9EC"/>
                </a:solidFill>
              </a:defRPr>
            </a:lvl5pPr>
            <a:lvl6pPr>
              <a:defRPr sz="1800" b="1">
                <a:solidFill>
                  <a:srgbClr val="E1E9EC"/>
                </a:solidFill>
              </a:defRPr>
            </a:lvl6pPr>
            <a:lvl7pPr>
              <a:defRPr sz="1800" b="1">
                <a:solidFill>
                  <a:srgbClr val="E1E9EC"/>
                </a:solidFill>
              </a:defRPr>
            </a:lvl7pPr>
            <a:lvl8pPr>
              <a:defRPr sz="1800" b="1">
                <a:solidFill>
                  <a:srgbClr val="E1E9EC"/>
                </a:solidFill>
              </a:defRPr>
            </a:lvl8pPr>
            <a:lvl9pPr>
              <a:defRPr sz="1800" b="1">
                <a:solidFill>
                  <a:srgbClr val="E1E9EC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E1E9EC"/>
                </a:solidFill>
              </a:defRPr>
            </a:pPr>
            <a:r>
              <a:rPr sz="1800" b="1">
                <a:solidFill>
                  <a:srgbClr val="E1E9EC"/>
                </a:solidFill>
              </a:rPr>
              <a:t>Why this matters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7CAD6A2-C37D-4488-A085-85EB2213C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8862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B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B7AAA44-8051-4FAF-9727-D7CEE4975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810000"/>
            <a:ext cx="350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E1E9EC"/>
                </a:solidFill>
              </a:defRPr>
            </a:defPPr>
            <a:lvl1pPr>
              <a:defRPr sz="1425" b="0">
                <a:solidFill>
                  <a:srgbClr val="E1E9EC"/>
                </a:solidFill>
              </a:defRPr>
            </a:lvl1pPr>
            <a:lvl2pPr>
              <a:defRPr sz="1425" b="0">
                <a:solidFill>
                  <a:srgbClr val="E1E9EC"/>
                </a:solidFill>
              </a:defRPr>
            </a:lvl2pPr>
            <a:lvl3pPr>
              <a:defRPr sz="1425" b="0">
                <a:solidFill>
                  <a:srgbClr val="E1E9EC"/>
                </a:solidFill>
              </a:defRPr>
            </a:lvl3pPr>
            <a:lvl4pPr>
              <a:defRPr sz="1425" b="0">
                <a:solidFill>
                  <a:srgbClr val="E1E9EC"/>
                </a:solidFill>
              </a:defRPr>
            </a:lvl4pPr>
            <a:lvl5pPr>
              <a:defRPr sz="1425" b="0">
                <a:solidFill>
                  <a:srgbClr val="E1E9EC"/>
                </a:solidFill>
              </a:defRPr>
            </a:lvl5pPr>
            <a:lvl6pPr>
              <a:defRPr sz="1425" b="0">
                <a:solidFill>
                  <a:srgbClr val="E1E9EC"/>
                </a:solidFill>
              </a:defRPr>
            </a:lvl6pPr>
            <a:lvl7pPr>
              <a:defRPr sz="1425" b="0">
                <a:solidFill>
                  <a:srgbClr val="E1E9EC"/>
                </a:solidFill>
              </a:defRPr>
            </a:lvl7pPr>
            <a:lvl8pPr>
              <a:defRPr sz="1425" b="0">
                <a:solidFill>
                  <a:srgbClr val="E1E9EC"/>
                </a:solidFill>
              </a:defRPr>
            </a:lvl8pPr>
            <a:lvl9pPr>
              <a:defRPr sz="1425" b="0">
                <a:solidFill>
                  <a:srgbClr val="E1E9EC"/>
                </a:solidFill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E1E9EC"/>
                </a:solidFill>
              </a:defRPr>
            </a:pPr>
            <a:r>
              <a:rPr sz="1425" b="0">
                <a:solidFill>
                  <a:srgbClr val="E1E9EC"/>
                </a:solidFill>
              </a:rPr>
              <a:t>The trace shows which lookup fired and what filters were used.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B838A1E-11E5-4BB4-91E3-8A364D6A0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4600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BF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FCD02BD-C902-4945-BF8D-8215B3290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524375"/>
            <a:ext cx="3505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E1E9EC"/>
                </a:solidFill>
              </a:defRPr>
            </a:defPPr>
            <a:lvl1pPr>
              <a:defRPr sz="1425" b="0">
                <a:solidFill>
                  <a:srgbClr val="E1E9EC"/>
                </a:solidFill>
              </a:defRPr>
            </a:lvl1pPr>
            <a:lvl2pPr>
              <a:defRPr sz="1425" b="0">
                <a:solidFill>
                  <a:srgbClr val="E1E9EC"/>
                </a:solidFill>
              </a:defRPr>
            </a:lvl2pPr>
            <a:lvl3pPr>
              <a:defRPr sz="1425" b="0">
                <a:solidFill>
                  <a:srgbClr val="E1E9EC"/>
                </a:solidFill>
              </a:defRPr>
            </a:lvl3pPr>
            <a:lvl4pPr>
              <a:defRPr sz="1425" b="0">
                <a:solidFill>
                  <a:srgbClr val="E1E9EC"/>
                </a:solidFill>
              </a:defRPr>
            </a:lvl4pPr>
            <a:lvl5pPr>
              <a:defRPr sz="1425" b="0">
                <a:solidFill>
                  <a:srgbClr val="E1E9EC"/>
                </a:solidFill>
              </a:defRPr>
            </a:lvl5pPr>
            <a:lvl6pPr>
              <a:defRPr sz="1425" b="0">
                <a:solidFill>
                  <a:srgbClr val="E1E9EC"/>
                </a:solidFill>
              </a:defRPr>
            </a:lvl6pPr>
            <a:lvl7pPr>
              <a:defRPr sz="1425" b="0">
                <a:solidFill>
                  <a:srgbClr val="E1E9EC"/>
                </a:solidFill>
              </a:defRPr>
            </a:lvl7pPr>
            <a:lvl8pPr>
              <a:defRPr sz="1425" b="0">
                <a:solidFill>
                  <a:srgbClr val="E1E9EC"/>
                </a:solidFill>
              </a:defRPr>
            </a:lvl8pPr>
            <a:lvl9pPr>
              <a:defRPr sz="1425" b="0">
                <a:solidFill>
                  <a:srgbClr val="E1E9EC"/>
                </a:solidFill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E1E9EC"/>
                </a:solidFill>
              </a:defRPr>
            </a:pPr>
            <a:r>
              <a:rPr sz="1425" b="0">
                <a:solidFill>
                  <a:srgbClr val="E1E9EC"/>
                </a:solidFill>
              </a:rPr>
              <a:t>Cached MedGemma answers are replayed without a new provider call.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DFDE7C7-351C-4A00-9D19-80E32D983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53149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2A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DBEE47E-870E-42C2-9E2D-0CA4F64D9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238750"/>
            <a:ext cx="3505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E1E9EC"/>
                </a:solidFill>
              </a:defRPr>
            </a:defPPr>
            <a:lvl1pPr>
              <a:defRPr sz="1425" b="0">
                <a:solidFill>
                  <a:srgbClr val="E1E9EC"/>
                </a:solidFill>
              </a:defRPr>
            </a:lvl1pPr>
            <a:lvl2pPr>
              <a:defRPr sz="1425" b="0">
                <a:solidFill>
                  <a:srgbClr val="E1E9EC"/>
                </a:solidFill>
              </a:defRPr>
            </a:lvl2pPr>
            <a:lvl3pPr>
              <a:defRPr sz="1425" b="0">
                <a:solidFill>
                  <a:srgbClr val="E1E9EC"/>
                </a:solidFill>
              </a:defRPr>
            </a:lvl3pPr>
            <a:lvl4pPr>
              <a:defRPr sz="1425" b="0">
                <a:solidFill>
                  <a:srgbClr val="E1E9EC"/>
                </a:solidFill>
              </a:defRPr>
            </a:lvl4pPr>
            <a:lvl5pPr>
              <a:defRPr sz="1425" b="0">
                <a:solidFill>
                  <a:srgbClr val="E1E9EC"/>
                </a:solidFill>
              </a:defRPr>
            </a:lvl5pPr>
            <a:lvl6pPr>
              <a:defRPr sz="1425" b="0">
                <a:solidFill>
                  <a:srgbClr val="E1E9EC"/>
                </a:solidFill>
              </a:defRPr>
            </a:lvl6pPr>
            <a:lvl7pPr>
              <a:defRPr sz="1425" b="0">
                <a:solidFill>
                  <a:srgbClr val="E1E9EC"/>
                </a:solidFill>
              </a:defRPr>
            </a:lvl7pPr>
            <a:lvl8pPr>
              <a:defRPr sz="1425" b="0">
                <a:solidFill>
                  <a:srgbClr val="E1E9EC"/>
                </a:solidFill>
              </a:defRPr>
            </a:lvl8pPr>
            <a:lvl9pPr>
              <a:defRPr sz="1425" b="0">
                <a:solidFill>
                  <a:srgbClr val="E1E9EC"/>
                </a:solidFill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E1E9EC"/>
                </a:solidFill>
              </a:defRPr>
            </a:pPr>
            <a:r>
              <a:rPr sz="1425" b="0">
                <a:solidFill>
                  <a:srgbClr val="E1E9EC"/>
                </a:solidFill>
              </a:rPr>
              <a:t>Unsupported questions return “not in the tables.”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76A3D2C-2087-44F6-BFAE-0A6D5F4D9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09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92A3A9"/>
                </a:solidFill>
              </a:defRPr>
            </a:defPPr>
            <a:lvl1pPr>
              <a:defRPr sz="750" b="0">
                <a:solidFill>
                  <a:srgbClr val="92A3A9"/>
                </a:solidFill>
              </a:defRPr>
            </a:lvl1pPr>
            <a:lvl2pPr>
              <a:defRPr sz="750" b="0">
                <a:solidFill>
                  <a:srgbClr val="92A3A9"/>
                </a:solidFill>
              </a:defRPr>
            </a:lvl2pPr>
            <a:lvl3pPr>
              <a:defRPr sz="750" b="0">
                <a:solidFill>
                  <a:srgbClr val="92A3A9"/>
                </a:solidFill>
              </a:defRPr>
            </a:lvl3pPr>
            <a:lvl4pPr>
              <a:defRPr sz="750" b="0">
                <a:solidFill>
                  <a:srgbClr val="92A3A9"/>
                </a:solidFill>
              </a:defRPr>
            </a:lvl4pPr>
            <a:lvl5pPr>
              <a:defRPr sz="750" b="0">
                <a:solidFill>
                  <a:srgbClr val="92A3A9"/>
                </a:solidFill>
              </a:defRPr>
            </a:lvl5pPr>
            <a:lvl6pPr>
              <a:defRPr sz="750" b="0">
                <a:solidFill>
                  <a:srgbClr val="92A3A9"/>
                </a:solidFill>
              </a:defRPr>
            </a:lvl6pPr>
            <a:lvl7pPr>
              <a:defRPr sz="750" b="0">
                <a:solidFill>
                  <a:srgbClr val="92A3A9"/>
                </a:solidFill>
              </a:defRPr>
            </a:lvl7pPr>
            <a:lvl8pPr>
              <a:defRPr sz="750" b="0">
                <a:solidFill>
                  <a:srgbClr val="92A3A9"/>
                </a:solidFill>
              </a:defRPr>
            </a:lvl8pPr>
            <a:lvl9pPr>
              <a:defRPr sz="750" b="0">
                <a:solidFill>
                  <a:srgbClr val="92A3A9"/>
                </a:solidFill>
              </a:defRPr>
            </a:lvl9pPr>
          </a:lstStyle>
          <a:p xmlns:a="http://schemas.openxmlformats.org/drawingml/2006/main">
            <a:pPr>
              <a:defRPr sz="750" b="0">
                <a:solidFill>
                  <a:srgbClr val="92A3A9"/>
                </a:solidFill>
              </a:defRPr>
            </a:pPr>
            <a:r>
              <a:rPr sz="750" b="0">
                <a:solidFill>
                  <a:srgbClr val="92A3A9"/>
                </a:solidFill>
              </a:rPr>
              <a:t>Sources: fall_semester/questions.md · WEEK6_PORTAL_REPORT.md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0CB4A0B-B509-47FB-8A06-7DC41C955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15100"/>
            <a:ext cx="1676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750" b="1">
                <a:solidFill>
                  <a:srgbClr val="92A3A9"/>
                </a:solidFill>
              </a:defRPr>
            </a:defPPr>
            <a:lvl1pPr algn="r">
              <a:defRPr sz="750" b="1">
                <a:solidFill>
                  <a:srgbClr val="92A3A9"/>
                </a:solidFill>
              </a:defRPr>
            </a:lvl1pPr>
            <a:lvl2pPr algn="r">
              <a:defRPr sz="750" b="1">
                <a:solidFill>
                  <a:srgbClr val="92A3A9"/>
                </a:solidFill>
              </a:defRPr>
            </a:lvl2pPr>
            <a:lvl3pPr algn="r">
              <a:defRPr sz="750" b="1">
                <a:solidFill>
                  <a:srgbClr val="92A3A9"/>
                </a:solidFill>
              </a:defRPr>
            </a:lvl3pPr>
            <a:lvl4pPr algn="r">
              <a:defRPr sz="750" b="1">
                <a:solidFill>
                  <a:srgbClr val="92A3A9"/>
                </a:solidFill>
              </a:defRPr>
            </a:lvl4pPr>
            <a:lvl5pPr algn="r">
              <a:defRPr sz="750" b="1">
                <a:solidFill>
                  <a:srgbClr val="92A3A9"/>
                </a:solidFill>
              </a:defRPr>
            </a:lvl5pPr>
            <a:lvl6pPr algn="r">
              <a:defRPr sz="750" b="1">
                <a:solidFill>
                  <a:srgbClr val="92A3A9"/>
                </a:solidFill>
              </a:defRPr>
            </a:lvl6pPr>
            <a:lvl7pPr algn="r">
              <a:defRPr sz="750" b="1">
                <a:solidFill>
                  <a:srgbClr val="92A3A9"/>
                </a:solidFill>
              </a:defRPr>
            </a:lvl7pPr>
            <a:lvl8pPr algn="r">
              <a:defRPr sz="750" b="1">
                <a:solidFill>
                  <a:srgbClr val="92A3A9"/>
                </a:solidFill>
              </a:defRPr>
            </a:lvl8pPr>
            <a:lvl9pPr algn="r">
              <a:defRPr sz="750" b="1">
                <a:solidFill>
                  <a:srgbClr val="92A3A9"/>
                </a:solidFill>
              </a:defRPr>
            </a:lvl9pPr>
          </a:lstStyle>
          <a:p xmlns:a="http://schemas.openxmlformats.org/drawingml/2006/main">
            <a:pPr algn="r">
              <a:defRPr sz="750" b="1">
                <a:solidFill>
                  <a:srgbClr val="92A3A9"/>
                </a:solidFill>
              </a:defRPr>
            </a:pPr>
            <a:r>
              <a:rPr sz="750" b="1">
                <a:solidFill>
                  <a:srgbClr val="92A3A9"/>
                </a:solidFill>
              </a:rPr>
              <a:t>BT-CAP · 18 OCT 2026</a:t>
            </a:r>
          </a:p>
        </p:txBody>
      </p:sp>
    </p:spTree>
    <p:extLst>
      <p:ext uri="{BB962C8B-B14F-4D97-AF65-F5344CB8AC3E}">
        <p14:creationId xmlns:p14="http://schemas.microsoft.com/office/powerpoint/2010/main" val="158069712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D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E1295A3-5191-400E-8606-D99748FD8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46BFC9"/>
                </a:solidFill>
              </a:defRPr>
            </a:defPPr>
            <a:lvl1pPr>
              <a:defRPr sz="975" b="1">
                <a:solidFill>
                  <a:srgbClr val="46BFC9"/>
                </a:solidFill>
              </a:defRPr>
            </a:lvl1pPr>
            <a:lvl2pPr>
              <a:defRPr sz="975" b="1">
                <a:solidFill>
                  <a:srgbClr val="46BFC9"/>
                </a:solidFill>
              </a:defRPr>
            </a:lvl2pPr>
            <a:lvl3pPr>
              <a:defRPr sz="975" b="1">
                <a:solidFill>
                  <a:srgbClr val="46BFC9"/>
                </a:solidFill>
              </a:defRPr>
            </a:lvl3pPr>
            <a:lvl4pPr>
              <a:defRPr sz="975" b="1">
                <a:solidFill>
                  <a:srgbClr val="46BFC9"/>
                </a:solidFill>
              </a:defRPr>
            </a:lvl4pPr>
            <a:lvl5pPr>
              <a:defRPr sz="975" b="1">
                <a:solidFill>
                  <a:srgbClr val="46BFC9"/>
                </a:solidFill>
              </a:defRPr>
            </a:lvl5pPr>
            <a:lvl6pPr>
              <a:defRPr sz="975" b="1">
                <a:solidFill>
                  <a:srgbClr val="46BFC9"/>
                </a:solidFill>
              </a:defRPr>
            </a:lvl6pPr>
            <a:lvl7pPr>
              <a:defRPr sz="975" b="1">
                <a:solidFill>
                  <a:srgbClr val="46BFC9"/>
                </a:solidFill>
              </a:defRPr>
            </a:lvl7pPr>
            <a:lvl8pPr>
              <a:defRPr sz="975" b="1">
                <a:solidFill>
                  <a:srgbClr val="46BFC9"/>
                </a:solidFill>
              </a:defRPr>
            </a:lvl8pPr>
            <a:lvl9pPr>
              <a:defRPr sz="975" b="1">
                <a:solidFill>
                  <a:srgbClr val="46BFC9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46BFC9"/>
                </a:solidFill>
              </a:defRPr>
            </a:pPr>
            <a:r>
              <a:rPr sz="975" b="1">
                <a:solidFill>
                  <a:srgbClr val="46BFC9"/>
                </a:solidFill>
              </a:rPr>
              <a:t>WEEKS 4–5 · NOMINATION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54557E-B864-48EA-A749-B0A8DFCD0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E1E9EC"/>
                </a:solidFill>
              </a:defRPr>
            </a:defPPr>
            <a:lvl1pPr>
              <a:defRPr sz="2550" b="1">
                <a:solidFill>
                  <a:srgbClr val="E1E9EC"/>
                </a:solidFill>
              </a:defRPr>
            </a:lvl1pPr>
            <a:lvl2pPr>
              <a:defRPr sz="2550" b="1">
                <a:solidFill>
                  <a:srgbClr val="E1E9EC"/>
                </a:solidFill>
              </a:defRPr>
            </a:lvl2pPr>
            <a:lvl3pPr>
              <a:defRPr sz="2550" b="1">
                <a:solidFill>
                  <a:srgbClr val="E1E9EC"/>
                </a:solidFill>
              </a:defRPr>
            </a:lvl3pPr>
            <a:lvl4pPr>
              <a:defRPr sz="2550" b="1">
                <a:solidFill>
                  <a:srgbClr val="E1E9EC"/>
                </a:solidFill>
              </a:defRPr>
            </a:lvl4pPr>
            <a:lvl5pPr>
              <a:defRPr sz="2550" b="1">
                <a:solidFill>
                  <a:srgbClr val="E1E9EC"/>
                </a:solidFill>
              </a:defRPr>
            </a:lvl5pPr>
            <a:lvl6pPr>
              <a:defRPr sz="2550" b="1">
                <a:solidFill>
                  <a:srgbClr val="E1E9EC"/>
                </a:solidFill>
              </a:defRPr>
            </a:lvl6pPr>
            <a:lvl7pPr>
              <a:defRPr sz="2550" b="1">
                <a:solidFill>
                  <a:srgbClr val="E1E9EC"/>
                </a:solidFill>
              </a:defRPr>
            </a:lvl7pPr>
            <a:lvl8pPr>
              <a:defRPr sz="2550" b="1">
                <a:solidFill>
                  <a:srgbClr val="E1E9EC"/>
                </a:solidFill>
              </a:defRPr>
            </a:lvl8pPr>
            <a:lvl9pPr>
              <a:defRPr sz="2550" b="1">
                <a:solidFill>
                  <a:srgbClr val="E1E9EC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E1E9EC"/>
                </a:solidFill>
              </a:defRPr>
            </a:pPr>
            <a:r>
              <a:rPr sz="2550" b="1">
                <a:solidFill>
                  <a:srgbClr val="E1E9EC"/>
                </a:solidFill>
              </a:rPr>
              <a:t>scETM context improves both held-out gene rankers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31A7A1-B033-4274-B42F-835FB7746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8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B4BC1A-DA52-4B75-8343-73B820A31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524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00" b="1">
                <a:solidFill>
                  <a:srgbClr val="92A3A9"/>
                </a:solidFill>
              </a:defRPr>
            </a:defPPr>
            <a:lvl1pPr algn="r">
              <a:defRPr sz="900" b="1">
                <a:solidFill>
                  <a:srgbClr val="92A3A9"/>
                </a:solidFill>
              </a:defRPr>
            </a:lvl1pPr>
            <a:lvl2pPr algn="r">
              <a:defRPr sz="900" b="1">
                <a:solidFill>
                  <a:srgbClr val="92A3A9"/>
                </a:solidFill>
              </a:defRPr>
            </a:lvl2pPr>
            <a:lvl3pPr algn="r">
              <a:defRPr sz="900" b="1">
                <a:solidFill>
                  <a:srgbClr val="92A3A9"/>
                </a:solidFill>
              </a:defRPr>
            </a:lvl3pPr>
            <a:lvl4pPr algn="r">
              <a:defRPr sz="900" b="1">
                <a:solidFill>
                  <a:srgbClr val="92A3A9"/>
                </a:solidFill>
              </a:defRPr>
            </a:lvl4pPr>
            <a:lvl5pPr algn="r">
              <a:defRPr sz="900" b="1">
                <a:solidFill>
                  <a:srgbClr val="92A3A9"/>
                </a:solidFill>
              </a:defRPr>
            </a:lvl5pPr>
            <a:lvl6pPr algn="r">
              <a:defRPr sz="900" b="1">
                <a:solidFill>
                  <a:srgbClr val="92A3A9"/>
                </a:solidFill>
              </a:defRPr>
            </a:lvl6pPr>
            <a:lvl7pPr algn="r">
              <a:defRPr sz="900" b="1">
                <a:solidFill>
                  <a:srgbClr val="92A3A9"/>
                </a:solidFill>
              </a:defRPr>
            </a:lvl7pPr>
            <a:lvl8pPr algn="r">
              <a:defRPr sz="900" b="1">
                <a:solidFill>
                  <a:srgbClr val="92A3A9"/>
                </a:solidFill>
              </a:defRPr>
            </a:lvl8pPr>
            <a:lvl9pPr algn="r">
              <a:defRPr sz="900" b="1">
                <a:solidFill>
                  <a:srgbClr val="92A3A9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92A3A9"/>
                </a:solidFill>
              </a:defRPr>
            </a:pPr>
            <a:r>
              <a:rPr sz="900" b="1">
                <a:solidFill>
                  <a:srgbClr val="92A3A9"/>
                </a:solidFill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D4083C-B9F0-4E12-9F71-B6F6C5B6B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238125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41C20"/>
          </a:solidFill>
          <a:ln xmlns:a="http://schemas.openxmlformats.org/drawingml/2006/main" w="9525">
            <a:solidFill>
              <a:srgbClr val="2A383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C9A5B5-5F73-42F8-86BD-8C6B25A0C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76400"/>
            <a:ext cx="2038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46BFC9"/>
                </a:solidFill>
              </a:defRPr>
            </a:defPPr>
            <a:lvl1pPr>
              <a:defRPr sz="2550" b="1">
                <a:solidFill>
                  <a:srgbClr val="46BFC9"/>
                </a:solidFill>
              </a:defRPr>
            </a:lvl1pPr>
            <a:lvl2pPr>
              <a:defRPr sz="2550" b="1">
                <a:solidFill>
                  <a:srgbClr val="46BFC9"/>
                </a:solidFill>
              </a:defRPr>
            </a:lvl2pPr>
            <a:lvl3pPr>
              <a:defRPr sz="2550" b="1">
                <a:solidFill>
                  <a:srgbClr val="46BFC9"/>
                </a:solidFill>
              </a:defRPr>
            </a:lvl3pPr>
            <a:lvl4pPr>
              <a:defRPr sz="2550" b="1">
                <a:solidFill>
                  <a:srgbClr val="46BFC9"/>
                </a:solidFill>
              </a:defRPr>
            </a:lvl4pPr>
            <a:lvl5pPr>
              <a:defRPr sz="2550" b="1">
                <a:solidFill>
                  <a:srgbClr val="46BFC9"/>
                </a:solidFill>
              </a:defRPr>
            </a:lvl5pPr>
            <a:lvl6pPr>
              <a:defRPr sz="2550" b="1">
                <a:solidFill>
                  <a:srgbClr val="46BFC9"/>
                </a:solidFill>
              </a:defRPr>
            </a:lvl6pPr>
            <a:lvl7pPr>
              <a:defRPr sz="2550" b="1">
                <a:solidFill>
                  <a:srgbClr val="46BFC9"/>
                </a:solidFill>
              </a:defRPr>
            </a:lvl7pPr>
            <a:lvl8pPr>
              <a:defRPr sz="2550" b="1">
                <a:solidFill>
                  <a:srgbClr val="46BFC9"/>
                </a:solidFill>
              </a:defRPr>
            </a:lvl8pPr>
            <a:lvl9pPr>
              <a:defRPr sz="2550" b="1">
                <a:solidFill>
                  <a:srgbClr val="46BFC9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46BFC9"/>
                </a:solidFill>
              </a:defRPr>
            </a:pPr>
            <a:r>
              <a:rPr sz="2550" b="1">
                <a:solidFill>
                  <a:srgbClr val="46BFC9"/>
                </a:solidFill>
              </a:rPr>
              <a:t>0.742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17BFBB-2C5B-4AA1-8465-69D57E521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24075"/>
            <a:ext cx="2038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92A3A9"/>
                </a:solidFill>
              </a:defRPr>
            </a:defPPr>
            <a:lvl1pPr>
              <a:defRPr sz="1125" b="0">
                <a:solidFill>
                  <a:srgbClr val="92A3A9"/>
                </a:solidFill>
              </a:defRPr>
            </a:lvl1pPr>
            <a:lvl2pPr>
              <a:defRPr sz="1125" b="0">
                <a:solidFill>
                  <a:srgbClr val="92A3A9"/>
                </a:solidFill>
              </a:defRPr>
            </a:lvl2pPr>
            <a:lvl3pPr>
              <a:defRPr sz="1125" b="0">
                <a:solidFill>
                  <a:srgbClr val="92A3A9"/>
                </a:solidFill>
              </a:defRPr>
            </a:lvl3pPr>
            <a:lvl4pPr>
              <a:defRPr sz="1125" b="0">
                <a:solidFill>
                  <a:srgbClr val="92A3A9"/>
                </a:solidFill>
              </a:defRPr>
            </a:lvl4pPr>
            <a:lvl5pPr>
              <a:defRPr sz="1125" b="0">
                <a:solidFill>
                  <a:srgbClr val="92A3A9"/>
                </a:solidFill>
              </a:defRPr>
            </a:lvl5pPr>
            <a:lvl6pPr>
              <a:defRPr sz="1125" b="0">
                <a:solidFill>
                  <a:srgbClr val="92A3A9"/>
                </a:solidFill>
              </a:defRPr>
            </a:lvl6pPr>
            <a:lvl7pPr>
              <a:defRPr sz="1125" b="0">
                <a:solidFill>
                  <a:srgbClr val="92A3A9"/>
                </a:solidFill>
              </a:defRPr>
            </a:lvl7pPr>
            <a:lvl8pPr>
              <a:defRPr sz="1125" b="0">
                <a:solidFill>
                  <a:srgbClr val="92A3A9"/>
                </a:solidFill>
              </a:defRPr>
            </a:lvl8pPr>
            <a:lvl9pPr>
              <a:defRPr sz="1125" b="0">
                <a:solidFill>
                  <a:srgbClr val="92A3A9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92A3A9"/>
                </a:solidFill>
              </a:defRPr>
            </a:pPr>
            <a:r>
              <a:rPr sz="1125" b="0">
                <a:solidFill>
                  <a:srgbClr val="92A3A9"/>
                </a:solidFill>
              </a:rPr>
              <a:t>tumor-synaptic AUROC</a:t>
            </a:r>
          </a:p>
          <a:p xmlns:a="http://schemas.openxmlformats.org/drawingml/2006/main">
            <a:pPr>
              <a:defRPr sz="1125" b="0">
                <a:solidFill>
                  <a:srgbClr val="92A3A9"/>
                </a:solidFill>
              </a:defRPr>
            </a:pPr>
            <a:r>
              <a:rPr sz="1125" b="0">
                <a:solidFill>
                  <a:srgbClr val="92A3A9"/>
                </a:solidFill>
              </a:rPr>
              <a:t>tables + scETM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3BD05B-1770-4FC2-8DEB-232464323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524000"/>
            <a:ext cx="238125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41C20"/>
          </a:solidFill>
          <a:ln xmlns:a="http://schemas.openxmlformats.org/drawingml/2006/main" w="9525">
            <a:solidFill>
              <a:srgbClr val="2A383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93BFCB-A7B3-411F-819B-4BED1E352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676400"/>
            <a:ext cx="2038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A99CF5"/>
                </a:solidFill>
              </a:defRPr>
            </a:defPPr>
            <a:lvl1pPr>
              <a:defRPr sz="2550" b="1">
                <a:solidFill>
                  <a:srgbClr val="A99CF5"/>
                </a:solidFill>
              </a:defRPr>
            </a:lvl1pPr>
            <a:lvl2pPr>
              <a:defRPr sz="2550" b="1">
                <a:solidFill>
                  <a:srgbClr val="A99CF5"/>
                </a:solidFill>
              </a:defRPr>
            </a:lvl2pPr>
            <a:lvl3pPr>
              <a:defRPr sz="2550" b="1">
                <a:solidFill>
                  <a:srgbClr val="A99CF5"/>
                </a:solidFill>
              </a:defRPr>
            </a:lvl3pPr>
            <a:lvl4pPr>
              <a:defRPr sz="2550" b="1">
                <a:solidFill>
                  <a:srgbClr val="A99CF5"/>
                </a:solidFill>
              </a:defRPr>
            </a:lvl4pPr>
            <a:lvl5pPr>
              <a:defRPr sz="2550" b="1">
                <a:solidFill>
                  <a:srgbClr val="A99CF5"/>
                </a:solidFill>
              </a:defRPr>
            </a:lvl5pPr>
            <a:lvl6pPr>
              <a:defRPr sz="2550" b="1">
                <a:solidFill>
                  <a:srgbClr val="A99CF5"/>
                </a:solidFill>
              </a:defRPr>
            </a:lvl6pPr>
            <a:lvl7pPr>
              <a:defRPr sz="2550" b="1">
                <a:solidFill>
                  <a:srgbClr val="A99CF5"/>
                </a:solidFill>
              </a:defRPr>
            </a:lvl7pPr>
            <a:lvl8pPr>
              <a:defRPr sz="2550" b="1">
                <a:solidFill>
                  <a:srgbClr val="A99CF5"/>
                </a:solidFill>
              </a:defRPr>
            </a:lvl8pPr>
            <a:lvl9pPr>
              <a:defRPr sz="2550" b="1">
                <a:solidFill>
                  <a:srgbClr val="A99CF5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A99CF5"/>
                </a:solidFill>
              </a:defRPr>
            </a:pPr>
            <a:r>
              <a:rPr sz="2550" b="1">
                <a:solidFill>
                  <a:srgbClr val="A99CF5"/>
                </a:solidFill>
              </a:rPr>
              <a:t>0.725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3E587E-1FD1-4604-A0C9-D04BD6944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124075"/>
            <a:ext cx="2038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92A3A9"/>
                </a:solidFill>
              </a:defRPr>
            </a:defPPr>
            <a:lvl1pPr>
              <a:defRPr sz="1125" b="0">
                <a:solidFill>
                  <a:srgbClr val="92A3A9"/>
                </a:solidFill>
              </a:defRPr>
            </a:lvl1pPr>
            <a:lvl2pPr>
              <a:defRPr sz="1125" b="0">
                <a:solidFill>
                  <a:srgbClr val="92A3A9"/>
                </a:solidFill>
              </a:defRPr>
            </a:lvl2pPr>
            <a:lvl3pPr>
              <a:defRPr sz="1125" b="0">
                <a:solidFill>
                  <a:srgbClr val="92A3A9"/>
                </a:solidFill>
              </a:defRPr>
            </a:lvl3pPr>
            <a:lvl4pPr>
              <a:defRPr sz="1125" b="0">
                <a:solidFill>
                  <a:srgbClr val="92A3A9"/>
                </a:solidFill>
              </a:defRPr>
            </a:lvl4pPr>
            <a:lvl5pPr>
              <a:defRPr sz="1125" b="0">
                <a:solidFill>
                  <a:srgbClr val="92A3A9"/>
                </a:solidFill>
              </a:defRPr>
            </a:lvl5pPr>
            <a:lvl6pPr>
              <a:defRPr sz="1125" b="0">
                <a:solidFill>
                  <a:srgbClr val="92A3A9"/>
                </a:solidFill>
              </a:defRPr>
            </a:lvl6pPr>
            <a:lvl7pPr>
              <a:defRPr sz="1125" b="0">
                <a:solidFill>
                  <a:srgbClr val="92A3A9"/>
                </a:solidFill>
              </a:defRPr>
            </a:lvl7pPr>
            <a:lvl8pPr>
              <a:defRPr sz="1125" b="0">
                <a:solidFill>
                  <a:srgbClr val="92A3A9"/>
                </a:solidFill>
              </a:defRPr>
            </a:lvl8pPr>
            <a:lvl9pPr>
              <a:defRPr sz="1125" b="0">
                <a:solidFill>
                  <a:srgbClr val="92A3A9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92A3A9"/>
                </a:solidFill>
              </a:defRPr>
            </a:pPr>
            <a:r>
              <a:rPr sz="1125" b="0">
                <a:solidFill>
                  <a:srgbClr val="92A3A9"/>
                </a:solidFill>
              </a:rPr>
              <a:t>immune-synapse AUROC</a:t>
            </a:r>
          </a:p>
          <a:p xmlns:a="http://schemas.openxmlformats.org/drawingml/2006/main">
            <a:pPr>
              <a:defRPr sz="1125" b="0">
                <a:solidFill>
                  <a:srgbClr val="92A3A9"/>
                </a:solidFill>
              </a:defRPr>
            </a:pPr>
            <a:r>
              <a:rPr sz="1125" b="0">
                <a:solidFill>
                  <a:srgbClr val="92A3A9"/>
                </a:solidFill>
              </a:rPr>
              <a:t>tables + scETM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C8EDCC-E40B-4CF4-9304-C7F170D94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1524000"/>
            <a:ext cx="238125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41C20"/>
          </a:solidFill>
          <a:ln xmlns:a="http://schemas.openxmlformats.org/drawingml/2006/main" w="9525">
            <a:solidFill>
              <a:srgbClr val="2A383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3B4B01-B643-4261-B31E-A07F24B44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76400"/>
            <a:ext cx="2038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66BF8B"/>
                </a:solidFill>
              </a:defRPr>
            </a:defPPr>
            <a:lvl1pPr>
              <a:defRPr sz="2550" b="1">
                <a:solidFill>
                  <a:srgbClr val="66BF8B"/>
                </a:solidFill>
              </a:defRPr>
            </a:lvl1pPr>
            <a:lvl2pPr>
              <a:defRPr sz="2550" b="1">
                <a:solidFill>
                  <a:srgbClr val="66BF8B"/>
                </a:solidFill>
              </a:defRPr>
            </a:lvl2pPr>
            <a:lvl3pPr>
              <a:defRPr sz="2550" b="1">
                <a:solidFill>
                  <a:srgbClr val="66BF8B"/>
                </a:solidFill>
              </a:defRPr>
            </a:lvl3pPr>
            <a:lvl4pPr>
              <a:defRPr sz="2550" b="1">
                <a:solidFill>
                  <a:srgbClr val="66BF8B"/>
                </a:solidFill>
              </a:defRPr>
            </a:lvl4pPr>
            <a:lvl5pPr>
              <a:defRPr sz="2550" b="1">
                <a:solidFill>
                  <a:srgbClr val="66BF8B"/>
                </a:solidFill>
              </a:defRPr>
            </a:lvl5pPr>
            <a:lvl6pPr>
              <a:defRPr sz="2550" b="1">
                <a:solidFill>
                  <a:srgbClr val="66BF8B"/>
                </a:solidFill>
              </a:defRPr>
            </a:lvl6pPr>
            <a:lvl7pPr>
              <a:defRPr sz="2550" b="1">
                <a:solidFill>
                  <a:srgbClr val="66BF8B"/>
                </a:solidFill>
              </a:defRPr>
            </a:lvl7pPr>
            <a:lvl8pPr>
              <a:defRPr sz="2550" b="1">
                <a:solidFill>
                  <a:srgbClr val="66BF8B"/>
                </a:solidFill>
              </a:defRPr>
            </a:lvl8pPr>
            <a:lvl9pPr>
              <a:defRPr sz="2550" b="1">
                <a:solidFill>
                  <a:srgbClr val="66BF8B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66BF8B"/>
                </a:solidFill>
              </a:defRPr>
            </a:pPr>
            <a:r>
              <a:rPr sz="2550" b="1">
                <a:solidFill>
                  <a:srgbClr val="66BF8B"/>
                </a:solidFill>
              </a:rPr>
              <a:t>5 × 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EB4AB7-1CC7-46B5-B580-35A3A1AEC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24075"/>
            <a:ext cx="2038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92A3A9"/>
                </a:solidFill>
              </a:defRPr>
            </a:defPPr>
            <a:lvl1pPr>
              <a:defRPr sz="1125" b="0">
                <a:solidFill>
                  <a:srgbClr val="92A3A9"/>
                </a:solidFill>
              </a:defRPr>
            </a:lvl1pPr>
            <a:lvl2pPr>
              <a:defRPr sz="1125" b="0">
                <a:solidFill>
                  <a:srgbClr val="92A3A9"/>
                </a:solidFill>
              </a:defRPr>
            </a:lvl2pPr>
            <a:lvl3pPr>
              <a:defRPr sz="1125" b="0">
                <a:solidFill>
                  <a:srgbClr val="92A3A9"/>
                </a:solidFill>
              </a:defRPr>
            </a:lvl3pPr>
            <a:lvl4pPr>
              <a:defRPr sz="1125" b="0">
                <a:solidFill>
                  <a:srgbClr val="92A3A9"/>
                </a:solidFill>
              </a:defRPr>
            </a:lvl4pPr>
            <a:lvl5pPr>
              <a:defRPr sz="1125" b="0">
                <a:solidFill>
                  <a:srgbClr val="92A3A9"/>
                </a:solidFill>
              </a:defRPr>
            </a:lvl5pPr>
            <a:lvl6pPr>
              <a:defRPr sz="1125" b="0">
                <a:solidFill>
                  <a:srgbClr val="92A3A9"/>
                </a:solidFill>
              </a:defRPr>
            </a:lvl6pPr>
            <a:lvl7pPr>
              <a:defRPr sz="1125" b="0">
                <a:solidFill>
                  <a:srgbClr val="92A3A9"/>
                </a:solidFill>
              </a:defRPr>
            </a:lvl7pPr>
            <a:lvl8pPr>
              <a:defRPr sz="1125" b="0">
                <a:solidFill>
                  <a:srgbClr val="92A3A9"/>
                </a:solidFill>
              </a:defRPr>
            </a:lvl8pPr>
            <a:lvl9pPr>
              <a:defRPr sz="1125" b="0">
                <a:solidFill>
                  <a:srgbClr val="92A3A9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92A3A9"/>
                </a:solidFill>
              </a:defRPr>
            </a:pPr>
            <a:r>
              <a:rPr sz="1125" b="0">
                <a:solidFill>
                  <a:srgbClr val="92A3A9"/>
                </a:solidFill>
              </a:rPr>
              <a:t>seeds × grouped folds</a:t>
            </a:r>
          </a:p>
          <a:p xmlns:a="http://schemas.openxmlformats.org/drawingml/2006/main">
            <a:pPr>
              <a:defRPr sz="1125" b="0">
                <a:solidFill>
                  <a:srgbClr val="92A3A9"/>
                </a:solidFill>
              </a:defRPr>
            </a:pPr>
            <a:r>
              <a:rPr sz="1125" b="0">
                <a:solidFill>
                  <a:srgbClr val="92A3A9"/>
                </a:solidFill>
              </a:rPr>
              <a:t>out-of-fold scoring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3C9AC9-DC58-4FEA-B03F-7B9558CAE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524000"/>
            <a:ext cx="238125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41C20"/>
          </a:solidFill>
          <a:ln xmlns:a="http://schemas.openxmlformats.org/drawingml/2006/main" w="9525">
            <a:solidFill>
              <a:srgbClr val="2A383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860FA4D-1DA8-4C97-81FE-3DD377138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676400"/>
            <a:ext cx="2038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E2A84E"/>
                </a:solidFill>
              </a:defRPr>
            </a:defPPr>
            <a:lvl1pPr>
              <a:defRPr sz="2550" b="1">
                <a:solidFill>
                  <a:srgbClr val="E2A84E"/>
                </a:solidFill>
              </a:defRPr>
            </a:lvl1pPr>
            <a:lvl2pPr>
              <a:defRPr sz="2550" b="1">
                <a:solidFill>
                  <a:srgbClr val="E2A84E"/>
                </a:solidFill>
              </a:defRPr>
            </a:lvl2pPr>
            <a:lvl3pPr>
              <a:defRPr sz="2550" b="1">
                <a:solidFill>
                  <a:srgbClr val="E2A84E"/>
                </a:solidFill>
              </a:defRPr>
            </a:lvl3pPr>
            <a:lvl4pPr>
              <a:defRPr sz="2550" b="1">
                <a:solidFill>
                  <a:srgbClr val="E2A84E"/>
                </a:solidFill>
              </a:defRPr>
            </a:lvl4pPr>
            <a:lvl5pPr>
              <a:defRPr sz="2550" b="1">
                <a:solidFill>
                  <a:srgbClr val="E2A84E"/>
                </a:solidFill>
              </a:defRPr>
            </a:lvl5pPr>
            <a:lvl6pPr>
              <a:defRPr sz="2550" b="1">
                <a:solidFill>
                  <a:srgbClr val="E2A84E"/>
                </a:solidFill>
              </a:defRPr>
            </a:lvl6pPr>
            <a:lvl7pPr>
              <a:defRPr sz="2550" b="1">
                <a:solidFill>
                  <a:srgbClr val="E2A84E"/>
                </a:solidFill>
              </a:defRPr>
            </a:lvl7pPr>
            <a:lvl8pPr>
              <a:defRPr sz="2550" b="1">
                <a:solidFill>
                  <a:srgbClr val="E2A84E"/>
                </a:solidFill>
              </a:defRPr>
            </a:lvl8pPr>
            <a:lvl9pPr>
              <a:defRPr sz="2550" b="1">
                <a:solidFill>
                  <a:srgbClr val="E2A84E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E2A84E"/>
                </a:solidFill>
              </a:defRPr>
            </a:pPr>
            <a:r>
              <a:rPr sz="2550" b="1">
                <a:solidFill>
                  <a:srgbClr val="E2A84E"/>
                </a:solidFill>
              </a:rPr>
              <a:t>32-d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DC6472-B186-43B0-998B-1DB68C738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124075"/>
            <a:ext cx="2038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92A3A9"/>
                </a:solidFill>
              </a:defRPr>
            </a:defPPr>
            <a:lvl1pPr>
              <a:defRPr sz="1125" b="0">
                <a:solidFill>
                  <a:srgbClr val="92A3A9"/>
                </a:solidFill>
              </a:defRPr>
            </a:lvl1pPr>
            <a:lvl2pPr>
              <a:defRPr sz="1125" b="0">
                <a:solidFill>
                  <a:srgbClr val="92A3A9"/>
                </a:solidFill>
              </a:defRPr>
            </a:lvl2pPr>
            <a:lvl3pPr>
              <a:defRPr sz="1125" b="0">
                <a:solidFill>
                  <a:srgbClr val="92A3A9"/>
                </a:solidFill>
              </a:defRPr>
            </a:lvl3pPr>
            <a:lvl4pPr>
              <a:defRPr sz="1125" b="0">
                <a:solidFill>
                  <a:srgbClr val="92A3A9"/>
                </a:solidFill>
              </a:defRPr>
            </a:lvl4pPr>
            <a:lvl5pPr>
              <a:defRPr sz="1125" b="0">
                <a:solidFill>
                  <a:srgbClr val="92A3A9"/>
                </a:solidFill>
              </a:defRPr>
            </a:lvl5pPr>
            <a:lvl6pPr>
              <a:defRPr sz="1125" b="0">
                <a:solidFill>
                  <a:srgbClr val="92A3A9"/>
                </a:solidFill>
              </a:defRPr>
            </a:lvl6pPr>
            <a:lvl7pPr>
              <a:defRPr sz="1125" b="0">
                <a:solidFill>
                  <a:srgbClr val="92A3A9"/>
                </a:solidFill>
              </a:defRPr>
            </a:lvl7pPr>
            <a:lvl8pPr>
              <a:defRPr sz="1125" b="0">
                <a:solidFill>
                  <a:srgbClr val="92A3A9"/>
                </a:solidFill>
              </a:defRPr>
            </a:lvl8pPr>
            <a:lvl9pPr>
              <a:defRPr sz="1125" b="0">
                <a:solidFill>
                  <a:srgbClr val="92A3A9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92A3A9"/>
                </a:solidFill>
              </a:defRPr>
            </a:pPr>
            <a:r>
              <a:rPr sz="1125" b="0">
                <a:solidFill>
                  <a:srgbClr val="92A3A9"/>
                </a:solidFill>
              </a:rPr>
              <a:t>gene embedding</a:t>
            </a:r>
          </a:p>
          <a:p xmlns:a="http://schemas.openxmlformats.org/drawingml/2006/main">
            <a:pPr>
              <a:defRPr sz="1125" b="0">
                <a:solidFill>
                  <a:srgbClr val="92A3A9"/>
                </a:solidFill>
              </a:defRPr>
            </a:pPr>
            <a:r>
              <a:rPr sz="1125" b="0">
                <a:solidFill>
                  <a:srgbClr val="92A3A9"/>
                </a:solidFill>
              </a:rPr>
              <a:t>20,381 cells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2F9B3DF-1548-4334-AE13-4C991F47F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05125"/>
            <a:ext cx="5124450" cy="3067050"/>
          </a:xfrm>
          <a:prstGeom xmlns:a="http://schemas.openxmlformats.org/drawingml/2006/main" prst="roundRect">
            <a:avLst>
              <a:gd name="adj" fmla="val 4969"/>
            </a:avLst>
          </a:prstGeom>
          <a:solidFill xmlns:a="http://schemas.openxmlformats.org/drawingml/2006/main">
            <a:srgbClr val="141C20"/>
          </a:solidFill>
          <a:ln xmlns:a="http://schemas.openxmlformats.org/drawingml/2006/main" w="9525">
            <a:solidFill>
              <a:srgbClr val="2A383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EABA6C-EA38-4884-A08A-C9C358973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813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E1E9EC"/>
                </a:solidFill>
              </a:defRPr>
            </a:defPPr>
            <a:lvl1pPr>
              <a:defRPr sz="1800" b="1">
                <a:solidFill>
                  <a:srgbClr val="E1E9EC"/>
                </a:solidFill>
              </a:defRPr>
            </a:lvl1pPr>
            <a:lvl2pPr>
              <a:defRPr sz="1800" b="1">
                <a:solidFill>
                  <a:srgbClr val="E1E9EC"/>
                </a:solidFill>
              </a:defRPr>
            </a:lvl2pPr>
            <a:lvl3pPr>
              <a:defRPr sz="1800" b="1">
                <a:solidFill>
                  <a:srgbClr val="E1E9EC"/>
                </a:solidFill>
              </a:defRPr>
            </a:lvl3pPr>
            <a:lvl4pPr>
              <a:defRPr sz="1800" b="1">
                <a:solidFill>
                  <a:srgbClr val="E1E9EC"/>
                </a:solidFill>
              </a:defRPr>
            </a:lvl4pPr>
            <a:lvl5pPr>
              <a:defRPr sz="1800" b="1">
                <a:solidFill>
                  <a:srgbClr val="E1E9EC"/>
                </a:solidFill>
              </a:defRPr>
            </a:lvl5pPr>
            <a:lvl6pPr>
              <a:defRPr sz="1800" b="1">
                <a:solidFill>
                  <a:srgbClr val="E1E9EC"/>
                </a:solidFill>
              </a:defRPr>
            </a:lvl6pPr>
            <a:lvl7pPr>
              <a:defRPr sz="1800" b="1">
                <a:solidFill>
                  <a:srgbClr val="E1E9EC"/>
                </a:solidFill>
              </a:defRPr>
            </a:lvl7pPr>
            <a:lvl8pPr>
              <a:defRPr sz="1800" b="1">
                <a:solidFill>
                  <a:srgbClr val="E1E9EC"/>
                </a:solidFill>
              </a:defRPr>
            </a:lvl8pPr>
            <a:lvl9pPr>
              <a:defRPr sz="1800" b="1">
                <a:solidFill>
                  <a:srgbClr val="E1E9EC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E1E9EC"/>
                </a:solidFill>
              </a:defRPr>
            </a:pPr>
            <a:r>
              <a:rPr sz="1800" b="1">
                <a:solidFill>
                  <a:srgbClr val="E1E9EC"/>
                </a:solidFill>
              </a:rPr>
              <a:t>Feature stack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27BCE2-62F6-452B-AA7A-CE60C5AD0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433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B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E7A64C-E705-416C-9592-E625D75C8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667125"/>
            <a:ext cx="4076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E1E9EC"/>
                </a:solidFill>
              </a:defRPr>
            </a:defPPr>
            <a:lvl1pPr>
              <a:defRPr sz="1425" b="0">
                <a:solidFill>
                  <a:srgbClr val="E1E9EC"/>
                </a:solidFill>
              </a:defRPr>
            </a:lvl1pPr>
            <a:lvl2pPr>
              <a:defRPr sz="1425" b="0">
                <a:solidFill>
                  <a:srgbClr val="E1E9EC"/>
                </a:solidFill>
              </a:defRPr>
            </a:lvl2pPr>
            <a:lvl3pPr>
              <a:defRPr sz="1425" b="0">
                <a:solidFill>
                  <a:srgbClr val="E1E9EC"/>
                </a:solidFill>
              </a:defRPr>
            </a:lvl3pPr>
            <a:lvl4pPr>
              <a:defRPr sz="1425" b="0">
                <a:solidFill>
                  <a:srgbClr val="E1E9EC"/>
                </a:solidFill>
              </a:defRPr>
            </a:lvl4pPr>
            <a:lvl5pPr>
              <a:defRPr sz="1425" b="0">
                <a:solidFill>
                  <a:srgbClr val="E1E9EC"/>
                </a:solidFill>
              </a:defRPr>
            </a:lvl5pPr>
            <a:lvl6pPr>
              <a:defRPr sz="1425" b="0">
                <a:solidFill>
                  <a:srgbClr val="E1E9EC"/>
                </a:solidFill>
              </a:defRPr>
            </a:lvl6pPr>
            <a:lvl7pPr>
              <a:defRPr sz="1425" b="0">
                <a:solidFill>
                  <a:srgbClr val="E1E9EC"/>
                </a:solidFill>
              </a:defRPr>
            </a:lvl7pPr>
            <a:lvl8pPr>
              <a:defRPr sz="1425" b="0">
                <a:solidFill>
                  <a:srgbClr val="E1E9EC"/>
                </a:solidFill>
              </a:defRPr>
            </a:lvl8pPr>
            <a:lvl9pPr>
              <a:defRPr sz="1425" b="0">
                <a:solidFill>
                  <a:srgbClr val="E1E9EC"/>
                </a:solidFill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E1E9EC"/>
                </a:solidFill>
              </a:defRPr>
            </a:pPr>
            <a:r>
              <a:rPr sz="1425" b="0">
                <a:solidFill>
                  <a:srgbClr val="E1E9EC"/>
                </a:solidFill>
              </a:rPr>
              <a:t>CellChat interaction probability and Ephys lean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DD8F29-5FFA-48DA-8A31-FCCB5B18C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862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B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793040-8035-4F37-956F-279145AF1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4076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E1E9EC"/>
                </a:solidFill>
              </a:defRPr>
            </a:defPPr>
            <a:lvl1pPr>
              <a:defRPr sz="1425" b="0">
                <a:solidFill>
                  <a:srgbClr val="E1E9EC"/>
                </a:solidFill>
              </a:defRPr>
            </a:lvl1pPr>
            <a:lvl2pPr>
              <a:defRPr sz="1425" b="0">
                <a:solidFill>
                  <a:srgbClr val="E1E9EC"/>
                </a:solidFill>
              </a:defRPr>
            </a:lvl2pPr>
            <a:lvl3pPr>
              <a:defRPr sz="1425" b="0">
                <a:solidFill>
                  <a:srgbClr val="E1E9EC"/>
                </a:solidFill>
              </a:defRPr>
            </a:lvl3pPr>
            <a:lvl4pPr>
              <a:defRPr sz="1425" b="0">
                <a:solidFill>
                  <a:srgbClr val="E1E9EC"/>
                </a:solidFill>
              </a:defRPr>
            </a:lvl4pPr>
            <a:lvl5pPr>
              <a:defRPr sz="1425" b="0">
                <a:solidFill>
                  <a:srgbClr val="E1E9EC"/>
                </a:solidFill>
              </a:defRPr>
            </a:lvl5pPr>
            <a:lvl6pPr>
              <a:defRPr sz="1425" b="0">
                <a:solidFill>
                  <a:srgbClr val="E1E9EC"/>
                </a:solidFill>
              </a:defRPr>
            </a:lvl6pPr>
            <a:lvl7pPr>
              <a:defRPr sz="1425" b="0">
                <a:solidFill>
                  <a:srgbClr val="E1E9EC"/>
                </a:solidFill>
              </a:defRPr>
            </a:lvl7pPr>
            <a:lvl8pPr>
              <a:defRPr sz="1425" b="0">
                <a:solidFill>
                  <a:srgbClr val="E1E9EC"/>
                </a:solidFill>
              </a:defRPr>
            </a:lvl8pPr>
            <a:lvl9pPr>
              <a:defRPr sz="1425" b="0">
                <a:solidFill>
                  <a:srgbClr val="E1E9EC"/>
                </a:solidFill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E1E9EC"/>
                </a:solidFill>
              </a:defRPr>
            </a:pPr>
            <a:r>
              <a:rPr sz="1425" b="0">
                <a:solidFill>
                  <a:srgbClr val="E1E9EC"/>
                </a:solidFill>
              </a:rPr>
              <a:t>DEG effect size, adjusted p-value, and IDH agreement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F16929-FB83-4602-AE81-2059F418D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863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B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7FF658-7722-43C7-8BB4-C5CAAE729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810125"/>
            <a:ext cx="4076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E1E9EC"/>
                </a:solidFill>
              </a:defRPr>
            </a:defPPr>
            <a:lvl1pPr>
              <a:defRPr sz="1425" b="0">
                <a:solidFill>
                  <a:srgbClr val="E1E9EC"/>
                </a:solidFill>
              </a:defRPr>
            </a:lvl1pPr>
            <a:lvl2pPr>
              <a:defRPr sz="1425" b="0">
                <a:solidFill>
                  <a:srgbClr val="E1E9EC"/>
                </a:solidFill>
              </a:defRPr>
            </a:lvl2pPr>
            <a:lvl3pPr>
              <a:defRPr sz="1425" b="0">
                <a:solidFill>
                  <a:srgbClr val="E1E9EC"/>
                </a:solidFill>
              </a:defRPr>
            </a:lvl3pPr>
            <a:lvl4pPr>
              <a:defRPr sz="1425" b="0">
                <a:solidFill>
                  <a:srgbClr val="E1E9EC"/>
                </a:solidFill>
              </a:defRPr>
            </a:lvl4pPr>
            <a:lvl5pPr>
              <a:defRPr sz="1425" b="0">
                <a:solidFill>
                  <a:srgbClr val="E1E9EC"/>
                </a:solidFill>
              </a:defRPr>
            </a:lvl5pPr>
            <a:lvl6pPr>
              <a:defRPr sz="1425" b="0">
                <a:solidFill>
                  <a:srgbClr val="E1E9EC"/>
                </a:solidFill>
              </a:defRPr>
            </a:lvl6pPr>
            <a:lvl7pPr>
              <a:defRPr sz="1425" b="0">
                <a:solidFill>
                  <a:srgbClr val="E1E9EC"/>
                </a:solidFill>
              </a:defRPr>
            </a:lvl7pPr>
            <a:lvl8pPr>
              <a:defRPr sz="1425" b="0">
                <a:solidFill>
                  <a:srgbClr val="E1E9EC"/>
                </a:solidFill>
              </a:defRPr>
            </a:lvl8pPr>
            <a:lvl9pPr>
              <a:defRPr sz="1425" b="0">
                <a:solidFill>
                  <a:srgbClr val="E1E9EC"/>
                </a:solidFill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E1E9EC"/>
                </a:solidFill>
              </a:defRPr>
            </a:pPr>
            <a:r>
              <a:rPr sz="1425" b="0">
                <a:solidFill>
                  <a:srgbClr val="E1E9EC"/>
                </a:solidFill>
              </a:rPr>
              <a:t>Group size safeguards from cell counts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6D8D0D8-FBB6-41BF-A5B9-5BC16284A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292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99C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74DEB8F-6F08-4976-AF8D-C666A6EB8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353050"/>
            <a:ext cx="4076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E1E9EC"/>
                </a:solidFill>
              </a:defRPr>
            </a:defPPr>
            <a:lvl1pPr>
              <a:defRPr sz="1425" b="0">
                <a:solidFill>
                  <a:srgbClr val="E1E9EC"/>
                </a:solidFill>
              </a:defRPr>
            </a:lvl1pPr>
            <a:lvl2pPr>
              <a:defRPr sz="1425" b="0">
                <a:solidFill>
                  <a:srgbClr val="E1E9EC"/>
                </a:solidFill>
              </a:defRPr>
            </a:lvl2pPr>
            <a:lvl3pPr>
              <a:defRPr sz="1425" b="0">
                <a:solidFill>
                  <a:srgbClr val="E1E9EC"/>
                </a:solidFill>
              </a:defRPr>
            </a:lvl3pPr>
            <a:lvl4pPr>
              <a:defRPr sz="1425" b="0">
                <a:solidFill>
                  <a:srgbClr val="E1E9EC"/>
                </a:solidFill>
              </a:defRPr>
            </a:lvl4pPr>
            <a:lvl5pPr>
              <a:defRPr sz="1425" b="0">
                <a:solidFill>
                  <a:srgbClr val="E1E9EC"/>
                </a:solidFill>
              </a:defRPr>
            </a:lvl5pPr>
            <a:lvl6pPr>
              <a:defRPr sz="1425" b="0">
                <a:solidFill>
                  <a:srgbClr val="E1E9EC"/>
                </a:solidFill>
              </a:defRPr>
            </a:lvl6pPr>
            <a:lvl7pPr>
              <a:defRPr sz="1425" b="0">
                <a:solidFill>
                  <a:srgbClr val="E1E9EC"/>
                </a:solidFill>
              </a:defRPr>
            </a:lvl7pPr>
            <a:lvl8pPr>
              <a:defRPr sz="1425" b="0">
                <a:solidFill>
                  <a:srgbClr val="E1E9EC"/>
                </a:solidFill>
              </a:defRPr>
            </a:lvl8pPr>
            <a:lvl9pPr>
              <a:defRPr sz="1425" b="0">
                <a:solidFill>
                  <a:srgbClr val="E1E9EC"/>
                </a:solidFill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E1E9EC"/>
                </a:solidFill>
              </a:defRPr>
            </a:pPr>
            <a:r>
              <a:rPr sz="1425" b="0">
                <a:solidFill>
                  <a:srgbClr val="E1E9EC"/>
                </a:solidFill>
              </a:rPr>
              <a:t>scETM embedding and neighbor-label fractions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1AADC3F-7B0B-4334-A514-238A63DCE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905125"/>
            <a:ext cx="5581650" cy="3067050"/>
          </a:xfrm>
          <a:prstGeom xmlns:a="http://schemas.openxmlformats.org/drawingml/2006/main" prst="roundRect">
            <a:avLst>
              <a:gd name="adj" fmla="val 4969"/>
            </a:avLst>
          </a:prstGeom>
          <a:solidFill xmlns:a="http://schemas.openxmlformats.org/drawingml/2006/main">
            <a:srgbClr val="141C20"/>
          </a:solidFill>
          <a:ln xmlns:a="http://schemas.openxmlformats.org/drawingml/2006/main" w="9525">
            <a:solidFill>
              <a:srgbClr val="2A383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1D37207-674D-45EA-9BC4-0F0048323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181350"/>
            <a:ext cx="323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E1E9EC"/>
                </a:solidFill>
              </a:defRPr>
            </a:defPPr>
            <a:lvl1pPr>
              <a:defRPr sz="1800" b="1">
                <a:solidFill>
                  <a:srgbClr val="E1E9EC"/>
                </a:solidFill>
              </a:defRPr>
            </a:lvl1pPr>
            <a:lvl2pPr>
              <a:defRPr sz="1800" b="1">
                <a:solidFill>
                  <a:srgbClr val="E1E9EC"/>
                </a:solidFill>
              </a:defRPr>
            </a:lvl2pPr>
            <a:lvl3pPr>
              <a:defRPr sz="1800" b="1">
                <a:solidFill>
                  <a:srgbClr val="E1E9EC"/>
                </a:solidFill>
              </a:defRPr>
            </a:lvl3pPr>
            <a:lvl4pPr>
              <a:defRPr sz="1800" b="1">
                <a:solidFill>
                  <a:srgbClr val="E1E9EC"/>
                </a:solidFill>
              </a:defRPr>
            </a:lvl4pPr>
            <a:lvl5pPr>
              <a:defRPr sz="1800" b="1">
                <a:solidFill>
                  <a:srgbClr val="E1E9EC"/>
                </a:solidFill>
              </a:defRPr>
            </a:lvl5pPr>
            <a:lvl6pPr>
              <a:defRPr sz="1800" b="1">
                <a:solidFill>
                  <a:srgbClr val="E1E9EC"/>
                </a:solidFill>
              </a:defRPr>
            </a:lvl6pPr>
            <a:lvl7pPr>
              <a:defRPr sz="1800" b="1">
                <a:solidFill>
                  <a:srgbClr val="E1E9EC"/>
                </a:solidFill>
              </a:defRPr>
            </a:lvl7pPr>
            <a:lvl8pPr>
              <a:defRPr sz="1800" b="1">
                <a:solidFill>
                  <a:srgbClr val="E1E9EC"/>
                </a:solidFill>
              </a:defRPr>
            </a:lvl8pPr>
            <a:lvl9pPr>
              <a:defRPr sz="1800" b="1">
                <a:solidFill>
                  <a:srgbClr val="E1E9EC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E1E9EC"/>
                </a:solidFill>
              </a:defRPr>
            </a:pPr>
            <a:r>
              <a:rPr sz="1800" b="1">
                <a:solidFill>
                  <a:srgbClr val="E1E9EC"/>
                </a:solidFill>
              </a:rPr>
              <a:t>Nomination output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05AC869-333A-4789-8D27-5B9074B94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70522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46BFC9"/>
                </a:solidFill>
              </a:defRPr>
            </a:defPPr>
            <a:lvl1pPr>
              <a:defRPr sz="1500" b="1">
                <a:solidFill>
                  <a:srgbClr val="46BFC9"/>
                </a:solidFill>
              </a:defRPr>
            </a:lvl1pPr>
            <a:lvl2pPr>
              <a:defRPr sz="1500" b="1">
                <a:solidFill>
                  <a:srgbClr val="46BFC9"/>
                </a:solidFill>
              </a:defRPr>
            </a:lvl2pPr>
            <a:lvl3pPr>
              <a:defRPr sz="1500" b="1">
                <a:solidFill>
                  <a:srgbClr val="46BFC9"/>
                </a:solidFill>
              </a:defRPr>
            </a:lvl3pPr>
            <a:lvl4pPr>
              <a:defRPr sz="1500" b="1">
                <a:solidFill>
                  <a:srgbClr val="46BFC9"/>
                </a:solidFill>
              </a:defRPr>
            </a:lvl4pPr>
            <a:lvl5pPr>
              <a:defRPr sz="1500" b="1">
                <a:solidFill>
                  <a:srgbClr val="46BFC9"/>
                </a:solidFill>
              </a:defRPr>
            </a:lvl5pPr>
            <a:lvl6pPr>
              <a:defRPr sz="1500" b="1">
                <a:solidFill>
                  <a:srgbClr val="46BFC9"/>
                </a:solidFill>
              </a:defRPr>
            </a:lvl6pPr>
            <a:lvl7pPr>
              <a:defRPr sz="1500" b="1">
                <a:solidFill>
                  <a:srgbClr val="46BFC9"/>
                </a:solidFill>
              </a:defRPr>
            </a:lvl7pPr>
            <a:lvl8pPr>
              <a:defRPr sz="1500" b="1">
                <a:solidFill>
                  <a:srgbClr val="46BFC9"/>
                </a:solidFill>
              </a:defRPr>
            </a:lvl8pPr>
            <a:lvl9pPr>
              <a:defRPr sz="1500" b="1">
                <a:solidFill>
                  <a:srgbClr val="46BFC9"/>
                </a:solidFill>
              </a:defRPr>
            </a:lvl9pPr>
          </a:lstStyle>
          <a:p xmlns:a="http://schemas.openxmlformats.org/drawingml/2006/main">
            <a:pPr>
              <a:defRPr sz="1500" b="1">
                <a:solidFill>
                  <a:srgbClr val="46BFC9"/>
                </a:solidFill>
              </a:defRPr>
            </a:pPr>
            <a:r>
              <a:rPr sz="1500" b="1">
                <a:solidFill>
                  <a:srgbClr val="46BFC9"/>
                </a:solidFill>
              </a:rPr>
              <a:t>NRXN1 · cycling_tumor · IDH_Mutant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36C3286-6DEF-4AB2-B298-EDBF49B66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152900"/>
            <a:ext cx="2333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92A3A9"/>
                </a:solidFill>
              </a:defRPr>
            </a:defPPr>
            <a:lvl1pPr>
              <a:defRPr sz="1200" b="0">
                <a:solidFill>
                  <a:srgbClr val="92A3A9"/>
                </a:solidFill>
              </a:defRPr>
            </a:lvl1pPr>
            <a:lvl2pPr>
              <a:defRPr sz="1200" b="0">
                <a:solidFill>
                  <a:srgbClr val="92A3A9"/>
                </a:solidFill>
              </a:defRPr>
            </a:lvl2pPr>
            <a:lvl3pPr>
              <a:defRPr sz="1200" b="0">
                <a:solidFill>
                  <a:srgbClr val="92A3A9"/>
                </a:solidFill>
              </a:defRPr>
            </a:lvl3pPr>
            <a:lvl4pPr>
              <a:defRPr sz="1200" b="0">
                <a:solidFill>
                  <a:srgbClr val="92A3A9"/>
                </a:solidFill>
              </a:defRPr>
            </a:lvl4pPr>
            <a:lvl5pPr>
              <a:defRPr sz="1200" b="0">
                <a:solidFill>
                  <a:srgbClr val="92A3A9"/>
                </a:solidFill>
              </a:defRPr>
            </a:lvl5pPr>
            <a:lvl6pPr>
              <a:defRPr sz="1200" b="0">
                <a:solidFill>
                  <a:srgbClr val="92A3A9"/>
                </a:solidFill>
              </a:defRPr>
            </a:lvl6pPr>
            <a:lvl7pPr>
              <a:defRPr sz="1200" b="0">
                <a:solidFill>
                  <a:srgbClr val="92A3A9"/>
                </a:solidFill>
              </a:defRPr>
            </a:lvl7pPr>
            <a:lvl8pPr>
              <a:defRPr sz="1200" b="0">
                <a:solidFill>
                  <a:srgbClr val="92A3A9"/>
                </a:solidFill>
              </a:defRPr>
            </a:lvl8pPr>
            <a:lvl9pPr>
              <a:defRPr sz="1200" b="0">
                <a:solidFill>
                  <a:srgbClr val="92A3A9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92A3A9"/>
                </a:solidFill>
              </a:defRPr>
            </a:pPr>
            <a:r>
              <a:rPr sz="1200" b="0">
                <a:solidFill>
                  <a:srgbClr val="92A3A9"/>
                </a:solidFill>
              </a:rPr>
              <a:t>p_tumor_synaptic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71325F5-3174-4F3F-96EC-4A69902AD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048125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2100" b="1">
                <a:solidFill>
                  <a:srgbClr val="66BF8B"/>
                </a:solidFill>
              </a:defRPr>
            </a:defPPr>
            <a:lvl1pPr algn="r">
              <a:defRPr sz="2100" b="1">
                <a:solidFill>
                  <a:srgbClr val="66BF8B"/>
                </a:solidFill>
              </a:defRPr>
            </a:lvl1pPr>
            <a:lvl2pPr algn="r">
              <a:defRPr sz="2100" b="1">
                <a:solidFill>
                  <a:srgbClr val="66BF8B"/>
                </a:solidFill>
              </a:defRPr>
            </a:lvl2pPr>
            <a:lvl3pPr algn="r">
              <a:defRPr sz="2100" b="1">
                <a:solidFill>
                  <a:srgbClr val="66BF8B"/>
                </a:solidFill>
              </a:defRPr>
            </a:lvl3pPr>
            <a:lvl4pPr algn="r">
              <a:defRPr sz="2100" b="1">
                <a:solidFill>
                  <a:srgbClr val="66BF8B"/>
                </a:solidFill>
              </a:defRPr>
            </a:lvl4pPr>
            <a:lvl5pPr algn="r">
              <a:defRPr sz="2100" b="1">
                <a:solidFill>
                  <a:srgbClr val="66BF8B"/>
                </a:solidFill>
              </a:defRPr>
            </a:lvl5pPr>
            <a:lvl6pPr algn="r">
              <a:defRPr sz="2100" b="1">
                <a:solidFill>
                  <a:srgbClr val="66BF8B"/>
                </a:solidFill>
              </a:defRPr>
            </a:lvl6pPr>
            <a:lvl7pPr algn="r">
              <a:defRPr sz="2100" b="1">
                <a:solidFill>
                  <a:srgbClr val="66BF8B"/>
                </a:solidFill>
              </a:defRPr>
            </a:lvl7pPr>
            <a:lvl8pPr algn="r">
              <a:defRPr sz="2100" b="1">
                <a:solidFill>
                  <a:srgbClr val="66BF8B"/>
                </a:solidFill>
              </a:defRPr>
            </a:lvl8pPr>
            <a:lvl9pPr algn="r">
              <a:defRPr sz="2100" b="1">
                <a:solidFill>
                  <a:srgbClr val="66BF8B"/>
                </a:solidFill>
              </a:defRPr>
            </a:lvl9pPr>
          </a:lstStyle>
          <a:p xmlns:a="http://schemas.openxmlformats.org/drawingml/2006/main">
            <a:pPr algn="r">
              <a:defRPr sz="2100" b="1">
                <a:solidFill>
                  <a:srgbClr val="66BF8B"/>
                </a:solidFill>
              </a:defRPr>
            </a:pPr>
            <a:r>
              <a:rPr sz="2100" b="1">
                <a:solidFill>
                  <a:srgbClr val="66BF8B"/>
                </a:solidFill>
              </a:rPr>
              <a:t>0.900521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144B863-158C-4E48-BFDE-E7A270D53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591050"/>
            <a:ext cx="2333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92A3A9"/>
                </a:solidFill>
              </a:defRPr>
            </a:defPPr>
            <a:lvl1pPr>
              <a:defRPr sz="1200" b="0">
                <a:solidFill>
                  <a:srgbClr val="92A3A9"/>
                </a:solidFill>
              </a:defRPr>
            </a:lvl1pPr>
            <a:lvl2pPr>
              <a:defRPr sz="1200" b="0">
                <a:solidFill>
                  <a:srgbClr val="92A3A9"/>
                </a:solidFill>
              </a:defRPr>
            </a:lvl2pPr>
            <a:lvl3pPr>
              <a:defRPr sz="1200" b="0">
                <a:solidFill>
                  <a:srgbClr val="92A3A9"/>
                </a:solidFill>
              </a:defRPr>
            </a:lvl3pPr>
            <a:lvl4pPr>
              <a:defRPr sz="1200" b="0">
                <a:solidFill>
                  <a:srgbClr val="92A3A9"/>
                </a:solidFill>
              </a:defRPr>
            </a:lvl4pPr>
            <a:lvl5pPr>
              <a:defRPr sz="1200" b="0">
                <a:solidFill>
                  <a:srgbClr val="92A3A9"/>
                </a:solidFill>
              </a:defRPr>
            </a:lvl5pPr>
            <a:lvl6pPr>
              <a:defRPr sz="1200" b="0">
                <a:solidFill>
                  <a:srgbClr val="92A3A9"/>
                </a:solidFill>
              </a:defRPr>
            </a:lvl6pPr>
            <a:lvl7pPr>
              <a:defRPr sz="1200" b="0">
                <a:solidFill>
                  <a:srgbClr val="92A3A9"/>
                </a:solidFill>
              </a:defRPr>
            </a:lvl7pPr>
            <a:lvl8pPr>
              <a:defRPr sz="1200" b="0">
                <a:solidFill>
                  <a:srgbClr val="92A3A9"/>
                </a:solidFill>
              </a:defRPr>
            </a:lvl8pPr>
            <a:lvl9pPr>
              <a:defRPr sz="1200" b="0">
                <a:solidFill>
                  <a:srgbClr val="92A3A9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92A3A9"/>
                </a:solidFill>
              </a:defRPr>
            </a:pPr>
            <a:r>
              <a:rPr sz="1200" b="0">
                <a:solidFill>
                  <a:srgbClr val="92A3A9"/>
                </a:solidFill>
              </a:rPr>
              <a:t>Tumor rank in context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C2ADF20-984C-4865-83C4-507A0D5B9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505325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1875" b="1">
                <a:solidFill>
                  <a:srgbClr val="E1E9EC"/>
                </a:solidFill>
              </a:defRPr>
            </a:defPPr>
            <a:lvl1pPr algn="r">
              <a:defRPr sz="1875" b="1">
                <a:solidFill>
                  <a:srgbClr val="E1E9EC"/>
                </a:solidFill>
              </a:defRPr>
            </a:lvl1pPr>
            <a:lvl2pPr algn="r">
              <a:defRPr sz="1875" b="1">
                <a:solidFill>
                  <a:srgbClr val="E1E9EC"/>
                </a:solidFill>
              </a:defRPr>
            </a:lvl2pPr>
            <a:lvl3pPr algn="r">
              <a:defRPr sz="1875" b="1">
                <a:solidFill>
                  <a:srgbClr val="E1E9EC"/>
                </a:solidFill>
              </a:defRPr>
            </a:lvl3pPr>
            <a:lvl4pPr algn="r">
              <a:defRPr sz="1875" b="1">
                <a:solidFill>
                  <a:srgbClr val="E1E9EC"/>
                </a:solidFill>
              </a:defRPr>
            </a:lvl4pPr>
            <a:lvl5pPr algn="r">
              <a:defRPr sz="1875" b="1">
                <a:solidFill>
                  <a:srgbClr val="E1E9EC"/>
                </a:solidFill>
              </a:defRPr>
            </a:lvl5pPr>
            <a:lvl6pPr algn="r">
              <a:defRPr sz="1875" b="1">
                <a:solidFill>
                  <a:srgbClr val="E1E9EC"/>
                </a:solidFill>
              </a:defRPr>
            </a:lvl6pPr>
            <a:lvl7pPr algn="r">
              <a:defRPr sz="1875" b="1">
                <a:solidFill>
                  <a:srgbClr val="E1E9EC"/>
                </a:solidFill>
              </a:defRPr>
            </a:lvl7pPr>
            <a:lvl8pPr algn="r">
              <a:defRPr sz="1875" b="1">
                <a:solidFill>
                  <a:srgbClr val="E1E9EC"/>
                </a:solidFill>
              </a:defRPr>
            </a:lvl8pPr>
            <a:lvl9pPr algn="r">
              <a:defRPr sz="1875" b="1">
                <a:solidFill>
                  <a:srgbClr val="E1E9EC"/>
                </a:solidFill>
              </a:defRPr>
            </a:lvl9pPr>
          </a:lstStyle>
          <a:p xmlns:a="http://schemas.openxmlformats.org/drawingml/2006/main">
            <a:pPr algn="r">
              <a:defRPr sz="1875" b="1">
                <a:solidFill>
                  <a:srgbClr val="E1E9EC"/>
                </a:solidFill>
              </a:defRPr>
            </a:pPr>
            <a:r>
              <a:rPr sz="1875" b="1">
                <a:solidFill>
                  <a:srgbClr val="E1E9EC"/>
                </a:solidFill>
              </a:rPr>
              <a:t>#9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82F5D4A-064A-4925-9B11-25F118DEC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029200"/>
            <a:ext cx="2333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92A3A9"/>
                </a:solidFill>
              </a:defRPr>
            </a:defPPr>
            <a:lvl1pPr>
              <a:defRPr sz="1200" b="0">
                <a:solidFill>
                  <a:srgbClr val="92A3A9"/>
                </a:solidFill>
              </a:defRPr>
            </a:lvl1pPr>
            <a:lvl2pPr>
              <a:defRPr sz="1200" b="0">
                <a:solidFill>
                  <a:srgbClr val="92A3A9"/>
                </a:solidFill>
              </a:defRPr>
            </a:lvl2pPr>
            <a:lvl3pPr>
              <a:defRPr sz="1200" b="0">
                <a:solidFill>
                  <a:srgbClr val="92A3A9"/>
                </a:solidFill>
              </a:defRPr>
            </a:lvl3pPr>
            <a:lvl4pPr>
              <a:defRPr sz="1200" b="0">
                <a:solidFill>
                  <a:srgbClr val="92A3A9"/>
                </a:solidFill>
              </a:defRPr>
            </a:lvl4pPr>
            <a:lvl5pPr>
              <a:defRPr sz="1200" b="0">
                <a:solidFill>
                  <a:srgbClr val="92A3A9"/>
                </a:solidFill>
              </a:defRPr>
            </a:lvl5pPr>
            <a:lvl6pPr>
              <a:defRPr sz="1200" b="0">
                <a:solidFill>
                  <a:srgbClr val="92A3A9"/>
                </a:solidFill>
              </a:defRPr>
            </a:lvl6pPr>
            <a:lvl7pPr>
              <a:defRPr sz="1200" b="0">
                <a:solidFill>
                  <a:srgbClr val="92A3A9"/>
                </a:solidFill>
              </a:defRPr>
            </a:lvl7pPr>
            <a:lvl8pPr>
              <a:defRPr sz="1200" b="0">
                <a:solidFill>
                  <a:srgbClr val="92A3A9"/>
                </a:solidFill>
              </a:defRPr>
            </a:lvl8pPr>
            <a:lvl9pPr>
              <a:defRPr sz="1200" b="0">
                <a:solidFill>
                  <a:srgbClr val="92A3A9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92A3A9"/>
                </a:solidFill>
              </a:defRPr>
            </a:pPr>
            <a:r>
              <a:rPr sz="1200" b="0">
                <a:solidFill>
                  <a:srgbClr val="92A3A9"/>
                </a:solidFill>
              </a:rPr>
              <a:t>Top drivers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0E6A9FC-C8D5-4FD6-A74A-E313B0BEC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3530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E1E9EC"/>
                </a:solidFill>
              </a:defRPr>
            </a:defPPr>
            <a:lvl1pPr>
              <a:defRPr sz="1275" b="1">
                <a:solidFill>
                  <a:srgbClr val="E1E9EC"/>
                </a:solidFill>
              </a:defRPr>
            </a:lvl1pPr>
            <a:lvl2pPr>
              <a:defRPr sz="1275" b="1">
                <a:solidFill>
                  <a:srgbClr val="E1E9EC"/>
                </a:solidFill>
              </a:defRPr>
            </a:lvl2pPr>
            <a:lvl3pPr>
              <a:defRPr sz="1275" b="1">
                <a:solidFill>
                  <a:srgbClr val="E1E9EC"/>
                </a:solidFill>
              </a:defRPr>
            </a:lvl3pPr>
            <a:lvl4pPr>
              <a:defRPr sz="1275" b="1">
                <a:solidFill>
                  <a:srgbClr val="E1E9EC"/>
                </a:solidFill>
              </a:defRPr>
            </a:lvl4pPr>
            <a:lvl5pPr>
              <a:defRPr sz="1275" b="1">
                <a:solidFill>
                  <a:srgbClr val="E1E9EC"/>
                </a:solidFill>
              </a:defRPr>
            </a:lvl5pPr>
            <a:lvl6pPr>
              <a:defRPr sz="1275" b="1">
                <a:solidFill>
                  <a:srgbClr val="E1E9EC"/>
                </a:solidFill>
              </a:defRPr>
            </a:lvl6pPr>
            <a:lvl7pPr>
              <a:defRPr sz="1275" b="1">
                <a:solidFill>
                  <a:srgbClr val="E1E9EC"/>
                </a:solidFill>
              </a:defRPr>
            </a:lvl7pPr>
            <a:lvl8pPr>
              <a:defRPr sz="1275" b="1">
                <a:solidFill>
                  <a:srgbClr val="E1E9EC"/>
                </a:solidFill>
              </a:defRPr>
            </a:lvl8pPr>
            <a:lvl9pPr>
              <a:defRPr sz="1275" b="1">
                <a:solidFill>
                  <a:srgbClr val="E1E9EC"/>
                </a:solidFill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E1E9EC"/>
                </a:solidFill>
              </a:defRPr>
            </a:pPr>
            <a:r>
              <a:rPr sz="1275" b="1">
                <a:solidFill>
                  <a:srgbClr val="E1E9EC"/>
                </a:solidFill>
              </a:rPr>
              <a:t>kNN synaptic · emb_07 · emb_15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6DE92DB-CCF1-4429-802F-711B143D4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09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92A3A9"/>
                </a:solidFill>
              </a:defRPr>
            </a:defPPr>
            <a:lvl1pPr>
              <a:defRPr sz="750" b="0">
                <a:solidFill>
                  <a:srgbClr val="92A3A9"/>
                </a:solidFill>
              </a:defRPr>
            </a:lvl1pPr>
            <a:lvl2pPr>
              <a:defRPr sz="750" b="0">
                <a:solidFill>
                  <a:srgbClr val="92A3A9"/>
                </a:solidFill>
              </a:defRPr>
            </a:lvl2pPr>
            <a:lvl3pPr>
              <a:defRPr sz="750" b="0">
                <a:solidFill>
                  <a:srgbClr val="92A3A9"/>
                </a:solidFill>
              </a:defRPr>
            </a:lvl3pPr>
            <a:lvl4pPr>
              <a:defRPr sz="750" b="0">
                <a:solidFill>
                  <a:srgbClr val="92A3A9"/>
                </a:solidFill>
              </a:defRPr>
            </a:lvl4pPr>
            <a:lvl5pPr>
              <a:defRPr sz="750" b="0">
                <a:solidFill>
                  <a:srgbClr val="92A3A9"/>
                </a:solidFill>
              </a:defRPr>
            </a:lvl5pPr>
            <a:lvl6pPr>
              <a:defRPr sz="750" b="0">
                <a:solidFill>
                  <a:srgbClr val="92A3A9"/>
                </a:solidFill>
              </a:defRPr>
            </a:lvl6pPr>
            <a:lvl7pPr>
              <a:defRPr sz="750" b="0">
                <a:solidFill>
                  <a:srgbClr val="92A3A9"/>
                </a:solidFill>
              </a:defRPr>
            </a:lvl7pPr>
            <a:lvl8pPr>
              <a:defRPr sz="750" b="0">
                <a:solidFill>
                  <a:srgbClr val="92A3A9"/>
                </a:solidFill>
              </a:defRPr>
            </a:lvl8pPr>
            <a:lvl9pPr>
              <a:defRPr sz="750" b="0">
                <a:solidFill>
                  <a:srgbClr val="92A3A9"/>
                </a:solidFill>
              </a:defRPr>
            </a:lvl9pPr>
          </a:lstStyle>
          <a:p xmlns:a="http://schemas.openxmlformats.org/drawingml/2006/main">
            <a:pPr>
              <a:defRPr sz="750" b="0">
                <a:solidFill>
                  <a:srgbClr val="92A3A9"/>
                </a:solidFill>
              </a:defRPr>
            </a:pPr>
            <a:r>
              <a:rPr sz="750" b="0">
                <a:solidFill>
                  <a:srgbClr val="92A3A9"/>
                </a:solidFill>
              </a:rPr>
              <a:t>Source: fall_semester/turnin/lgbm_scetm/WEEK5_RESULTS.md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24DE65C-0D74-4671-9378-E80D9A293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15100"/>
            <a:ext cx="1676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750" b="1">
                <a:solidFill>
                  <a:srgbClr val="92A3A9"/>
                </a:solidFill>
              </a:defRPr>
            </a:defPPr>
            <a:lvl1pPr algn="r">
              <a:defRPr sz="750" b="1">
                <a:solidFill>
                  <a:srgbClr val="92A3A9"/>
                </a:solidFill>
              </a:defRPr>
            </a:lvl1pPr>
            <a:lvl2pPr algn="r">
              <a:defRPr sz="750" b="1">
                <a:solidFill>
                  <a:srgbClr val="92A3A9"/>
                </a:solidFill>
              </a:defRPr>
            </a:lvl2pPr>
            <a:lvl3pPr algn="r">
              <a:defRPr sz="750" b="1">
                <a:solidFill>
                  <a:srgbClr val="92A3A9"/>
                </a:solidFill>
              </a:defRPr>
            </a:lvl3pPr>
            <a:lvl4pPr algn="r">
              <a:defRPr sz="750" b="1">
                <a:solidFill>
                  <a:srgbClr val="92A3A9"/>
                </a:solidFill>
              </a:defRPr>
            </a:lvl4pPr>
            <a:lvl5pPr algn="r">
              <a:defRPr sz="750" b="1">
                <a:solidFill>
                  <a:srgbClr val="92A3A9"/>
                </a:solidFill>
              </a:defRPr>
            </a:lvl5pPr>
            <a:lvl6pPr algn="r">
              <a:defRPr sz="750" b="1">
                <a:solidFill>
                  <a:srgbClr val="92A3A9"/>
                </a:solidFill>
              </a:defRPr>
            </a:lvl6pPr>
            <a:lvl7pPr algn="r">
              <a:defRPr sz="750" b="1">
                <a:solidFill>
                  <a:srgbClr val="92A3A9"/>
                </a:solidFill>
              </a:defRPr>
            </a:lvl7pPr>
            <a:lvl8pPr algn="r">
              <a:defRPr sz="750" b="1">
                <a:solidFill>
                  <a:srgbClr val="92A3A9"/>
                </a:solidFill>
              </a:defRPr>
            </a:lvl8pPr>
            <a:lvl9pPr algn="r">
              <a:defRPr sz="750" b="1">
                <a:solidFill>
                  <a:srgbClr val="92A3A9"/>
                </a:solidFill>
              </a:defRPr>
            </a:lvl9pPr>
          </a:lstStyle>
          <a:p xmlns:a="http://schemas.openxmlformats.org/drawingml/2006/main">
            <a:pPr algn="r">
              <a:defRPr sz="750" b="1">
                <a:solidFill>
                  <a:srgbClr val="92A3A9"/>
                </a:solidFill>
              </a:defRPr>
            </a:pPr>
            <a:r>
              <a:rPr sz="750" b="1">
                <a:solidFill>
                  <a:srgbClr val="92A3A9"/>
                </a:solidFill>
              </a:rPr>
              <a:t>BT-CAP · 18 OCT 2026</a:t>
            </a:r>
          </a:p>
        </p:txBody>
      </p:sp>
    </p:spTree>
    <p:extLst>
      <p:ext uri="{BB962C8B-B14F-4D97-AF65-F5344CB8AC3E}">
        <p14:creationId xmlns:p14="http://schemas.microsoft.com/office/powerpoint/2010/main" val="46739137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D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8E477A-0A43-4314-B64B-5F6A2CC81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46BFC9"/>
                </a:solidFill>
              </a:defRPr>
            </a:defPPr>
            <a:lvl1pPr>
              <a:defRPr sz="975" b="1">
                <a:solidFill>
                  <a:srgbClr val="46BFC9"/>
                </a:solidFill>
              </a:defRPr>
            </a:lvl1pPr>
            <a:lvl2pPr>
              <a:defRPr sz="975" b="1">
                <a:solidFill>
                  <a:srgbClr val="46BFC9"/>
                </a:solidFill>
              </a:defRPr>
            </a:lvl2pPr>
            <a:lvl3pPr>
              <a:defRPr sz="975" b="1">
                <a:solidFill>
                  <a:srgbClr val="46BFC9"/>
                </a:solidFill>
              </a:defRPr>
            </a:lvl3pPr>
            <a:lvl4pPr>
              <a:defRPr sz="975" b="1">
                <a:solidFill>
                  <a:srgbClr val="46BFC9"/>
                </a:solidFill>
              </a:defRPr>
            </a:lvl4pPr>
            <a:lvl5pPr>
              <a:defRPr sz="975" b="1">
                <a:solidFill>
                  <a:srgbClr val="46BFC9"/>
                </a:solidFill>
              </a:defRPr>
            </a:lvl5pPr>
            <a:lvl6pPr>
              <a:defRPr sz="975" b="1">
                <a:solidFill>
                  <a:srgbClr val="46BFC9"/>
                </a:solidFill>
              </a:defRPr>
            </a:lvl6pPr>
            <a:lvl7pPr>
              <a:defRPr sz="975" b="1">
                <a:solidFill>
                  <a:srgbClr val="46BFC9"/>
                </a:solidFill>
              </a:defRPr>
            </a:lvl7pPr>
            <a:lvl8pPr>
              <a:defRPr sz="975" b="1">
                <a:solidFill>
                  <a:srgbClr val="46BFC9"/>
                </a:solidFill>
              </a:defRPr>
            </a:lvl8pPr>
            <a:lvl9pPr>
              <a:defRPr sz="975" b="1">
                <a:solidFill>
                  <a:srgbClr val="46BFC9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46BFC9"/>
                </a:solidFill>
              </a:defRPr>
            </a:pPr>
            <a:r>
              <a:rPr sz="975" b="1">
                <a:solidFill>
                  <a:srgbClr val="46BFC9"/>
                </a:solidFill>
              </a:rPr>
              <a:t>PRODUCT INTEGRATION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6105CF-1CB0-4F4B-8674-82D436E2C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E1E9EC"/>
                </a:solidFill>
              </a:defRPr>
            </a:defPPr>
            <a:lvl1pPr>
              <a:defRPr sz="2550" b="1">
                <a:solidFill>
                  <a:srgbClr val="E1E9EC"/>
                </a:solidFill>
              </a:defRPr>
            </a:lvl1pPr>
            <a:lvl2pPr>
              <a:defRPr sz="2550" b="1">
                <a:solidFill>
                  <a:srgbClr val="E1E9EC"/>
                </a:solidFill>
              </a:defRPr>
            </a:lvl2pPr>
            <a:lvl3pPr>
              <a:defRPr sz="2550" b="1">
                <a:solidFill>
                  <a:srgbClr val="E1E9EC"/>
                </a:solidFill>
              </a:defRPr>
            </a:lvl3pPr>
            <a:lvl4pPr>
              <a:defRPr sz="2550" b="1">
                <a:solidFill>
                  <a:srgbClr val="E1E9EC"/>
                </a:solidFill>
              </a:defRPr>
            </a:lvl4pPr>
            <a:lvl5pPr>
              <a:defRPr sz="2550" b="1">
                <a:solidFill>
                  <a:srgbClr val="E1E9EC"/>
                </a:solidFill>
              </a:defRPr>
            </a:lvl5pPr>
            <a:lvl6pPr>
              <a:defRPr sz="2550" b="1">
                <a:solidFill>
                  <a:srgbClr val="E1E9EC"/>
                </a:solidFill>
              </a:defRPr>
            </a:lvl6pPr>
            <a:lvl7pPr>
              <a:defRPr sz="2550" b="1">
                <a:solidFill>
                  <a:srgbClr val="E1E9EC"/>
                </a:solidFill>
              </a:defRPr>
            </a:lvl7pPr>
            <a:lvl8pPr>
              <a:defRPr sz="2550" b="1">
                <a:solidFill>
                  <a:srgbClr val="E1E9EC"/>
                </a:solidFill>
              </a:defRPr>
            </a:lvl8pPr>
            <a:lvl9pPr>
              <a:defRPr sz="2550" b="1">
                <a:solidFill>
                  <a:srgbClr val="E1E9EC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E1E9EC"/>
                </a:solidFill>
              </a:defRPr>
            </a:pPr>
            <a:r>
              <a:rPr sz="2550" b="1">
                <a:solidFill>
                  <a:srgbClr val="E1E9EC"/>
                </a:solidFill>
              </a:rPr>
              <a:t>Week 6 turns the pipeline into an explorable portal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F040F0-4080-41B2-B1C9-8593003CE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8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2943A0-CCB0-46B6-B263-DD3D80B96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524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00" b="1">
                <a:solidFill>
                  <a:srgbClr val="92A3A9"/>
                </a:solidFill>
              </a:defRPr>
            </a:defPPr>
            <a:lvl1pPr algn="r">
              <a:defRPr sz="900" b="1">
                <a:solidFill>
                  <a:srgbClr val="92A3A9"/>
                </a:solidFill>
              </a:defRPr>
            </a:lvl1pPr>
            <a:lvl2pPr algn="r">
              <a:defRPr sz="900" b="1">
                <a:solidFill>
                  <a:srgbClr val="92A3A9"/>
                </a:solidFill>
              </a:defRPr>
            </a:lvl2pPr>
            <a:lvl3pPr algn="r">
              <a:defRPr sz="900" b="1">
                <a:solidFill>
                  <a:srgbClr val="92A3A9"/>
                </a:solidFill>
              </a:defRPr>
            </a:lvl3pPr>
            <a:lvl4pPr algn="r">
              <a:defRPr sz="900" b="1">
                <a:solidFill>
                  <a:srgbClr val="92A3A9"/>
                </a:solidFill>
              </a:defRPr>
            </a:lvl4pPr>
            <a:lvl5pPr algn="r">
              <a:defRPr sz="900" b="1">
                <a:solidFill>
                  <a:srgbClr val="92A3A9"/>
                </a:solidFill>
              </a:defRPr>
            </a:lvl5pPr>
            <a:lvl6pPr algn="r">
              <a:defRPr sz="900" b="1">
                <a:solidFill>
                  <a:srgbClr val="92A3A9"/>
                </a:solidFill>
              </a:defRPr>
            </a:lvl6pPr>
            <a:lvl7pPr algn="r">
              <a:defRPr sz="900" b="1">
                <a:solidFill>
                  <a:srgbClr val="92A3A9"/>
                </a:solidFill>
              </a:defRPr>
            </a:lvl7pPr>
            <a:lvl8pPr algn="r">
              <a:defRPr sz="900" b="1">
                <a:solidFill>
                  <a:srgbClr val="92A3A9"/>
                </a:solidFill>
              </a:defRPr>
            </a:lvl8pPr>
            <a:lvl9pPr algn="r">
              <a:defRPr sz="900" b="1">
                <a:solidFill>
                  <a:srgbClr val="92A3A9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92A3A9"/>
                </a:solidFill>
              </a:defRPr>
            </a:pPr>
            <a:r>
              <a:rPr sz="900" b="1">
                <a:solidFill>
                  <a:srgbClr val="92A3A9"/>
                </a:solidFill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79A45E-CE54-4AA6-9CD6-149B89676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85900"/>
            <a:ext cx="5343525" cy="4229100"/>
          </a:xfrm>
          <a:prstGeom xmlns:a="http://schemas.openxmlformats.org/drawingml/2006/main" prst="roundRect">
            <a:avLst>
              <a:gd name="adj" fmla="val 3604"/>
            </a:avLst>
          </a:prstGeom>
          <a:solidFill xmlns:a="http://schemas.openxmlformats.org/drawingml/2006/main">
            <a:srgbClr val="182329"/>
          </a:solidFill>
          <a:ln xmlns:a="http://schemas.openxmlformats.org/drawingml/2006/main" w="9525">
            <a:solidFill>
              <a:srgbClr val="2A383D"/>
            </a:solidFill>
            <a:prstDash val="solid"/>
          </a:ln>
        </p:spPr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F112D9-BF50-431A-BE39-AD288EE0969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559b3fd4114081"/>
          <a:srcRect xmlns:a="http://schemas.openxmlformats.org/drawingml/2006/main" l="0" t="5000" r="0" b="17000"/>
          <a:stretch xmlns:a="http://schemas.openxmlformats.org/drawingml/2006/main"/>
        </p:blipFill>
        <p:spPr>
          <a:xfrm xmlns:a="http://schemas.openxmlformats.org/drawingml/2006/main">
            <a:off x="609600" y="1504950"/>
            <a:ext cx="5305425" cy="4191000"/>
          </a:xfrm>
          <a:prstGeom xmlns:a="http://schemas.openxmlformats.org/drawingml/2006/main" prst="roundRect">
            <a:avLst>
              <a:gd name="adj" fmla="val 2727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B35DDA-ADE5-4D0C-B723-CAC454C32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485900"/>
            <a:ext cx="5343525" cy="4229100"/>
          </a:xfrm>
          <a:prstGeom xmlns:a="http://schemas.openxmlformats.org/drawingml/2006/main" prst="roundRect">
            <a:avLst>
              <a:gd name="adj" fmla="val 3604"/>
            </a:avLst>
          </a:prstGeom>
          <a:solidFill xmlns:a="http://schemas.openxmlformats.org/drawingml/2006/main">
            <a:srgbClr val="182329"/>
          </a:solidFill>
          <a:ln xmlns:a="http://schemas.openxmlformats.org/drawingml/2006/main" w="9525">
            <a:solidFill>
              <a:srgbClr val="2A383D"/>
            </a:solidFill>
            <a:prstDash val="solid"/>
          </a:ln>
        </p:spPr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7338DF-5171-4C05-A3FF-B029C7EFFC1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11c9c153d5436f"/>
          <a:srcRect xmlns:a="http://schemas.openxmlformats.org/drawingml/2006/main" l="0" t="28000" r="0" b="2000"/>
          <a:stretch xmlns:a="http://schemas.openxmlformats.org/drawingml/2006/main"/>
        </p:blipFill>
        <p:spPr>
          <a:xfrm xmlns:a="http://schemas.openxmlformats.org/drawingml/2006/main">
            <a:off x="6276975" y="1504950"/>
            <a:ext cx="5305425" cy="4191000"/>
          </a:xfrm>
          <a:prstGeom xmlns:a="http://schemas.openxmlformats.org/drawingml/2006/main" prst="roundRect">
            <a:avLst>
              <a:gd name="adj" fmla="val 2727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C984FC-9104-4351-8859-F0F17140E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673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17343A"/>
          </a:solidFill>
          <a:ln xmlns:a="http://schemas.openxmlformats.org/drawingml/2006/main" w="9525">
            <a:solidFill>
              <a:srgbClr val="46BFC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5AC72F-AD66-4ABA-BB69-EB532A567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14975"/>
            <a:ext cx="1066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75" b="1">
                <a:solidFill>
                  <a:srgbClr val="46BFC9"/>
                </a:solidFill>
              </a:defRPr>
            </a:defPPr>
            <a:lvl1pPr algn="ctr">
              <a:defRPr sz="975" b="1">
                <a:solidFill>
                  <a:srgbClr val="46BFC9"/>
                </a:solidFill>
              </a:defRPr>
            </a:lvl1pPr>
            <a:lvl2pPr algn="ctr">
              <a:defRPr sz="975" b="1">
                <a:solidFill>
                  <a:srgbClr val="46BFC9"/>
                </a:solidFill>
              </a:defRPr>
            </a:lvl2pPr>
            <a:lvl3pPr algn="ctr">
              <a:defRPr sz="975" b="1">
                <a:solidFill>
                  <a:srgbClr val="46BFC9"/>
                </a:solidFill>
              </a:defRPr>
            </a:lvl3pPr>
            <a:lvl4pPr algn="ctr">
              <a:defRPr sz="975" b="1">
                <a:solidFill>
                  <a:srgbClr val="46BFC9"/>
                </a:solidFill>
              </a:defRPr>
            </a:lvl4pPr>
            <a:lvl5pPr algn="ctr">
              <a:defRPr sz="975" b="1">
                <a:solidFill>
                  <a:srgbClr val="46BFC9"/>
                </a:solidFill>
              </a:defRPr>
            </a:lvl5pPr>
            <a:lvl6pPr algn="ctr">
              <a:defRPr sz="975" b="1">
                <a:solidFill>
                  <a:srgbClr val="46BFC9"/>
                </a:solidFill>
              </a:defRPr>
            </a:lvl6pPr>
            <a:lvl7pPr algn="ctr">
              <a:defRPr sz="975" b="1">
                <a:solidFill>
                  <a:srgbClr val="46BFC9"/>
                </a:solidFill>
              </a:defRPr>
            </a:lvl7pPr>
            <a:lvl8pPr algn="ctr">
              <a:defRPr sz="975" b="1">
                <a:solidFill>
                  <a:srgbClr val="46BFC9"/>
                </a:solidFill>
              </a:defRPr>
            </a:lvl8pPr>
            <a:lvl9pPr algn="ctr">
              <a:defRPr sz="975" b="1">
                <a:solidFill>
                  <a:srgbClr val="46BFC9"/>
                </a:solidFill>
              </a:defRPr>
            </a:lvl9pPr>
          </a:lstStyle>
          <a:p xmlns:a="http://schemas.openxmlformats.org/drawingml/2006/main">
            <a:pPr algn="ctr">
              <a:defRPr sz="975" b="1">
                <a:solidFill>
                  <a:srgbClr val="46BFC9"/>
                </a:solidFill>
              </a:defRPr>
            </a:pPr>
            <a:r>
              <a:rPr sz="975" b="1">
                <a:solidFill>
                  <a:srgbClr val="46BFC9"/>
                </a:solidFill>
              </a:rPr>
              <a:t>GENE CARD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033505-8125-445D-9763-C1601AF2D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5467350"/>
            <a:ext cx="1428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17343A"/>
          </a:solidFill>
          <a:ln xmlns:a="http://schemas.openxmlformats.org/drawingml/2006/main" w="9525">
            <a:solidFill>
              <a:srgbClr val="46BFC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BBFB11-3088-4BFB-80B3-2480CED6D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5514975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975" b="1">
                <a:solidFill>
                  <a:srgbClr val="46BFC9"/>
                </a:solidFill>
              </a:defRPr>
            </a:defPPr>
            <a:lvl1pPr algn="ctr">
              <a:defRPr sz="975" b="1">
                <a:solidFill>
                  <a:srgbClr val="46BFC9"/>
                </a:solidFill>
              </a:defRPr>
            </a:lvl1pPr>
            <a:lvl2pPr algn="ctr">
              <a:defRPr sz="975" b="1">
                <a:solidFill>
                  <a:srgbClr val="46BFC9"/>
                </a:solidFill>
              </a:defRPr>
            </a:lvl2pPr>
            <a:lvl3pPr algn="ctr">
              <a:defRPr sz="975" b="1">
                <a:solidFill>
                  <a:srgbClr val="46BFC9"/>
                </a:solidFill>
              </a:defRPr>
            </a:lvl3pPr>
            <a:lvl4pPr algn="ctr">
              <a:defRPr sz="975" b="1">
                <a:solidFill>
                  <a:srgbClr val="46BFC9"/>
                </a:solidFill>
              </a:defRPr>
            </a:lvl4pPr>
            <a:lvl5pPr algn="ctr">
              <a:defRPr sz="975" b="1">
                <a:solidFill>
                  <a:srgbClr val="46BFC9"/>
                </a:solidFill>
              </a:defRPr>
            </a:lvl5pPr>
            <a:lvl6pPr algn="ctr">
              <a:defRPr sz="975" b="1">
                <a:solidFill>
                  <a:srgbClr val="46BFC9"/>
                </a:solidFill>
              </a:defRPr>
            </a:lvl6pPr>
            <a:lvl7pPr algn="ctr">
              <a:defRPr sz="975" b="1">
                <a:solidFill>
                  <a:srgbClr val="46BFC9"/>
                </a:solidFill>
              </a:defRPr>
            </a:lvl7pPr>
            <a:lvl8pPr algn="ctr">
              <a:defRPr sz="975" b="1">
                <a:solidFill>
                  <a:srgbClr val="46BFC9"/>
                </a:solidFill>
              </a:defRPr>
            </a:lvl8pPr>
            <a:lvl9pPr algn="ctr">
              <a:defRPr sz="975" b="1">
                <a:solidFill>
                  <a:srgbClr val="46BFC9"/>
                </a:solidFill>
              </a:defRPr>
            </a:lvl9pPr>
          </a:lstStyle>
          <a:p xmlns:a="http://schemas.openxmlformats.org/drawingml/2006/main">
            <a:pPr algn="ctr">
              <a:defRPr sz="975" b="1">
                <a:solidFill>
                  <a:srgbClr val="46BFC9"/>
                </a:solidFill>
              </a:defRPr>
            </a:pPr>
            <a:r>
              <a:rPr sz="975" b="1">
                <a:solidFill>
                  <a:srgbClr val="46BFC9"/>
                </a:solidFill>
              </a:rPr>
              <a:t>NOVEL TOP 10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ED10E4-EB1F-4E46-A912-B78D35E7A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05450"/>
            <a:ext cx="323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E1E9EC"/>
                </a:solidFill>
              </a:defRPr>
            </a:defPPr>
            <a:lvl1pPr>
              <a:defRPr sz="1125" b="1">
                <a:solidFill>
                  <a:srgbClr val="E1E9EC"/>
                </a:solidFill>
              </a:defRPr>
            </a:lvl1pPr>
            <a:lvl2pPr>
              <a:defRPr sz="1125" b="1">
                <a:solidFill>
                  <a:srgbClr val="E1E9EC"/>
                </a:solidFill>
              </a:defRPr>
            </a:lvl2pPr>
            <a:lvl3pPr>
              <a:defRPr sz="1125" b="1">
                <a:solidFill>
                  <a:srgbClr val="E1E9EC"/>
                </a:solidFill>
              </a:defRPr>
            </a:lvl3pPr>
            <a:lvl4pPr>
              <a:defRPr sz="1125" b="1">
                <a:solidFill>
                  <a:srgbClr val="E1E9EC"/>
                </a:solidFill>
              </a:defRPr>
            </a:lvl4pPr>
            <a:lvl5pPr>
              <a:defRPr sz="1125" b="1">
                <a:solidFill>
                  <a:srgbClr val="E1E9EC"/>
                </a:solidFill>
              </a:defRPr>
            </a:lvl5pPr>
            <a:lvl6pPr>
              <a:defRPr sz="1125" b="1">
                <a:solidFill>
                  <a:srgbClr val="E1E9EC"/>
                </a:solidFill>
              </a:defRPr>
            </a:lvl6pPr>
            <a:lvl7pPr>
              <a:defRPr sz="1125" b="1">
                <a:solidFill>
                  <a:srgbClr val="E1E9EC"/>
                </a:solidFill>
              </a:defRPr>
            </a:lvl7pPr>
            <a:lvl8pPr>
              <a:defRPr sz="1125" b="1">
                <a:solidFill>
                  <a:srgbClr val="E1E9EC"/>
                </a:solidFill>
              </a:defRPr>
            </a:lvl8pPr>
            <a:lvl9pPr>
              <a:defRPr sz="1125" b="1">
                <a:solidFill>
                  <a:srgbClr val="E1E9EC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E1E9EC"/>
                </a:solidFill>
              </a:defRPr>
            </a:pPr>
            <a:r>
              <a:rPr sz="1125" b="1">
                <a:solidFill>
                  <a:srgbClr val="E1E9EC"/>
                </a:solidFill>
              </a:rPr>
              <a:t>Scores · evidence · interactions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14676E-4BF3-4882-9B1B-3CCA34DB1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55054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1">
                <a:solidFill>
                  <a:srgbClr val="E1E9EC"/>
                </a:solidFill>
              </a:defRPr>
            </a:defPPr>
            <a:lvl1pPr>
              <a:defRPr sz="1125" b="1">
                <a:solidFill>
                  <a:srgbClr val="E1E9EC"/>
                </a:solidFill>
              </a:defRPr>
            </a:lvl1pPr>
            <a:lvl2pPr>
              <a:defRPr sz="1125" b="1">
                <a:solidFill>
                  <a:srgbClr val="E1E9EC"/>
                </a:solidFill>
              </a:defRPr>
            </a:lvl2pPr>
            <a:lvl3pPr>
              <a:defRPr sz="1125" b="1">
                <a:solidFill>
                  <a:srgbClr val="E1E9EC"/>
                </a:solidFill>
              </a:defRPr>
            </a:lvl3pPr>
            <a:lvl4pPr>
              <a:defRPr sz="1125" b="1">
                <a:solidFill>
                  <a:srgbClr val="E1E9EC"/>
                </a:solidFill>
              </a:defRPr>
            </a:lvl4pPr>
            <a:lvl5pPr>
              <a:defRPr sz="1125" b="1">
                <a:solidFill>
                  <a:srgbClr val="E1E9EC"/>
                </a:solidFill>
              </a:defRPr>
            </a:lvl5pPr>
            <a:lvl6pPr>
              <a:defRPr sz="1125" b="1">
                <a:solidFill>
                  <a:srgbClr val="E1E9EC"/>
                </a:solidFill>
              </a:defRPr>
            </a:lvl6pPr>
            <a:lvl7pPr>
              <a:defRPr sz="1125" b="1">
                <a:solidFill>
                  <a:srgbClr val="E1E9EC"/>
                </a:solidFill>
              </a:defRPr>
            </a:lvl7pPr>
            <a:lvl8pPr>
              <a:defRPr sz="1125" b="1">
                <a:solidFill>
                  <a:srgbClr val="E1E9EC"/>
                </a:solidFill>
              </a:defRPr>
            </a:lvl8pPr>
            <a:lvl9pPr>
              <a:defRPr sz="1125" b="1">
                <a:solidFill>
                  <a:srgbClr val="E1E9EC"/>
                </a:solidFill>
              </a:defRPr>
            </a:lvl9pPr>
          </a:lstStyle>
          <a:p xmlns:a="http://schemas.openxmlformats.org/drawingml/2006/main">
            <a:pPr>
              <a:defRPr sz="1125" b="1">
                <a:solidFill>
                  <a:srgbClr val="E1E9EC"/>
                </a:solidFill>
              </a:defRPr>
            </a:pPr>
            <a:r>
              <a:rPr sz="1125" b="1">
                <a:solidFill>
                  <a:srgbClr val="E1E9EC"/>
                </a:solidFill>
              </a:rPr>
              <a:t>Filters · CSV export · neighbors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B7E0A6-805B-4843-9A90-9F11E280C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15281D"/>
          </a:solidFill>
          <a:ln xmlns:a="http://schemas.openxmlformats.org/drawingml/2006/main" w="9525">
            <a:solidFill>
              <a:srgbClr val="66BF8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37F5F7-2E7D-493E-ADC0-37D769CE9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000750"/>
            <a:ext cx="1057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200" b="1">
                <a:solidFill>
                  <a:srgbClr val="66BF8B"/>
                </a:solidFill>
              </a:defRPr>
            </a:defPPr>
            <a:lvl1pPr algn="ctr">
              <a:defRPr sz="1200" b="1">
                <a:solidFill>
                  <a:srgbClr val="66BF8B"/>
                </a:solidFill>
              </a:defRPr>
            </a:lvl1pPr>
            <a:lvl2pPr algn="ctr">
              <a:defRPr sz="1200" b="1">
                <a:solidFill>
                  <a:srgbClr val="66BF8B"/>
                </a:solidFill>
              </a:defRPr>
            </a:lvl2pPr>
            <a:lvl3pPr algn="ctr">
              <a:defRPr sz="1200" b="1">
                <a:solidFill>
                  <a:srgbClr val="66BF8B"/>
                </a:solidFill>
              </a:defRPr>
            </a:lvl3pPr>
            <a:lvl4pPr algn="ctr">
              <a:defRPr sz="1200" b="1">
                <a:solidFill>
                  <a:srgbClr val="66BF8B"/>
                </a:solidFill>
              </a:defRPr>
            </a:lvl4pPr>
            <a:lvl5pPr algn="ctr">
              <a:defRPr sz="1200" b="1">
                <a:solidFill>
                  <a:srgbClr val="66BF8B"/>
                </a:solidFill>
              </a:defRPr>
            </a:lvl5pPr>
            <a:lvl6pPr algn="ctr">
              <a:defRPr sz="1200" b="1">
                <a:solidFill>
                  <a:srgbClr val="66BF8B"/>
                </a:solidFill>
              </a:defRPr>
            </a:lvl6pPr>
            <a:lvl7pPr algn="ctr">
              <a:defRPr sz="1200" b="1">
                <a:solidFill>
                  <a:srgbClr val="66BF8B"/>
                </a:solidFill>
              </a:defRPr>
            </a:lvl7pPr>
            <a:lvl8pPr algn="ctr">
              <a:defRPr sz="1200" b="1">
                <a:solidFill>
                  <a:srgbClr val="66BF8B"/>
                </a:solidFill>
              </a:defRPr>
            </a:lvl8pPr>
            <a:lvl9pPr algn="ctr">
              <a:defRPr sz="1200" b="1">
                <a:solidFill>
                  <a:srgbClr val="66BF8B"/>
                </a:solidFill>
              </a:defRPr>
            </a:lvl9pPr>
          </a:lstStyle>
          <a:p xmlns:a="http://schemas.openxmlformats.org/drawingml/2006/main">
            <a:pPr algn="ctr">
              <a:defRPr sz="1200" b="1">
                <a:solidFill>
                  <a:srgbClr val="66BF8B"/>
                </a:solidFill>
              </a:defRPr>
            </a:pPr>
            <a:r>
              <a:rPr sz="1200" b="1">
                <a:solidFill>
                  <a:srgbClr val="66BF8B"/>
                </a:solidFill>
              </a:rPr>
              <a:t>Both views load the same saved score files used by nominate_lookup, so chat and Genes cannot disagree.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5DF827-124E-4915-BF75-0BC27862F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09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92A3A9"/>
                </a:solidFill>
              </a:defRPr>
            </a:defPPr>
            <a:lvl1pPr>
              <a:defRPr sz="750" b="0">
                <a:solidFill>
                  <a:srgbClr val="92A3A9"/>
                </a:solidFill>
              </a:defRPr>
            </a:lvl1pPr>
            <a:lvl2pPr>
              <a:defRPr sz="750" b="0">
                <a:solidFill>
                  <a:srgbClr val="92A3A9"/>
                </a:solidFill>
              </a:defRPr>
            </a:lvl2pPr>
            <a:lvl3pPr>
              <a:defRPr sz="750" b="0">
                <a:solidFill>
                  <a:srgbClr val="92A3A9"/>
                </a:solidFill>
              </a:defRPr>
            </a:lvl3pPr>
            <a:lvl4pPr>
              <a:defRPr sz="750" b="0">
                <a:solidFill>
                  <a:srgbClr val="92A3A9"/>
                </a:solidFill>
              </a:defRPr>
            </a:lvl4pPr>
            <a:lvl5pPr>
              <a:defRPr sz="750" b="0">
                <a:solidFill>
                  <a:srgbClr val="92A3A9"/>
                </a:solidFill>
              </a:defRPr>
            </a:lvl5pPr>
            <a:lvl6pPr>
              <a:defRPr sz="750" b="0">
                <a:solidFill>
                  <a:srgbClr val="92A3A9"/>
                </a:solidFill>
              </a:defRPr>
            </a:lvl6pPr>
            <a:lvl7pPr>
              <a:defRPr sz="750" b="0">
                <a:solidFill>
                  <a:srgbClr val="92A3A9"/>
                </a:solidFill>
              </a:defRPr>
            </a:lvl7pPr>
            <a:lvl8pPr>
              <a:defRPr sz="750" b="0">
                <a:solidFill>
                  <a:srgbClr val="92A3A9"/>
                </a:solidFill>
              </a:defRPr>
            </a:lvl8pPr>
            <a:lvl9pPr>
              <a:defRPr sz="750" b="0">
                <a:solidFill>
                  <a:srgbClr val="92A3A9"/>
                </a:solidFill>
              </a:defRPr>
            </a:lvl9pPr>
          </a:lstStyle>
          <a:p xmlns:a="http://schemas.openxmlformats.org/drawingml/2006/main">
            <a:pPr>
              <a:defRPr sz="750" b="0">
                <a:solidFill>
                  <a:srgbClr val="92A3A9"/>
                </a:solidFill>
              </a:defRPr>
            </a:pPr>
            <a:r>
              <a:rPr sz="750" b="0">
                <a:solidFill>
                  <a:srgbClr val="92A3A9"/>
                </a:solidFill>
              </a:rPr>
              <a:t>Sources: frontend-react/src/components/GenesTab.jsx · backend/api/reasoning.py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71936F-534B-4228-8A99-A992B9B48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15100"/>
            <a:ext cx="1676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750" b="1">
                <a:solidFill>
                  <a:srgbClr val="92A3A9"/>
                </a:solidFill>
              </a:defRPr>
            </a:defPPr>
            <a:lvl1pPr algn="r">
              <a:defRPr sz="750" b="1">
                <a:solidFill>
                  <a:srgbClr val="92A3A9"/>
                </a:solidFill>
              </a:defRPr>
            </a:lvl1pPr>
            <a:lvl2pPr algn="r">
              <a:defRPr sz="750" b="1">
                <a:solidFill>
                  <a:srgbClr val="92A3A9"/>
                </a:solidFill>
              </a:defRPr>
            </a:lvl2pPr>
            <a:lvl3pPr algn="r">
              <a:defRPr sz="750" b="1">
                <a:solidFill>
                  <a:srgbClr val="92A3A9"/>
                </a:solidFill>
              </a:defRPr>
            </a:lvl3pPr>
            <a:lvl4pPr algn="r">
              <a:defRPr sz="750" b="1">
                <a:solidFill>
                  <a:srgbClr val="92A3A9"/>
                </a:solidFill>
              </a:defRPr>
            </a:lvl4pPr>
            <a:lvl5pPr algn="r">
              <a:defRPr sz="750" b="1">
                <a:solidFill>
                  <a:srgbClr val="92A3A9"/>
                </a:solidFill>
              </a:defRPr>
            </a:lvl5pPr>
            <a:lvl6pPr algn="r">
              <a:defRPr sz="750" b="1">
                <a:solidFill>
                  <a:srgbClr val="92A3A9"/>
                </a:solidFill>
              </a:defRPr>
            </a:lvl6pPr>
            <a:lvl7pPr algn="r">
              <a:defRPr sz="750" b="1">
                <a:solidFill>
                  <a:srgbClr val="92A3A9"/>
                </a:solidFill>
              </a:defRPr>
            </a:lvl7pPr>
            <a:lvl8pPr algn="r">
              <a:defRPr sz="750" b="1">
                <a:solidFill>
                  <a:srgbClr val="92A3A9"/>
                </a:solidFill>
              </a:defRPr>
            </a:lvl8pPr>
            <a:lvl9pPr algn="r">
              <a:defRPr sz="750" b="1">
                <a:solidFill>
                  <a:srgbClr val="92A3A9"/>
                </a:solidFill>
              </a:defRPr>
            </a:lvl9pPr>
          </a:lstStyle>
          <a:p xmlns:a="http://schemas.openxmlformats.org/drawingml/2006/main">
            <a:pPr algn="r">
              <a:defRPr sz="750" b="1">
                <a:solidFill>
                  <a:srgbClr val="92A3A9"/>
                </a:solidFill>
              </a:defRPr>
            </a:pPr>
            <a:r>
              <a:rPr sz="750" b="1">
                <a:solidFill>
                  <a:srgbClr val="92A3A9"/>
                </a:solidFill>
              </a:rPr>
              <a:t>BT-CAP · 18 OCT 2026</a:t>
            </a:r>
          </a:p>
        </p:txBody>
      </p:sp>
    </p:spTree>
    <p:extLst>
      <p:ext uri="{BB962C8B-B14F-4D97-AF65-F5344CB8AC3E}">
        <p14:creationId xmlns:p14="http://schemas.microsoft.com/office/powerpoint/2010/main" val="41992364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D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F51715-BD85-4BB8-B9D4-76FCBCC41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46BFC9"/>
                </a:solidFill>
              </a:defRPr>
            </a:defPPr>
            <a:lvl1pPr>
              <a:defRPr sz="975" b="1">
                <a:solidFill>
                  <a:srgbClr val="46BFC9"/>
                </a:solidFill>
              </a:defRPr>
            </a:lvl1pPr>
            <a:lvl2pPr>
              <a:defRPr sz="975" b="1">
                <a:solidFill>
                  <a:srgbClr val="46BFC9"/>
                </a:solidFill>
              </a:defRPr>
            </a:lvl2pPr>
            <a:lvl3pPr>
              <a:defRPr sz="975" b="1">
                <a:solidFill>
                  <a:srgbClr val="46BFC9"/>
                </a:solidFill>
              </a:defRPr>
            </a:lvl3pPr>
            <a:lvl4pPr>
              <a:defRPr sz="975" b="1">
                <a:solidFill>
                  <a:srgbClr val="46BFC9"/>
                </a:solidFill>
              </a:defRPr>
            </a:lvl4pPr>
            <a:lvl5pPr>
              <a:defRPr sz="975" b="1">
                <a:solidFill>
                  <a:srgbClr val="46BFC9"/>
                </a:solidFill>
              </a:defRPr>
            </a:lvl5pPr>
            <a:lvl6pPr>
              <a:defRPr sz="975" b="1">
                <a:solidFill>
                  <a:srgbClr val="46BFC9"/>
                </a:solidFill>
              </a:defRPr>
            </a:lvl6pPr>
            <a:lvl7pPr>
              <a:defRPr sz="975" b="1">
                <a:solidFill>
                  <a:srgbClr val="46BFC9"/>
                </a:solidFill>
              </a:defRPr>
            </a:lvl7pPr>
            <a:lvl8pPr>
              <a:defRPr sz="975" b="1">
                <a:solidFill>
                  <a:srgbClr val="46BFC9"/>
                </a:solidFill>
              </a:defRPr>
            </a:lvl8pPr>
            <a:lvl9pPr>
              <a:defRPr sz="975" b="1">
                <a:solidFill>
                  <a:srgbClr val="46BFC9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46BFC9"/>
                </a:solidFill>
              </a:defRPr>
            </a:pPr>
            <a:r>
              <a:rPr sz="975" b="1">
                <a:solidFill>
                  <a:srgbClr val="46BFC9"/>
                </a:solidFill>
              </a:rPr>
              <a:t>VERIFICATION RESULTS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C40355-094D-4664-A6C6-96B6C25BB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E1E9EC"/>
                </a:solidFill>
              </a:defRPr>
            </a:defPPr>
            <a:lvl1pPr>
              <a:defRPr sz="2550" b="1">
                <a:solidFill>
                  <a:srgbClr val="E1E9EC"/>
                </a:solidFill>
              </a:defRPr>
            </a:lvl1pPr>
            <a:lvl2pPr>
              <a:defRPr sz="2550" b="1">
                <a:solidFill>
                  <a:srgbClr val="E1E9EC"/>
                </a:solidFill>
              </a:defRPr>
            </a:lvl2pPr>
            <a:lvl3pPr>
              <a:defRPr sz="2550" b="1">
                <a:solidFill>
                  <a:srgbClr val="E1E9EC"/>
                </a:solidFill>
              </a:defRPr>
            </a:lvl3pPr>
            <a:lvl4pPr>
              <a:defRPr sz="2550" b="1">
                <a:solidFill>
                  <a:srgbClr val="E1E9EC"/>
                </a:solidFill>
              </a:defRPr>
            </a:lvl4pPr>
            <a:lvl5pPr>
              <a:defRPr sz="2550" b="1">
                <a:solidFill>
                  <a:srgbClr val="E1E9EC"/>
                </a:solidFill>
              </a:defRPr>
            </a:lvl5pPr>
            <a:lvl6pPr>
              <a:defRPr sz="2550" b="1">
                <a:solidFill>
                  <a:srgbClr val="E1E9EC"/>
                </a:solidFill>
              </a:defRPr>
            </a:lvl6pPr>
            <a:lvl7pPr>
              <a:defRPr sz="2550" b="1">
                <a:solidFill>
                  <a:srgbClr val="E1E9EC"/>
                </a:solidFill>
              </a:defRPr>
            </a:lvl7pPr>
            <a:lvl8pPr>
              <a:defRPr sz="2550" b="1">
                <a:solidFill>
                  <a:srgbClr val="E1E9EC"/>
                </a:solidFill>
              </a:defRPr>
            </a:lvl8pPr>
            <a:lvl9pPr>
              <a:defRPr sz="2550" b="1">
                <a:solidFill>
                  <a:srgbClr val="E1E9EC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E1E9EC"/>
                </a:solidFill>
              </a:defRPr>
            </a:pPr>
            <a:r>
              <a:rPr sz="2550" b="1">
                <a:solidFill>
                  <a:srgbClr val="E1E9EC"/>
                </a:solidFill>
              </a:rPr>
              <a:t>The integrated portal passes every required 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F0BCD0-D4FC-4FF5-AD97-7A16B5B3E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8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3EB16E-5373-4FFF-8F8B-69FE17F94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524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00" b="1">
                <a:solidFill>
                  <a:srgbClr val="92A3A9"/>
                </a:solidFill>
              </a:defRPr>
            </a:defPPr>
            <a:lvl1pPr algn="r">
              <a:defRPr sz="900" b="1">
                <a:solidFill>
                  <a:srgbClr val="92A3A9"/>
                </a:solidFill>
              </a:defRPr>
            </a:lvl1pPr>
            <a:lvl2pPr algn="r">
              <a:defRPr sz="900" b="1">
                <a:solidFill>
                  <a:srgbClr val="92A3A9"/>
                </a:solidFill>
              </a:defRPr>
            </a:lvl2pPr>
            <a:lvl3pPr algn="r">
              <a:defRPr sz="900" b="1">
                <a:solidFill>
                  <a:srgbClr val="92A3A9"/>
                </a:solidFill>
              </a:defRPr>
            </a:lvl3pPr>
            <a:lvl4pPr algn="r">
              <a:defRPr sz="900" b="1">
                <a:solidFill>
                  <a:srgbClr val="92A3A9"/>
                </a:solidFill>
              </a:defRPr>
            </a:lvl4pPr>
            <a:lvl5pPr algn="r">
              <a:defRPr sz="900" b="1">
                <a:solidFill>
                  <a:srgbClr val="92A3A9"/>
                </a:solidFill>
              </a:defRPr>
            </a:lvl5pPr>
            <a:lvl6pPr algn="r">
              <a:defRPr sz="900" b="1">
                <a:solidFill>
                  <a:srgbClr val="92A3A9"/>
                </a:solidFill>
              </a:defRPr>
            </a:lvl6pPr>
            <a:lvl7pPr algn="r">
              <a:defRPr sz="900" b="1">
                <a:solidFill>
                  <a:srgbClr val="92A3A9"/>
                </a:solidFill>
              </a:defRPr>
            </a:lvl7pPr>
            <a:lvl8pPr algn="r">
              <a:defRPr sz="900" b="1">
                <a:solidFill>
                  <a:srgbClr val="92A3A9"/>
                </a:solidFill>
              </a:defRPr>
            </a:lvl8pPr>
            <a:lvl9pPr algn="r">
              <a:defRPr sz="900" b="1">
                <a:solidFill>
                  <a:srgbClr val="92A3A9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92A3A9"/>
                </a:solidFill>
              </a:defRPr>
            </a:pPr>
            <a:r>
              <a:rPr sz="900" b="1">
                <a:solidFill>
                  <a:srgbClr val="92A3A9"/>
                </a:solidFill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545F67-0022-4284-BA3D-FD11A462E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238125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41C20"/>
          </a:solidFill>
          <a:ln xmlns:a="http://schemas.openxmlformats.org/drawingml/2006/main" w="9525">
            <a:solidFill>
              <a:srgbClr val="2A383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26FDA0-10B7-4E89-9B3B-D62328C9C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57350"/>
            <a:ext cx="2038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66BF8B"/>
                </a:solidFill>
              </a:defRPr>
            </a:defPPr>
            <a:lvl1pPr>
              <a:defRPr sz="2550" b="1">
                <a:solidFill>
                  <a:srgbClr val="66BF8B"/>
                </a:solidFill>
              </a:defRPr>
            </a:lvl1pPr>
            <a:lvl2pPr>
              <a:defRPr sz="2550" b="1">
                <a:solidFill>
                  <a:srgbClr val="66BF8B"/>
                </a:solidFill>
              </a:defRPr>
            </a:lvl2pPr>
            <a:lvl3pPr>
              <a:defRPr sz="2550" b="1">
                <a:solidFill>
                  <a:srgbClr val="66BF8B"/>
                </a:solidFill>
              </a:defRPr>
            </a:lvl3pPr>
            <a:lvl4pPr>
              <a:defRPr sz="2550" b="1">
                <a:solidFill>
                  <a:srgbClr val="66BF8B"/>
                </a:solidFill>
              </a:defRPr>
            </a:lvl4pPr>
            <a:lvl5pPr>
              <a:defRPr sz="2550" b="1">
                <a:solidFill>
                  <a:srgbClr val="66BF8B"/>
                </a:solidFill>
              </a:defRPr>
            </a:lvl5pPr>
            <a:lvl6pPr>
              <a:defRPr sz="2550" b="1">
                <a:solidFill>
                  <a:srgbClr val="66BF8B"/>
                </a:solidFill>
              </a:defRPr>
            </a:lvl6pPr>
            <a:lvl7pPr>
              <a:defRPr sz="2550" b="1">
                <a:solidFill>
                  <a:srgbClr val="66BF8B"/>
                </a:solidFill>
              </a:defRPr>
            </a:lvl7pPr>
            <a:lvl8pPr>
              <a:defRPr sz="2550" b="1">
                <a:solidFill>
                  <a:srgbClr val="66BF8B"/>
                </a:solidFill>
              </a:defRPr>
            </a:lvl8pPr>
            <a:lvl9pPr>
              <a:defRPr sz="2550" b="1">
                <a:solidFill>
                  <a:srgbClr val="66BF8B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66BF8B"/>
                </a:solidFill>
              </a:defRPr>
            </a:pPr>
            <a:r>
              <a:rPr sz="2550" b="1">
                <a:solidFill>
                  <a:srgbClr val="66BF8B"/>
                </a:solidFill>
              </a:rPr>
              <a:t>44 / 44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400D5E-67FB-4AA4-A03C-57080B9D5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05025"/>
            <a:ext cx="2038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92A3A9"/>
                </a:solidFill>
              </a:defRPr>
            </a:defPPr>
            <a:lvl1pPr>
              <a:defRPr sz="1125" b="0">
                <a:solidFill>
                  <a:srgbClr val="92A3A9"/>
                </a:solidFill>
              </a:defRPr>
            </a:lvl1pPr>
            <a:lvl2pPr>
              <a:defRPr sz="1125" b="0">
                <a:solidFill>
                  <a:srgbClr val="92A3A9"/>
                </a:solidFill>
              </a:defRPr>
            </a:lvl2pPr>
            <a:lvl3pPr>
              <a:defRPr sz="1125" b="0">
                <a:solidFill>
                  <a:srgbClr val="92A3A9"/>
                </a:solidFill>
              </a:defRPr>
            </a:lvl3pPr>
            <a:lvl4pPr>
              <a:defRPr sz="1125" b="0">
                <a:solidFill>
                  <a:srgbClr val="92A3A9"/>
                </a:solidFill>
              </a:defRPr>
            </a:lvl4pPr>
            <a:lvl5pPr>
              <a:defRPr sz="1125" b="0">
                <a:solidFill>
                  <a:srgbClr val="92A3A9"/>
                </a:solidFill>
              </a:defRPr>
            </a:lvl5pPr>
            <a:lvl6pPr>
              <a:defRPr sz="1125" b="0">
                <a:solidFill>
                  <a:srgbClr val="92A3A9"/>
                </a:solidFill>
              </a:defRPr>
            </a:lvl6pPr>
            <a:lvl7pPr>
              <a:defRPr sz="1125" b="0">
                <a:solidFill>
                  <a:srgbClr val="92A3A9"/>
                </a:solidFill>
              </a:defRPr>
            </a:lvl7pPr>
            <a:lvl8pPr>
              <a:defRPr sz="1125" b="0">
                <a:solidFill>
                  <a:srgbClr val="92A3A9"/>
                </a:solidFill>
              </a:defRPr>
            </a:lvl8pPr>
            <a:lvl9pPr>
              <a:defRPr sz="1125" b="0">
                <a:solidFill>
                  <a:srgbClr val="92A3A9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92A3A9"/>
                </a:solidFill>
              </a:defRPr>
            </a:pPr>
            <a:r>
              <a:rPr sz="1125" b="0">
                <a:solidFill>
                  <a:srgbClr val="92A3A9"/>
                </a:solidFill>
              </a:rPr>
              <a:t>questions matched</a:t>
            </a:r>
          </a:p>
          <a:p xmlns:a="http://schemas.openxmlformats.org/drawingml/2006/main">
            <a:pPr>
              <a:defRPr sz="1125" b="0">
                <a:solidFill>
                  <a:srgbClr val="92A3A9"/>
                </a:solidFill>
              </a:defRPr>
            </a:pPr>
            <a:r>
              <a:rPr sz="1125" b="0">
                <a:solidFill>
                  <a:srgbClr val="92A3A9"/>
                </a:solidFill>
              </a:rPr>
              <a:t>API ↔ CLI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4547E7-C36F-4F06-B10D-8DAB993B9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504950"/>
            <a:ext cx="238125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41C20"/>
          </a:solidFill>
          <a:ln xmlns:a="http://schemas.openxmlformats.org/drawingml/2006/main" w="9525">
            <a:solidFill>
              <a:srgbClr val="2A383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11FDE6-0913-44A4-9DDC-1ABC272E1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657350"/>
            <a:ext cx="2038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66BF8B"/>
                </a:solidFill>
              </a:defRPr>
            </a:defPPr>
            <a:lvl1pPr>
              <a:defRPr sz="2550" b="1">
                <a:solidFill>
                  <a:srgbClr val="66BF8B"/>
                </a:solidFill>
              </a:defRPr>
            </a:lvl1pPr>
            <a:lvl2pPr>
              <a:defRPr sz="2550" b="1">
                <a:solidFill>
                  <a:srgbClr val="66BF8B"/>
                </a:solidFill>
              </a:defRPr>
            </a:lvl2pPr>
            <a:lvl3pPr>
              <a:defRPr sz="2550" b="1">
                <a:solidFill>
                  <a:srgbClr val="66BF8B"/>
                </a:solidFill>
              </a:defRPr>
            </a:lvl3pPr>
            <a:lvl4pPr>
              <a:defRPr sz="2550" b="1">
                <a:solidFill>
                  <a:srgbClr val="66BF8B"/>
                </a:solidFill>
              </a:defRPr>
            </a:lvl4pPr>
            <a:lvl5pPr>
              <a:defRPr sz="2550" b="1">
                <a:solidFill>
                  <a:srgbClr val="66BF8B"/>
                </a:solidFill>
              </a:defRPr>
            </a:lvl5pPr>
            <a:lvl6pPr>
              <a:defRPr sz="2550" b="1">
                <a:solidFill>
                  <a:srgbClr val="66BF8B"/>
                </a:solidFill>
              </a:defRPr>
            </a:lvl6pPr>
            <a:lvl7pPr>
              <a:defRPr sz="2550" b="1">
                <a:solidFill>
                  <a:srgbClr val="66BF8B"/>
                </a:solidFill>
              </a:defRPr>
            </a:lvl7pPr>
            <a:lvl8pPr>
              <a:defRPr sz="2550" b="1">
                <a:solidFill>
                  <a:srgbClr val="66BF8B"/>
                </a:solidFill>
              </a:defRPr>
            </a:lvl8pPr>
            <a:lvl9pPr>
              <a:defRPr sz="2550" b="1">
                <a:solidFill>
                  <a:srgbClr val="66BF8B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66BF8B"/>
                </a:solidFill>
              </a:defRPr>
            </a:pPr>
            <a:r>
              <a:rPr sz="2550" b="1">
                <a:solidFill>
                  <a:srgbClr val="66BF8B"/>
                </a:solidFill>
              </a:rPr>
              <a:t>24 / 24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E3AE8F-BF58-4E81-8996-5A4E87212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105025"/>
            <a:ext cx="2038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92A3A9"/>
                </a:solidFill>
              </a:defRPr>
            </a:defPPr>
            <a:lvl1pPr>
              <a:defRPr sz="1125" b="0">
                <a:solidFill>
                  <a:srgbClr val="92A3A9"/>
                </a:solidFill>
              </a:defRPr>
            </a:lvl1pPr>
            <a:lvl2pPr>
              <a:defRPr sz="1125" b="0">
                <a:solidFill>
                  <a:srgbClr val="92A3A9"/>
                </a:solidFill>
              </a:defRPr>
            </a:lvl2pPr>
            <a:lvl3pPr>
              <a:defRPr sz="1125" b="0">
                <a:solidFill>
                  <a:srgbClr val="92A3A9"/>
                </a:solidFill>
              </a:defRPr>
            </a:lvl3pPr>
            <a:lvl4pPr>
              <a:defRPr sz="1125" b="0">
                <a:solidFill>
                  <a:srgbClr val="92A3A9"/>
                </a:solidFill>
              </a:defRPr>
            </a:lvl4pPr>
            <a:lvl5pPr>
              <a:defRPr sz="1125" b="0">
                <a:solidFill>
                  <a:srgbClr val="92A3A9"/>
                </a:solidFill>
              </a:defRPr>
            </a:lvl5pPr>
            <a:lvl6pPr>
              <a:defRPr sz="1125" b="0">
                <a:solidFill>
                  <a:srgbClr val="92A3A9"/>
                </a:solidFill>
              </a:defRPr>
            </a:lvl6pPr>
            <a:lvl7pPr>
              <a:defRPr sz="1125" b="0">
                <a:solidFill>
                  <a:srgbClr val="92A3A9"/>
                </a:solidFill>
              </a:defRPr>
            </a:lvl7pPr>
            <a:lvl8pPr>
              <a:defRPr sz="1125" b="0">
                <a:solidFill>
                  <a:srgbClr val="92A3A9"/>
                </a:solidFill>
              </a:defRPr>
            </a:lvl8pPr>
            <a:lvl9pPr>
              <a:defRPr sz="1125" b="0">
                <a:solidFill>
                  <a:srgbClr val="92A3A9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92A3A9"/>
                </a:solidFill>
              </a:defRPr>
            </a:pPr>
            <a:r>
              <a:rPr sz="1125" b="0">
                <a:solidFill>
                  <a:srgbClr val="92A3A9"/>
                </a:solidFill>
              </a:rPr>
              <a:t>MedGemma cache hits</a:t>
            </a:r>
          </a:p>
          <a:p xmlns:a="http://schemas.openxmlformats.org/drawingml/2006/main">
            <a:pPr>
              <a:defRPr sz="1125" b="0">
                <a:solidFill>
                  <a:srgbClr val="92A3A9"/>
                </a:solidFill>
              </a:defRPr>
            </a:pPr>
            <a:r>
              <a:rPr sz="1125" b="0">
                <a:solidFill>
                  <a:srgbClr val="92A3A9"/>
                </a:solidFill>
              </a:rPr>
              <a:t>zero provider calls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A389D5-F215-45A6-8D9E-2FF5D8D7D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1504950"/>
            <a:ext cx="238125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41C20"/>
          </a:solidFill>
          <a:ln xmlns:a="http://schemas.openxmlformats.org/drawingml/2006/main" w="9525">
            <a:solidFill>
              <a:srgbClr val="2A383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EAEE51-FFB4-458E-9A30-F72C53032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657350"/>
            <a:ext cx="2038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46BFC9"/>
                </a:solidFill>
              </a:defRPr>
            </a:defPPr>
            <a:lvl1pPr>
              <a:defRPr sz="2550" b="1">
                <a:solidFill>
                  <a:srgbClr val="46BFC9"/>
                </a:solidFill>
              </a:defRPr>
            </a:lvl1pPr>
            <a:lvl2pPr>
              <a:defRPr sz="2550" b="1">
                <a:solidFill>
                  <a:srgbClr val="46BFC9"/>
                </a:solidFill>
              </a:defRPr>
            </a:lvl2pPr>
            <a:lvl3pPr>
              <a:defRPr sz="2550" b="1">
                <a:solidFill>
                  <a:srgbClr val="46BFC9"/>
                </a:solidFill>
              </a:defRPr>
            </a:lvl3pPr>
            <a:lvl4pPr>
              <a:defRPr sz="2550" b="1">
                <a:solidFill>
                  <a:srgbClr val="46BFC9"/>
                </a:solidFill>
              </a:defRPr>
            </a:lvl4pPr>
            <a:lvl5pPr>
              <a:defRPr sz="2550" b="1">
                <a:solidFill>
                  <a:srgbClr val="46BFC9"/>
                </a:solidFill>
              </a:defRPr>
            </a:lvl5pPr>
            <a:lvl6pPr>
              <a:defRPr sz="2550" b="1">
                <a:solidFill>
                  <a:srgbClr val="46BFC9"/>
                </a:solidFill>
              </a:defRPr>
            </a:lvl6pPr>
            <a:lvl7pPr>
              <a:defRPr sz="2550" b="1">
                <a:solidFill>
                  <a:srgbClr val="46BFC9"/>
                </a:solidFill>
              </a:defRPr>
            </a:lvl7pPr>
            <a:lvl8pPr>
              <a:defRPr sz="2550" b="1">
                <a:solidFill>
                  <a:srgbClr val="46BFC9"/>
                </a:solidFill>
              </a:defRPr>
            </a:lvl8pPr>
            <a:lvl9pPr>
              <a:defRPr sz="2550" b="1">
                <a:solidFill>
                  <a:srgbClr val="46BFC9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46BFC9"/>
                </a:solidFill>
              </a:defRPr>
            </a:pPr>
            <a:r>
              <a:rPr sz="2550" b="1">
                <a:solidFill>
                  <a:srgbClr val="46BFC9"/>
                </a:solidFill>
              </a:rPr>
              <a:t>310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5B7931-9AB9-4D1F-B66C-39BF3F2A7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05025"/>
            <a:ext cx="2038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92A3A9"/>
                </a:solidFill>
              </a:defRPr>
            </a:defPPr>
            <a:lvl1pPr>
              <a:defRPr sz="1125" b="0">
                <a:solidFill>
                  <a:srgbClr val="92A3A9"/>
                </a:solidFill>
              </a:defRPr>
            </a:lvl1pPr>
            <a:lvl2pPr>
              <a:defRPr sz="1125" b="0">
                <a:solidFill>
                  <a:srgbClr val="92A3A9"/>
                </a:solidFill>
              </a:defRPr>
            </a:lvl2pPr>
            <a:lvl3pPr>
              <a:defRPr sz="1125" b="0">
                <a:solidFill>
                  <a:srgbClr val="92A3A9"/>
                </a:solidFill>
              </a:defRPr>
            </a:lvl3pPr>
            <a:lvl4pPr>
              <a:defRPr sz="1125" b="0">
                <a:solidFill>
                  <a:srgbClr val="92A3A9"/>
                </a:solidFill>
              </a:defRPr>
            </a:lvl4pPr>
            <a:lvl5pPr>
              <a:defRPr sz="1125" b="0">
                <a:solidFill>
                  <a:srgbClr val="92A3A9"/>
                </a:solidFill>
              </a:defRPr>
            </a:lvl5pPr>
            <a:lvl6pPr>
              <a:defRPr sz="1125" b="0">
                <a:solidFill>
                  <a:srgbClr val="92A3A9"/>
                </a:solidFill>
              </a:defRPr>
            </a:lvl6pPr>
            <a:lvl7pPr>
              <a:defRPr sz="1125" b="0">
                <a:solidFill>
                  <a:srgbClr val="92A3A9"/>
                </a:solidFill>
              </a:defRPr>
            </a:lvl7pPr>
            <a:lvl8pPr>
              <a:defRPr sz="1125" b="0">
                <a:solidFill>
                  <a:srgbClr val="92A3A9"/>
                </a:solidFill>
              </a:defRPr>
            </a:lvl8pPr>
            <a:lvl9pPr>
              <a:defRPr sz="1125" b="0">
                <a:solidFill>
                  <a:srgbClr val="92A3A9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92A3A9"/>
                </a:solidFill>
              </a:defRPr>
            </a:pPr>
            <a:r>
              <a:rPr sz="1125" b="0">
                <a:solidFill>
                  <a:srgbClr val="92A3A9"/>
                </a:solidFill>
              </a:rPr>
              <a:t>scored outputs checked</a:t>
            </a:r>
          </a:p>
          <a:p xmlns:a="http://schemas.openxmlformats.org/drawingml/2006/main">
            <a:pPr>
              <a:defRPr sz="1125" b="0">
                <a:solidFill>
                  <a:srgbClr val="92A3A9"/>
                </a:solidFill>
              </a:defRPr>
            </a:pPr>
            <a:r>
              <a:rPr sz="1125" b="0">
                <a:solidFill>
                  <a:srgbClr val="92A3A9"/>
                </a:solidFill>
              </a:rPr>
              <a:t>published-gene equality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C82694-69CD-430E-A980-226D2F6B6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504950"/>
            <a:ext cx="238125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41C20"/>
          </a:solidFill>
          <a:ln xmlns:a="http://schemas.openxmlformats.org/drawingml/2006/main" w="9525">
            <a:solidFill>
              <a:srgbClr val="2A383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93A386-BDBF-4029-9F60-CF5358806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657350"/>
            <a:ext cx="2038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46BFC9"/>
                </a:solidFill>
              </a:defRPr>
            </a:defPPr>
            <a:lvl1pPr>
              <a:defRPr sz="2550" b="1">
                <a:solidFill>
                  <a:srgbClr val="46BFC9"/>
                </a:solidFill>
              </a:defRPr>
            </a:lvl1pPr>
            <a:lvl2pPr>
              <a:defRPr sz="2550" b="1">
                <a:solidFill>
                  <a:srgbClr val="46BFC9"/>
                </a:solidFill>
              </a:defRPr>
            </a:lvl2pPr>
            <a:lvl3pPr>
              <a:defRPr sz="2550" b="1">
                <a:solidFill>
                  <a:srgbClr val="46BFC9"/>
                </a:solidFill>
              </a:defRPr>
            </a:lvl3pPr>
            <a:lvl4pPr>
              <a:defRPr sz="2550" b="1">
                <a:solidFill>
                  <a:srgbClr val="46BFC9"/>
                </a:solidFill>
              </a:defRPr>
            </a:lvl4pPr>
            <a:lvl5pPr>
              <a:defRPr sz="2550" b="1">
                <a:solidFill>
                  <a:srgbClr val="46BFC9"/>
                </a:solidFill>
              </a:defRPr>
            </a:lvl5pPr>
            <a:lvl6pPr>
              <a:defRPr sz="2550" b="1">
                <a:solidFill>
                  <a:srgbClr val="46BFC9"/>
                </a:solidFill>
              </a:defRPr>
            </a:lvl6pPr>
            <a:lvl7pPr>
              <a:defRPr sz="2550" b="1">
                <a:solidFill>
                  <a:srgbClr val="46BFC9"/>
                </a:solidFill>
              </a:defRPr>
            </a:lvl7pPr>
            <a:lvl8pPr>
              <a:defRPr sz="2550" b="1">
                <a:solidFill>
                  <a:srgbClr val="46BFC9"/>
                </a:solidFill>
              </a:defRPr>
            </a:lvl8pPr>
            <a:lvl9pPr>
              <a:defRPr sz="2550" b="1">
                <a:solidFill>
                  <a:srgbClr val="46BFC9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46BFC9"/>
                </a:solidFill>
              </a:defRPr>
            </a:pPr>
            <a:r>
              <a:rPr sz="2550" b="1">
                <a:solidFill>
                  <a:srgbClr val="46BFC9"/>
                </a:solidFill>
              </a:rPr>
              <a:t>283 + 7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EA5AA7-91E9-4090-8D09-1AC80A455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105025"/>
            <a:ext cx="2038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92A3A9"/>
                </a:solidFill>
              </a:defRPr>
            </a:defPPr>
            <a:lvl1pPr>
              <a:defRPr sz="1125" b="0">
                <a:solidFill>
                  <a:srgbClr val="92A3A9"/>
                </a:solidFill>
              </a:defRPr>
            </a:lvl1pPr>
            <a:lvl2pPr>
              <a:defRPr sz="1125" b="0">
                <a:solidFill>
                  <a:srgbClr val="92A3A9"/>
                </a:solidFill>
              </a:defRPr>
            </a:lvl2pPr>
            <a:lvl3pPr>
              <a:defRPr sz="1125" b="0">
                <a:solidFill>
                  <a:srgbClr val="92A3A9"/>
                </a:solidFill>
              </a:defRPr>
            </a:lvl3pPr>
            <a:lvl4pPr>
              <a:defRPr sz="1125" b="0">
                <a:solidFill>
                  <a:srgbClr val="92A3A9"/>
                </a:solidFill>
              </a:defRPr>
            </a:lvl4pPr>
            <a:lvl5pPr>
              <a:defRPr sz="1125" b="0">
                <a:solidFill>
                  <a:srgbClr val="92A3A9"/>
                </a:solidFill>
              </a:defRPr>
            </a:lvl5pPr>
            <a:lvl6pPr>
              <a:defRPr sz="1125" b="0">
                <a:solidFill>
                  <a:srgbClr val="92A3A9"/>
                </a:solidFill>
              </a:defRPr>
            </a:lvl6pPr>
            <a:lvl7pPr>
              <a:defRPr sz="1125" b="0">
                <a:solidFill>
                  <a:srgbClr val="92A3A9"/>
                </a:solidFill>
              </a:defRPr>
            </a:lvl7pPr>
            <a:lvl8pPr>
              <a:defRPr sz="1125" b="0">
                <a:solidFill>
                  <a:srgbClr val="92A3A9"/>
                </a:solidFill>
              </a:defRPr>
            </a:lvl8pPr>
            <a:lvl9pPr>
              <a:defRPr sz="1125" b="0">
                <a:solidFill>
                  <a:srgbClr val="92A3A9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92A3A9"/>
                </a:solidFill>
              </a:defRPr>
            </a:pPr>
            <a:r>
              <a:rPr sz="1125" b="0">
                <a:solidFill>
                  <a:srgbClr val="92A3A9"/>
                </a:solidFill>
              </a:rPr>
              <a:t>Python + frontend</a:t>
            </a:r>
          </a:p>
          <a:p xmlns:a="http://schemas.openxmlformats.org/drawingml/2006/main">
            <a:pPr>
              <a:defRPr sz="1125" b="0">
                <a:solidFill>
                  <a:srgbClr val="92A3A9"/>
                </a:solidFill>
              </a:defRPr>
            </a:pPr>
            <a:r>
              <a:rPr sz="1125" b="0">
                <a:solidFill>
                  <a:srgbClr val="92A3A9"/>
                </a:solidFill>
              </a:rPr>
              <a:t>tests passed</a:t>
            </a:r>
          </a:p>
        </p:txBody>
      </p:sp>
      <p:graphicFrame>
        <p:nvGraphicFrame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2375DE-5257-4271-8493-C1D7C5211BD9}"/>
              </a:ext>
            </a:extLst>
          </p:cNvPr>
          <p:cNvGraphicFramePr/>
          <p:nvPr/>
        </p:nvGraphicFramePr>
        <p:xfrm>
          <a:off xmlns:a="http://schemas.openxmlformats.org/drawingml/2006/main" x="609600" y="2952750"/>
          <a:ext xmlns:a="http://schemas.openxmlformats.org/drawingml/2006/main" cx="10972800" cy="27241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6438900"/>
                <a:gridCol w="2057400"/>
              </a:tblGrid>
              <a:tr h="54483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46BFC9"/>
                          </a:solidFill>
                        </a:rPr>
                        <a:t>Verification</a:t>
                      </a:r>
                    </a:p>
                  </a:txBody>
                  <a:tcPr marL="133350" marR="133350" marT="95250" marB="95250">
                    <a:lnL w="9525">
                      <a:solidFill>
                        <a:srgbClr val="2A383D"/>
                      </a:solidFill>
                      <a:prstDash val="solid"/>
                    </a:lnL>
                    <a:lnR w="9525">
                      <a:solidFill>
                        <a:srgbClr val="2A383D"/>
                      </a:solidFill>
                      <a:prstDash val="solid"/>
                    </a:lnR>
                    <a:lnT w="9525">
                      <a:solidFill>
                        <a:srgbClr val="2A383D"/>
                      </a:solidFill>
                      <a:prstDash val="solid"/>
                    </a:lnT>
                    <a:lnB w="9525">
                      <a:solidFill>
                        <a:srgbClr val="2A383D"/>
                      </a:solidFill>
                      <a:prstDash val="solid"/>
                    </a:lnB>
                    <a:solidFill>
                      <a:srgbClr val="173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46BFC9"/>
                          </a:solidFill>
                        </a:rPr>
                        <a:t>What was compared</a:t>
                      </a:r>
                    </a:p>
                  </a:txBody>
                  <a:tcPr marL="133350" marR="133350" marT="95250" marB="95250">
                    <a:lnR w="9525">
                      <a:solidFill>
                        <a:srgbClr val="2A383D"/>
                      </a:solidFill>
                      <a:prstDash val="solid"/>
                    </a:lnR>
                    <a:lnT w="9525">
                      <a:solidFill>
                        <a:srgbClr val="2A383D"/>
                      </a:solidFill>
                      <a:prstDash val="solid"/>
                    </a:lnT>
                    <a:lnB w="9525">
                      <a:solidFill>
                        <a:srgbClr val="2A383D"/>
                      </a:solidFill>
                      <a:prstDash val="solid"/>
                    </a:lnB>
                    <a:solidFill>
                      <a:srgbClr val="1734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46BFC9"/>
                          </a:solidFill>
                        </a:rPr>
                        <a:t>Result</a:t>
                      </a:r>
                    </a:p>
                  </a:txBody>
                  <a:tcPr marL="133350" marR="133350" marT="95250" marB="95250">
                    <a:lnR w="9525">
                      <a:solidFill>
                        <a:srgbClr val="2A383D"/>
                      </a:solidFill>
                      <a:prstDash val="solid"/>
                    </a:lnR>
                    <a:lnT w="9525">
                      <a:solidFill>
                        <a:srgbClr val="2A383D"/>
                      </a:solidFill>
                      <a:prstDash val="solid"/>
                    </a:lnT>
                    <a:lnB w="9525">
                      <a:solidFill>
                        <a:srgbClr val="2A383D"/>
                      </a:solidFill>
                      <a:prstDash val="solid"/>
                    </a:lnB>
                    <a:solidFill>
                      <a:srgbClr val="17343A"/>
                    </a:solidFill>
                  </a:tcPr>
                </a:tc>
              </a:tr>
              <a:tr h="54483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E1E9EC"/>
                          </a:solidFill>
                        </a:rPr>
                        <a:t>Q1–Q44 regression</a:t>
                      </a:r>
                    </a:p>
                  </a:txBody>
                  <a:tcPr marL="133350" marR="133350" marT="85725" marB="85725">
                    <a:lnL w="9525">
                      <a:solidFill>
                        <a:srgbClr val="2A383D"/>
                      </a:solidFill>
                      <a:prstDash val="solid"/>
                    </a:lnL>
                    <a:lnR w="9525">
                      <a:solidFill>
                        <a:srgbClr val="2A383D"/>
                      </a:solidFill>
                      <a:prstDash val="solid"/>
                    </a:lnR>
                    <a:lnB w="9525">
                      <a:solidFill>
                        <a:srgbClr val="2A383D"/>
                      </a:solidFill>
                      <a:prstDash val="solid"/>
                    </a:lnB>
                    <a:solidFill>
                      <a:srgbClr val="141C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E1E9EC"/>
                          </a:solidFill>
                        </a:rPr>
                        <a:t>tools + required evidence terms + answer text</a:t>
                      </a:r>
                    </a:p>
                  </a:txBody>
                  <a:tcPr marL="133350" marR="133350" marT="85725" marB="85725">
                    <a:lnR w="9525">
                      <a:solidFill>
                        <a:srgbClr val="2A383D"/>
                      </a:solidFill>
                      <a:prstDash val="solid"/>
                    </a:lnR>
                    <a:lnB w="9525">
                      <a:solidFill>
                        <a:srgbClr val="2A383D"/>
                      </a:solidFill>
                      <a:prstDash val="solid"/>
                    </a:lnB>
                    <a:solidFill>
                      <a:srgbClr val="141C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66BF8B"/>
                          </a:solidFill>
                        </a:rPr>
                        <a:t>PASS</a:t>
                      </a:r>
                    </a:p>
                  </a:txBody>
                  <a:tcPr marL="133350" marR="133350" marT="85725" marB="85725">
                    <a:lnR w="9525">
                      <a:solidFill>
                        <a:srgbClr val="2A383D"/>
                      </a:solidFill>
                      <a:prstDash val="solid"/>
                    </a:lnR>
                    <a:lnB w="9525">
                      <a:solidFill>
                        <a:srgbClr val="2A383D"/>
                      </a:solidFill>
                      <a:prstDash val="solid"/>
                    </a:lnB>
                    <a:solidFill>
                      <a:srgbClr val="15281D"/>
                    </a:solidFill>
                  </a:tcPr>
                </a:tc>
              </a:tr>
              <a:tr h="54483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E1E9EC"/>
                          </a:solidFill>
                        </a:rPr>
                        <a:t>Published 33</a:t>
                      </a:r>
                    </a:p>
                  </a:txBody>
                  <a:tcPr marL="133350" marR="133350" marT="85725" marB="85725">
                    <a:lnL w="9525">
                      <a:solidFill>
                        <a:srgbClr val="2A383D"/>
                      </a:solidFill>
                      <a:prstDash val="solid"/>
                    </a:lnL>
                    <a:lnR w="9525">
                      <a:solidFill>
                        <a:srgbClr val="2A383D"/>
                      </a:solidFill>
                      <a:prstDash val="solid"/>
                    </a:lnR>
                    <a:lnB w="9525">
                      <a:solidFill>
                        <a:srgbClr val="2A383D"/>
                      </a:solidFill>
                      <a:prstDash val="solid"/>
                    </a:lnB>
                    <a:solidFill>
                      <a:srgbClr val="141C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E1E9EC"/>
                          </a:solidFill>
                        </a:rPr>
                        <a:t>portal scores/ranks vs nominate_lookup</a:t>
                      </a:r>
                    </a:p>
                  </a:txBody>
                  <a:tcPr marL="133350" marR="133350" marT="85725" marB="85725">
                    <a:lnR w="9525">
                      <a:solidFill>
                        <a:srgbClr val="2A383D"/>
                      </a:solidFill>
                      <a:prstDash val="solid"/>
                    </a:lnR>
                    <a:lnB w="9525">
                      <a:solidFill>
                        <a:srgbClr val="2A383D"/>
                      </a:solidFill>
                      <a:prstDash val="solid"/>
                    </a:lnB>
                    <a:solidFill>
                      <a:srgbClr val="141C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66BF8B"/>
                          </a:solidFill>
                        </a:rPr>
                        <a:t>PASS</a:t>
                      </a:r>
                    </a:p>
                  </a:txBody>
                  <a:tcPr marL="133350" marR="133350" marT="85725" marB="85725">
                    <a:lnR w="9525">
                      <a:solidFill>
                        <a:srgbClr val="2A383D"/>
                      </a:solidFill>
                      <a:prstDash val="solid"/>
                    </a:lnR>
                    <a:lnB w="9525">
                      <a:solidFill>
                        <a:srgbClr val="2A383D"/>
                      </a:solidFill>
                      <a:prstDash val="solid"/>
                    </a:lnB>
                    <a:solidFill>
                      <a:srgbClr val="15281D"/>
                    </a:solidFill>
                  </a:tcPr>
                </a:tc>
              </a:tr>
              <a:tr h="54483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E1E9EC"/>
                          </a:solidFill>
                        </a:rPr>
                        <a:t>MedGemma replay</a:t>
                      </a:r>
                    </a:p>
                  </a:txBody>
                  <a:tcPr marL="133350" marR="133350" marT="85725" marB="85725">
                    <a:lnL w="9525">
                      <a:solidFill>
                        <a:srgbClr val="2A383D"/>
                      </a:solidFill>
                      <a:prstDash val="solid"/>
                    </a:lnL>
                    <a:lnR w="9525">
                      <a:solidFill>
                        <a:srgbClr val="2A383D"/>
                      </a:solidFill>
                      <a:prstDash val="solid"/>
                    </a:lnR>
                    <a:lnB w="9525">
                      <a:solidFill>
                        <a:srgbClr val="2A383D"/>
                      </a:solidFill>
                      <a:prstDash val="solid"/>
                    </a:lnB>
                    <a:solidFill>
                      <a:srgbClr val="141C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E1E9EC"/>
                          </a:solidFill>
                        </a:rPr>
                        <a:t>cache files unchanged; provider entry blocked</a:t>
                      </a:r>
                    </a:p>
                  </a:txBody>
                  <a:tcPr marL="133350" marR="133350" marT="85725" marB="85725">
                    <a:lnR w="9525">
                      <a:solidFill>
                        <a:srgbClr val="2A383D"/>
                      </a:solidFill>
                      <a:prstDash val="solid"/>
                    </a:lnR>
                    <a:lnB w="9525">
                      <a:solidFill>
                        <a:srgbClr val="2A383D"/>
                      </a:solidFill>
                      <a:prstDash val="solid"/>
                    </a:lnB>
                    <a:solidFill>
                      <a:srgbClr val="141C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66BF8B"/>
                          </a:solidFill>
                        </a:rPr>
                        <a:t>PASS</a:t>
                      </a:r>
                    </a:p>
                  </a:txBody>
                  <a:tcPr marL="133350" marR="133350" marT="85725" marB="85725">
                    <a:lnR w="9525">
                      <a:solidFill>
                        <a:srgbClr val="2A383D"/>
                      </a:solidFill>
                      <a:prstDash val="solid"/>
                    </a:lnR>
                    <a:lnB w="9525">
                      <a:solidFill>
                        <a:srgbClr val="2A383D"/>
                      </a:solidFill>
                      <a:prstDash val="solid"/>
                    </a:lnB>
                    <a:solidFill>
                      <a:srgbClr val="15281D"/>
                    </a:solidFill>
                  </a:tcPr>
                </a:tc>
              </a:tr>
              <a:tr h="54483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E1E9EC"/>
                          </a:solidFill>
                        </a:rPr>
                        <a:t>Portal build</a:t>
                      </a:r>
                    </a:p>
                  </a:txBody>
                  <a:tcPr marL="133350" marR="133350" marT="85725" marB="85725">
                    <a:lnL w="9525">
                      <a:solidFill>
                        <a:srgbClr val="2A383D"/>
                      </a:solidFill>
                      <a:prstDash val="solid"/>
                    </a:lnL>
                    <a:lnR w="9525">
                      <a:solidFill>
                        <a:srgbClr val="2A383D"/>
                      </a:solidFill>
                      <a:prstDash val="solid"/>
                    </a:lnR>
                    <a:lnB w="9525">
                      <a:solidFill>
                        <a:srgbClr val="2A383D"/>
                      </a:solidFill>
                      <a:prstDash val="solid"/>
                    </a:lnB>
                    <a:solidFill>
                      <a:srgbClr val="141C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E1E9EC"/>
                          </a:solidFill>
                        </a:rPr>
                        <a:t>Python tests, React tests, production build</a:t>
                      </a:r>
                    </a:p>
                  </a:txBody>
                  <a:tcPr marL="133350" marR="133350" marT="85725" marB="85725">
                    <a:lnR w="9525">
                      <a:solidFill>
                        <a:srgbClr val="2A383D"/>
                      </a:solidFill>
                      <a:prstDash val="solid"/>
                    </a:lnR>
                    <a:lnB w="9525">
                      <a:solidFill>
                        <a:srgbClr val="2A383D"/>
                      </a:solidFill>
                      <a:prstDash val="solid"/>
                    </a:lnB>
                    <a:solidFill>
                      <a:srgbClr val="141C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66BF8B"/>
                          </a:solidFill>
                        </a:rPr>
                        <a:t>PASS</a:t>
                      </a:r>
                    </a:p>
                  </a:txBody>
                  <a:tcPr marL="133350" marR="133350" marT="85725" marB="85725">
                    <a:lnR w="9525">
                      <a:solidFill>
                        <a:srgbClr val="2A383D"/>
                      </a:solidFill>
                      <a:prstDash val="solid"/>
                    </a:lnR>
                    <a:lnB w="9525">
                      <a:solidFill>
                        <a:srgbClr val="2A383D"/>
                      </a:solidFill>
                      <a:prstDash val="solid"/>
                    </a:lnB>
                    <a:solidFill>
                      <a:srgbClr val="15281D"/>
                    </a:solidFill>
                  </a:tcPr>
                </a:tc>
              </a:tr>
            </a:tbl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095527-E786-43F1-B437-CC915E709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864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E2A84E"/>
                </a:solidFill>
              </a:defRPr>
            </a:defPPr>
            <a:lvl1pPr>
              <a:defRPr sz="1200" b="1">
                <a:solidFill>
                  <a:srgbClr val="E2A84E"/>
                </a:solidFill>
              </a:defRPr>
            </a:lvl1pPr>
            <a:lvl2pPr>
              <a:defRPr sz="1200" b="1">
                <a:solidFill>
                  <a:srgbClr val="E2A84E"/>
                </a:solidFill>
              </a:defRPr>
            </a:lvl2pPr>
            <a:lvl3pPr>
              <a:defRPr sz="1200" b="1">
                <a:solidFill>
                  <a:srgbClr val="E2A84E"/>
                </a:solidFill>
              </a:defRPr>
            </a:lvl3pPr>
            <a:lvl4pPr>
              <a:defRPr sz="1200" b="1">
                <a:solidFill>
                  <a:srgbClr val="E2A84E"/>
                </a:solidFill>
              </a:defRPr>
            </a:lvl4pPr>
            <a:lvl5pPr>
              <a:defRPr sz="1200" b="1">
                <a:solidFill>
                  <a:srgbClr val="E2A84E"/>
                </a:solidFill>
              </a:defRPr>
            </a:lvl5pPr>
            <a:lvl6pPr>
              <a:defRPr sz="1200" b="1">
                <a:solidFill>
                  <a:srgbClr val="E2A84E"/>
                </a:solidFill>
              </a:defRPr>
            </a:lvl6pPr>
            <a:lvl7pPr>
              <a:defRPr sz="1200" b="1">
                <a:solidFill>
                  <a:srgbClr val="E2A84E"/>
                </a:solidFill>
              </a:defRPr>
            </a:lvl7pPr>
            <a:lvl8pPr>
              <a:defRPr sz="1200" b="1">
                <a:solidFill>
                  <a:srgbClr val="E2A84E"/>
                </a:solidFill>
              </a:defRPr>
            </a:lvl8pPr>
            <a:lvl9pPr>
              <a:defRPr sz="1200" b="1">
                <a:solidFill>
                  <a:srgbClr val="E2A84E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E2A84E"/>
                </a:solidFill>
              </a:defRPr>
            </a:pPr>
            <a:r>
              <a:rPr sz="1200" b="1">
                <a:solidFill>
                  <a:srgbClr val="E2A84E"/>
                </a:solidFill>
              </a:rPr>
              <a:t>Verified behavior, not biological validation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17B7D9-2C4B-4ADB-A751-8A8D952A5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5315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92A3A9"/>
                </a:solidFill>
              </a:defRPr>
            </a:defPPr>
            <a:lvl1pPr>
              <a:defRPr sz="1125" b="0">
                <a:solidFill>
                  <a:srgbClr val="92A3A9"/>
                </a:solidFill>
              </a:defRPr>
            </a:lvl1pPr>
            <a:lvl2pPr>
              <a:defRPr sz="1125" b="0">
                <a:solidFill>
                  <a:srgbClr val="92A3A9"/>
                </a:solidFill>
              </a:defRPr>
            </a:lvl2pPr>
            <a:lvl3pPr>
              <a:defRPr sz="1125" b="0">
                <a:solidFill>
                  <a:srgbClr val="92A3A9"/>
                </a:solidFill>
              </a:defRPr>
            </a:lvl3pPr>
            <a:lvl4pPr>
              <a:defRPr sz="1125" b="0">
                <a:solidFill>
                  <a:srgbClr val="92A3A9"/>
                </a:solidFill>
              </a:defRPr>
            </a:lvl4pPr>
            <a:lvl5pPr>
              <a:defRPr sz="1125" b="0">
                <a:solidFill>
                  <a:srgbClr val="92A3A9"/>
                </a:solidFill>
              </a:defRPr>
            </a:lvl5pPr>
            <a:lvl6pPr>
              <a:defRPr sz="1125" b="0">
                <a:solidFill>
                  <a:srgbClr val="92A3A9"/>
                </a:solidFill>
              </a:defRPr>
            </a:lvl6pPr>
            <a:lvl7pPr>
              <a:defRPr sz="1125" b="0">
                <a:solidFill>
                  <a:srgbClr val="92A3A9"/>
                </a:solidFill>
              </a:defRPr>
            </a:lvl7pPr>
            <a:lvl8pPr>
              <a:defRPr sz="1125" b="0">
                <a:solidFill>
                  <a:srgbClr val="92A3A9"/>
                </a:solidFill>
              </a:defRPr>
            </a:lvl8pPr>
            <a:lvl9pPr>
              <a:defRPr sz="1125" b="0">
                <a:solidFill>
                  <a:srgbClr val="92A3A9"/>
                </a:solidFill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92A3A9"/>
                </a:solidFill>
              </a:defRPr>
            </a:pPr>
            <a:r>
              <a:rPr sz="1125" b="0">
                <a:solidFill>
                  <a:srgbClr val="92A3A9"/>
                </a:solidFill>
              </a:rPr>
              <a:t>These checks establish software consistency and evidence provenance.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37E272-CCD3-482B-955F-4F22CEBF1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09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92A3A9"/>
                </a:solidFill>
              </a:defRPr>
            </a:defPPr>
            <a:lvl1pPr>
              <a:defRPr sz="750" b="0">
                <a:solidFill>
                  <a:srgbClr val="92A3A9"/>
                </a:solidFill>
              </a:defRPr>
            </a:lvl1pPr>
            <a:lvl2pPr>
              <a:defRPr sz="750" b="0">
                <a:solidFill>
                  <a:srgbClr val="92A3A9"/>
                </a:solidFill>
              </a:defRPr>
            </a:lvl2pPr>
            <a:lvl3pPr>
              <a:defRPr sz="750" b="0">
                <a:solidFill>
                  <a:srgbClr val="92A3A9"/>
                </a:solidFill>
              </a:defRPr>
            </a:lvl3pPr>
            <a:lvl4pPr>
              <a:defRPr sz="750" b="0">
                <a:solidFill>
                  <a:srgbClr val="92A3A9"/>
                </a:solidFill>
              </a:defRPr>
            </a:lvl4pPr>
            <a:lvl5pPr>
              <a:defRPr sz="750" b="0">
                <a:solidFill>
                  <a:srgbClr val="92A3A9"/>
                </a:solidFill>
              </a:defRPr>
            </a:lvl5pPr>
            <a:lvl6pPr>
              <a:defRPr sz="750" b="0">
                <a:solidFill>
                  <a:srgbClr val="92A3A9"/>
                </a:solidFill>
              </a:defRPr>
            </a:lvl6pPr>
            <a:lvl7pPr>
              <a:defRPr sz="750" b="0">
                <a:solidFill>
                  <a:srgbClr val="92A3A9"/>
                </a:solidFill>
              </a:defRPr>
            </a:lvl7pPr>
            <a:lvl8pPr>
              <a:defRPr sz="750" b="0">
                <a:solidFill>
                  <a:srgbClr val="92A3A9"/>
                </a:solidFill>
              </a:defRPr>
            </a:lvl8pPr>
            <a:lvl9pPr>
              <a:defRPr sz="750" b="0">
                <a:solidFill>
                  <a:srgbClr val="92A3A9"/>
                </a:solidFill>
              </a:defRPr>
            </a:lvl9pPr>
          </a:lstStyle>
          <a:p xmlns:a="http://schemas.openxmlformats.org/drawingml/2006/main">
            <a:pPr>
              <a:defRPr sz="750" b="0">
                <a:solidFill>
                  <a:srgbClr val="92A3A9"/>
                </a:solidFill>
              </a:defRPr>
            </a:pPr>
            <a:r>
              <a:rPr sz="750" b="0">
                <a:solidFill>
                  <a:srgbClr val="92A3A9"/>
                </a:solidFill>
              </a:rPr>
              <a:t>Source: fall_semester/turnin/week6_portal/WEEK6_PORTAL_REPORT.md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6C8797-4533-4C04-80E3-85FF7BA58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15100"/>
            <a:ext cx="1676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750" b="1">
                <a:solidFill>
                  <a:srgbClr val="92A3A9"/>
                </a:solidFill>
              </a:defRPr>
            </a:defPPr>
            <a:lvl1pPr algn="r">
              <a:defRPr sz="750" b="1">
                <a:solidFill>
                  <a:srgbClr val="92A3A9"/>
                </a:solidFill>
              </a:defRPr>
            </a:lvl1pPr>
            <a:lvl2pPr algn="r">
              <a:defRPr sz="750" b="1">
                <a:solidFill>
                  <a:srgbClr val="92A3A9"/>
                </a:solidFill>
              </a:defRPr>
            </a:lvl2pPr>
            <a:lvl3pPr algn="r">
              <a:defRPr sz="750" b="1">
                <a:solidFill>
                  <a:srgbClr val="92A3A9"/>
                </a:solidFill>
              </a:defRPr>
            </a:lvl3pPr>
            <a:lvl4pPr algn="r">
              <a:defRPr sz="750" b="1">
                <a:solidFill>
                  <a:srgbClr val="92A3A9"/>
                </a:solidFill>
              </a:defRPr>
            </a:lvl4pPr>
            <a:lvl5pPr algn="r">
              <a:defRPr sz="750" b="1">
                <a:solidFill>
                  <a:srgbClr val="92A3A9"/>
                </a:solidFill>
              </a:defRPr>
            </a:lvl5pPr>
            <a:lvl6pPr algn="r">
              <a:defRPr sz="750" b="1">
                <a:solidFill>
                  <a:srgbClr val="92A3A9"/>
                </a:solidFill>
              </a:defRPr>
            </a:lvl6pPr>
            <a:lvl7pPr algn="r">
              <a:defRPr sz="750" b="1">
                <a:solidFill>
                  <a:srgbClr val="92A3A9"/>
                </a:solidFill>
              </a:defRPr>
            </a:lvl7pPr>
            <a:lvl8pPr algn="r">
              <a:defRPr sz="750" b="1">
                <a:solidFill>
                  <a:srgbClr val="92A3A9"/>
                </a:solidFill>
              </a:defRPr>
            </a:lvl8pPr>
            <a:lvl9pPr algn="r">
              <a:defRPr sz="750" b="1">
                <a:solidFill>
                  <a:srgbClr val="92A3A9"/>
                </a:solidFill>
              </a:defRPr>
            </a:lvl9pPr>
          </a:lstStyle>
          <a:p xmlns:a="http://schemas.openxmlformats.org/drawingml/2006/main">
            <a:pPr algn="r">
              <a:defRPr sz="750" b="1">
                <a:solidFill>
                  <a:srgbClr val="92A3A9"/>
                </a:solidFill>
              </a:defRPr>
            </a:pPr>
            <a:r>
              <a:rPr sz="750" b="1">
                <a:solidFill>
                  <a:srgbClr val="92A3A9"/>
                </a:solidFill>
              </a:rPr>
              <a:t>BT-CAP · 18 OCT 2026</a:t>
            </a:r>
          </a:p>
        </p:txBody>
      </p:sp>
    </p:spTree>
    <p:extLst>
      <p:ext uri="{BB962C8B-B14F-4D97-AF65-F5344CB8AC3E}">
        <p14:creationId xmlns:p14="http://schemas.microsoft.com/office/powerpoint/2010/main" val="89681035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D131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8AA944B-1D56-4959-B531-887F1259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46BFC9"/>
                </a:solidFill>
              </a:defRPr>
            </a:defPPr>
            <a:lvl1pPr>
              <a:defRPr sz="975" b="1">
                <a:solidFill>
                  <a:srgbClr val="46BFC9"/>
                </a:solidFill>
              </a:defRPr>
            </a:lvl1pPr>
            <a:lvl2pPr>
              <a:defRPr sz="975" b="1">
                <a:solidFill>
                  <a:srgbClr val="46BFC9"/>
                </a:solidFill>
              </a:defRPr>
            </a:lvl2pPr>
            <a:lvl3pPr>
              <a:defRPr sz="975" b="1">
                <a:solidFill>
                  <a:srgbClr val="46BFC9"/>
                </a:solidFill>
              </a:defRPr>
            </a:lvl3pPr>
            <a:lvl4pPr>
              <a:defRPr sz="975" b="1">
                <a:solidFill>
                  <a:srgbClr val="46BFC9"/>
                </a:solidFill>
              </a:defRPr>
            </a:lvl4pPr>
            <a:lvl5pPr>
              <a:defRPr sz="975" b="1">
                <a:solidFill>
                  <a:srgbClr val="46BFC9"/>
                </a:solidFill>
              </a:defRPr>
            </a:lvl5pPr>
            <a:lvl6pPr>
              <a:defRPr sz="975" b="1">
                <a:solidFill>
                  <a:srgbClr val="46BFC9"/>
                </a:solidFill>
              </a:defRPr>
            </a:lvl6pPr>
            <a:lvl7pPr>
              <a:defRPr sz="975" b="1">
                <a:solidFill>
                  <a:srgbClr val="46BFC9"/>
                </a:solidFill>
              </a:defRPr>
            </a:lvl7pPr>
            <a:lvl8pPr>
              <a:defRPr sz="975" b="1">
                <a:solidFill>
                  <a:srgbClr val="46BFC9"/>
                </a:solidFill>
              </a:defRPr>
            </a:lvl8pPr>
            <a:lvl9pPr>
              <a:defRPr sz="975" b="1">
                <a:solidFill>
                  <a:srgbClr val="46BFC9"/>
                </a:solidFill>
              </a:defRPr>
            </a:lvl9pPr>
          </a:lstStyle>
          <a:p xmlns:a="http://schemas.openxmlformats.org/drawingml/2006/main">
            <a:pPr>
              <a:defRPr sz="975" b="1">
                <a:solidFill>
                  <a:srgbClr val="46BFC9"/>
                </a:solidFill>
              </a:defRPr>
            </a:pPr>
            <a:r>
              <a:rPr sz="975" b="1">
                <a:solidFill>
                  <a:srgbClr val="46BFC9"/>
                </a:solidFill>
              </a:rPr>
              <a:t>CONCLUSIONS AND NEXT STEPS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16BE1C-8CF4-40DD-BCF7-52A1A9A0E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"/>
            <a:ext cx="10572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E1E9EC"/>
                </a:solidFill>
              </a:defRPr>
            </a:defPPr>
            <a:lvl1pPr>
              <a:defRPr sz="2550" b="1">
                <a:solidFill>
                  <a:srgbClr val="E1E9EC"/>
                </a:solidFill>
              </a:defRPr>
            </a:lvl1pPr>
            <a:lvl2pPr>
              <a:defRPr sz="2550" b="1">
                <a:solidFill>
                  <a:srgbClr val="E1E9EC"/>
                </a:solidFill>
              </a:defRPr>
            </a:lvl2pPr>
            <a:lvl3pPr>
              <a:defRPr sz="2550" b="1">
                <a:solidFill>
                  <a:srgbClr val="E1E9EC"/>
                </a:solidFill>
              </a:defRPr>
            </a:lvl3pPr>
            <a:lvl4pPr>
              <a:defRPr sz="2550" b="1">
                <a:solidFill>
                  <a:srgbClr val="E1E9EC"/>
                </a:solidFill>
              </a:defRPr>
            </a:lvl4pPr>
            <a:lvl5pPr>
              <a:defRPr sz="2550" b="1">
                <a:solidFill>
                  <a:srgbClr val="E1E9EC"/>
                </a:solidFill>
              </a:defRPr>
            </a:lvl5pPr>
            <a:lvl6pPr>
              <a:defRPr sz="2550" b="1">
                <a:solidFill>
                  <a:srgbClr val="E1E9EC"/>
                </a:solidFill>
              </a:defRPr>
            </a:lvl6pPr>
            <a:lvl7pPr>
              <a:defRPr sz="2550" b="1">
                <a:solidFill>
                  <a:srgbClr val="E1E9EC"/>
                </a:solidFill>
              </a:defRPr>
            </a:lvl7pPr>
            <a:lvl8pPr>
              <a:defRPr sz="2550" b="1">
                <a:solidFill>
                  <a:srgbClr val="E1E9EC"/>
                </a:solidFill>
              </a:defRPr>
            </a:lvl8pPr>
            <a:lvl9pPr>
              <a:defRPr sz="2550" b="1">
                <a:solidFill>
                  <a:srgbClr val="E1E9EC"/>
                </a:solidFill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E1E9EC"/>
                </a:solidFill>
              </a:defRPr>
            </a:pPr>
            <a:r>
              <a:rPr sz="2550" b="1">
                <a:solidFill>
                  <a:srgbClr val="E1E9EC"/>
                </a:solidFill>
              </a:rPr>
              <a:t>We can now move from evidence to reviewable nominees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CC754A-7E1A-4373-89EB-E4BB6B999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382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38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8BC296-B736-4F69-AF43-36AE1332D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52425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900" b="1">
                <a:solidFill>
                  <a:srgbClr val="92A3A9"/>
                </a:solidFill>
              </a:defRPr>
            </a:defPPr>
            <a:lvl1pPr algn="r">
              <a:defRPr sz="900" b="1">
                <a:solidFill>
                  <a:srgbClr val="92A3A9"/>
                </a:solidFill>
              </a:defRPr>
            </a:lvl1pPr>
            <a:lvl2pPr algn="r">
              <a:defRPr sz="900" b="1">
                <a:solidFill>
                  <a:srgbClr val="92A3A9"/>
                </a:solidFill>
              </a:defRPr>
            </a:lvl2pPr>
            <a:lvl3pPr algn="r">
              <a:defRPr sz="900" b="1">
                <a:solidFill>
                  <a:srgbClr val="92A3A9"/>
                </a:solidFill>
              </a:defRPr>
            </a:lvl3pPr>
            <a:lvl4pPr algn="r">
              <a:defRPr sz="900" b="1">
                <a:solidFill>
                  <a:srgbClr val="92A3A9"/>
                </a:solidFill>
              </a:defRPr>
            </a:lvl4pPr>
            <a:lvl5pPr algn="r">
              <a:defRPr sz="900" b="1">
                <a:solidFill>
                  <a:srgbClr val="92A3A9"/>
                </a:solidFill>
              </a:defRPr>
            </a:lvl5pPr>
            <a:lvl6pPr algn="r">
              <a:defRPr sz="900" b="1">
                <a:solidFill>
                  <a:srgbClr val="92A3A9"/>
                </a:solidFill>
              </a:defRPr>
            </a:lvl6pPr>
            <a:lvl7pPr algn="r">
              <a:defRPr sz="900" b="1">
                <a:solidFill>
                  <a:srgbClr val="92A3A9"/>
                </a:solidFill>
              </a:defRPr>
            </a:lvl7pPr>
            <a:lvl8pPr algn="r">
              <a:defRPr sz="900" b="1">
                <a:solidFill>
                  <a:srgbClr val="92A3A9"/>
                </a:solidFill>
              </a:defRPr>
            </a:lvl8pPr>
            <a:lvl9pPr algn="r">
              <a:defRPr sz="900" b="1">
                <a:solidFill>
                  <a:srgbClr val="92A3A9"/>
                </a:solidFill>
              </a:defRPr>
            </a:lvl9pPr>
          </a:lstStyle>
          <a:p xmlns:a="http://schemas.openxmlformats.org/drawingml/2006/main">
            <a:pPr algn="r">
              <a:defRPr sz="900" b="1">
                <a:solidFill>
                  <a:srgbClr val="92A3A9"/>
                </a:solidFill>
              </a:defRPr>
            </a:pPr>
            <a:r>
              <a:rPr sz="900" b="1">
                <a:solidFill>
                  <a:srgbClr val="92A3A9"/>
                </a:solidFill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54494F-4020-4BEB-A22E-BF465A2C7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95425"/>
            <a:ext cx="5105400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141C20"/>
          </a:solidFill>
          <a:ln xmlns:a="http://schemas.openxmlformats.org/drawingml/2006/main" w="9525">
            <a:solidFill>
              <a:srgbClr val="2A383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4E3388-FD40-4172-B702-244E16A65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9070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E1E9EC"/>
                </a:solidFill>
              </a:defRPr>
            </a:defPPr>
            <a:lvl1pPr>
              <a:defRPr sz="1800" b="1">
                <a:solidFill>
                  <a:srgbClr val="E1E9EC"/>
                </a:solidFill>
              </a:defRPr>
            </a:lvl1pPr>
            <a:lvl2pPr>
              <a:defRPr sz="1800" b="1">
                <a:solidFill>
                  <a:srgbClr val="E1E9EC"/>
                </a:solidFill>
              </a:defRPr>
            </a:lvl2pPr>
            <a:lvl3pPr>
              <a:defRPr sz="1800" b="1">
                <a:solidFill>
                  <a:srgbClr val="E1E9EC"/>
                </a:solidFill>
              </a:defRPr>
            </a:lvl3pPr>
            <a:lvl4pPr>
              <a:defRPr sz="1800" b="1">
                <a:solidFill>
                  <a:srgbClr val="E1E9EC"/>
                </a:solidFill>
              </a:defRPr>
            </a:lvl4pPr>
            <a:lvl5pPr>
              <a:defRPr sz="1800" b="1">
                <a:solidFill>
                  <a:srgbClr val="E1E9EC"/>
                </a:solidFill>
              </a:defRPr>
            </a:lvl5pPr>
            <a:lvl6pPr>
              <a:defRPr sz="1800" b="1">
                <a:solidFill>
                  <a:srgbClr val="E1E9EC"/>
                </a:solidFill>
              </a:defRPr>
            </a:lvl6pPr>
            <a:lvl7pPr>
              <a:defRPr sz="1800" b="1">
                <a:solidFill>
                  <a:srgbClr val="E1E9EC"/>
                </a:solidFill>
              </a:defRPr>
            </a:lvl7pPr>
            <a:lvl8pPr>
              <a:defRPr sz="1800" b="1">
                <a:solidFill>
                  <a:srgbClr val="E1E9EC"/>
                </a:solidFill>
              </a:defRPr>
            </a:lvl8pPr>
            <a:lvl9pPr>
              <a:defRPr sz="1800" b="1">
                <a:solidFill>
                  <a:srgbClr val="E1E9EC"/>
                </a:solidFill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E1E9EC"/>
                </a:solidFill>
              </a:defRPr>
            </a:pPr>
            <a:r>
              <a:rPr sz="1800" b="1">
                <a:solidFill>
                  <a:srgbClr val="E1E9EC"/>
                </a:solidFill>
              </a:rPr>
              <a:t>What is complete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9BF0C0-22B7-4DF0-AA71-6BA11D589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193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BF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87C1F3-5EB7-4457-9089-E72BD4A9C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43150"/>
            <a:ext cx="4095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E1E9EC"/>
                </a:solidFill>
              </a:defRPr>
            </a:defPPr>
            <a:lvl1pPr>
              <a:defRPr sz="1425" b="0">
                <a:solidFill>
                  <a:srgbClr val="E1E9EC"/>
                </a:solidFill>
              </a:defRPr>
            </a:lvl1pPr>
            <a:lvl2pPr>
              <a:defRPr sz="1425" b="0">
                <a:solidFill>
                  <a:srgbClr val="E1E9EC"/>
                </a:solidFill>
              </a:defRPr>
            </a:lvl2pPr>
            <a:lvl3pPr>
              <a:defRPr sz="1425" b="0">
                <a:solidFill>
                  <a:srgbClr val="E1E9EC"/>
                </a:solidFill>
              </a:defRPr>
            </a:lvl3pPr>
            <a:lvl4pPr>
              <a:defRPr sz="1425" b="0">
                <a:solidFill>
                  <a:srgbClr val="E1E9EC"/>
                </a:solidFill>
              </a:defRPr>
            </a:lvl4pPr>
            <a:lvl5pPr>
              <a:defRPr sz="1425" b="0">
                <a:solidFill>
                  <a:srgbClr val="E1E9EC"/>
                </a:solidFill>
              </a:defRPr>
            </a:lvl5pPr>
            <a:lvl6pPr>
              <a:defRPr sz="1425" b="0">
                <a:solidFill>
                  <a:srgbClr val="E1E9EC"/>
                </a:solidFill>
              </a:defRPr>
            </a:lvl6pPr>
            <a:lvl7pPr>
              <a:defRPr sz="1425" b="0">
                <a:solidFill>
                  <a:srgbClr val="E1E9EC"/>
                </a:solidFill>
              </a:defRPr>
            </a:lvl7pPr>
            <a:lvl8pPr>
              <a:defRPr sz="1425" b="0">
                <a:solidFill>
                  <a:srgbClr val="E1E9EC"/>
                </a:solidFill>
              </a:defRPr>
            </a:lvl8pPr>
            <a:lvl9pPr>
              <a:defRPr sz="1425" b="0">
                <a:solidFill>
                  <a:srgbClr val="E1E9EC"/>
                </a:solidFill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E1E9EC"/>
                </a:solidFill>
              </a:defRPr>
            </a:pPr>
            <a:r>
              <a:rPr sz="1425" b="0">
                <a:solidFill>
                  <a:srgbClr val="E1E9EC"/>
                </a:solidFill>
              </a:rPr>
              <a:t>Grounded question answering across CellChat, DEG, annotation, and counts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5A6F60-FB84-4E80-8430-2257D16AD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813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BF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404D4C-4BA9-47E1-8F2D-CBE805D04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105150"/>
            <a:ext cx="409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E1E9EC"/>
                </a:solidFill>
              </a:defRPr>
            </a:defPPr>
            <a:lvl1pPr>
              <a:defRPr sz="1425" b="0">
                <a:solidFill>
                  <a:srgbClr val="E1E9EC"/>
                </a:solidFill>
              </a:defRPr>
            </a:lvl1pPr>
            <a:lvl2pPr>
              <a:defRPr sz="1425" b="0">
                <a:solidFill>
                  <a:srgbClr val="E1E9EC"/>
                </a:solidFill>
              </a:defRPr>
            </a:lvl2pPr>
            <a:lvl3pPr>
              <a:defRPr sz="1425" b="0">
                <a:solidFill>
                  <a:srgbClr val="E1E9EC"/>
                </a:solidFill>
              </a:defRPr>
            </a:lvl3pPr>
            <a:lvl4pPr>
              <a:defRPr sz="1425" b="0">
                <a:solidFill>
                  <a:srgbClr val="E1E9EC"/>
                </a:solidFill>
              </a:defRPr>
            </a:lvl4pPr>
            <a:lvl5pPr>
              <a:defRPr sz="1425" b="0">
                <a:solidFill>
                  <a:srgbClr val="E1E9EC"/>
                </a:solidFill>
              </a:defRPr>
            </a:lvl5pPr>
            <a:lvl6pPr>
              <a:defRPr sz="1425" b="0">
                <a:solidFill>
                  <a:srgbClr val="E1E9EC"/>
                </a:solidFill>
              </a:defRPr>
            </a:lvl6pPr>
            <a:lvl7pPr>
              <a:defRPr sz="1425" b="0">
                <a:solidFill>
                  <a:srgbClr val="E1E9EC"/>
                </a:solidFill>
              </a:defRPr>
            </a:lvl7pPr>
            <a:lvl8pPr>
              <a:defRPr sz="1425" b="0">
                <a:solidFill>
                  <a:srgbClr val="E1E9EC"/>
                </a:solidFill>
              </a:defRPr>
            </a:lvl8pPr>
            <a:lvl9pPr>
              <a:defRPr sz="1425" b="0">
                <a:solidFill>
                  <a:srgbClr val="E1E9EC"/>
                </a:solidFill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E1E9EC"/>
                </a:solidFill>
              </a:defRPr>
            </a:pPr>
            <a:r>
              <a:rPr sz="1425" b="0">
                <a:solidFill>
                  <a:srgbClr val="E1E9EC"/>
                </a:solidFill>
              </a:rPr>
              <a:t>Held-out tumor-synaptic and immune-synapse gene ranking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CAF505-24D9-44F3-A169-A8ACD21E3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671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BF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780F35-D188-4DA9-8297-B886791A9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790950"/>
            <a:ext cx="4095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E1E9EC"/>
                </a:solidFill>
              </a:defRPr>
            </a:defPPr>
            <a:lvl1pPr>
              <a:defRPr sz="1425" b="0">
                <a:solidFill>
                  <a:srgbClr val="E1E9EC"/>
                </a:solidFill>
              </a:defRPr>
            </a:lvl1pPr>
            <a:lvl2pPr>
              <a:defRPr sz="1425" b="0">
                <a:solidFill>
                  <a:srgbClr val="E1E9EC"/>
                </a:solidFill>
              </a:defRPr>
            </a:lvl2pPr>
            <a:lvl3pPr>
              <a:defRPr sz="1425" b="0">
                <a:solidFill>
                  <a:srgbClr val="E1E9EC"/>
                </a:solidFill>
              </a:defRPr>
            </a:lvl3pPr>
            <a:lvl4pPr>
              <a:defRPr sz="1425" b="0">
                <a:solidFill>
                  <a:srgbClr val="E1E9EC"/>
                </a:solidFill>
              </a:defRPr>
            </a:lvl4pPr>
            <a:lvl5pPr>
              <a:defRPr sz="1425" b="0">
                <a:solidFill>
                  <a:srgbClr val="E1E9EC"/>
                </a:solidFill>
              </a:defRPr>
            </a:lvl5pPr>
            <a:lvl6pPr>
              <a:defRPr sz="1425" b="0">
                <a:solidFill>
                  <a:srgbClr val="E1E9EC"/>
                </a:solidFill>
              </a:defRPr>
            </a:lvl6pPr>
            <a:lvl7pPr>
              <a:defRPr sz="1425" b="0">
                <a:solidFill>
                  <a:srgbClr val="E1E9EC"/>
                </a:solidFill>
              </a:defRPr>
            </a:lvl7pPr>
            <a:lvl8pPr>
              <a:defRPr sz="1425" b="0">
                <a:solidFill>
                  <a:srgbClr val="E1E9EC"/>
                </a:solidFill>
              </a:defRPr>
            </a:lvl8pPr>
            <a:lvl9pPr>
              <a:defRPr sz="1425" b="0">
                <a:solidFill>
                  <a:srgbClr val="E1E9EC"/>
                </a:solidFill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E1E9EC"/>
                </a:solidFill>
              </a:defRPr>
            </a:pPr>
            <a:r>
              <a:rPr sz="1425" b="0">
                <a:solidFill>
                  <a:srgbClr val="E1E9EC"/>
                </a:solidFill>
              </a:rPr>
              <a:t>nominate_lookup connects ranker scores back to tool traces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3FCB0A-B854-4741-BEFD-5337D4942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529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6BF8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067BC2-B2C8-4161-9428-BE5234B58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76750"/>
            <a:ext cx="4095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425" b="0">
                <a:solidFill>
                  <a:srgbClr val="E1E9EC"/>
                </a:solidFill>
              </a:defRPr>
            </a:defPPr>
            <a:lvl1pPr>
              <a:defRPr sz="1425" b="0">
                <a:solidFill>
                  <a:srgbClr val="E1E9EC"/>
                </a:solidFill>
              </a:defRPr>
            </a:lvl1pPr>
            <a:lvl2pPr>
              <a:defRPr sz="1425" b="0">
                <a:solidFill>
                  <a:srgbClr val="E1E9EC"/>
                </a:solidFill>
              </a:defRPr>
            </a:lvl2pPr>
            <a:lvl3pPr>
              <a:defRPr sz="1425" b="0">
                <a:solidFill>
                  <a:srgbClr val="E1E9EC"/>
                </a:solidFill>
              </a:defRPr>
            </a:lvl3pPr>
            <a:lvl4pPr>
              <a:defRPr sz="1425" b="0">
                <a:solidFill>
                  <a:srgbClr val="E1E9EC"/>
                </a:solidFill>
              </a:defRPr>
            </a:lvl4pPr>
            <a:lvl5pPr>
              <a:defRPr sz="1425" b="0">
                <a:solidFill>
                  <a:srgbClr val="E1E9EC"/>
                </a:solidFill>
              </a:defRPr>
            </a:lvl5pPr>
            <a:lvl6pPr>
              <a:defRPr sz="1425" b="0">
                <a:solidFill>
                  <a:srgbClr val="E1E9EC"/>
                </a:solidFill>
              </a:defRPr>
            </a:lvl6pPr>
            <a:lvl7pPr>
              <a:defRPr sz="1425" b="0">
                <a:solidFill>
                  <a:srgbClr val="E1E9EC"/>
                </a:solidFill>
              </a:defRPr>
            </a:lvl7pPr>
            <a:lvl8pPr>
              <a:defRPr sz="1425" b="0">
                <a:solidFill>
                  <a:srgbClr val="E1E9EC"/>
                </a:solidFill>
              </a:defRPr>
            </a:lvl8pPr>
            <a:lvl9pPr>
              <a:defRPr sz="1425" b="0">
                <a:solidFill>
                  <a:srgbClr val="E1E9EC"/>
                </a:solidFill>
              </a:defRPr>
            </a:lvl9pPr>
          </a:lstStyle>
          <a:p xmlns:a="http://schemas.openxmlformats.org/drawingml/2006/main">
            <a:pPr>
              <a:defRPr sz="1425" b="0">
                <a:solidFill>
                  <a:srgbClr val="E1E9EC"/>
                </a:solidFill>
              </a:defRPr>
            </a:pPr>
            <a:r>
              <a:rPr sz="1425" b="0">
                <a:solidFill>
                  <a:srgbClr val="E1E9EC"/>
                </a:solidFill>
              </a:rPr>
              <a:t>Portal integration, caching, regression tests, and exportable tables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E54723-C139-4E07-B495-760D4C4B8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67325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1">
                <a:solidFill>
                  <a:srgbClr val="46BFC9"/>
                </a:solidFill>
              </a:defRPr>
            </a:defPPr>
            <a:lvl1pPr>
              <a:defRPr sz="1200" b="1">
                <a:solidFill>
                  <a:srgbClr val="46BFC9"/>
                </a:solidFill>
              </a:defRPr>
            </a:lvl1pPr>
            <a:lvl2pPr>
              <a:defRPr sz="1200" b="1">
                <a:solidFill>
                  <a:srgbClr val="46BFC9"/>
                </a:solidFill>
              </a:defRPr>
            </a:lvl2pPr>
            <a:lvl3pPr>
              <a:defRPr sz="1200" b="1">
                <a:solidFill>
                  <a:srgbClr val="46BFC9"/>
                </a:solidFill>
              </a:defRPr>
            </a:lvl3pPr>
            <a:lvl4pPr>
              <a:defRPr sz="1200" b="1">
                <a:solidFill>
                  <a:srgbClr val="46BFC9"/>
                </a:solidFill>
              </a:defRPr>
            </a:lvl4pPr>
            <a:lvl5pPr>
              <a:defRPr sz="1200" b="1">
                <a:solidFill>
                  <a:srgbClr val="46BFC9"/>
                </a:solidFill>
              </a:defRPr>
            </a:lvl5pPr>
            <a:lvl6pPr>
              <a:defRPr sz="1200" b="1">
                <a:solidFill>
                  <a:srgbClr val="46BFC9"/>
                </a:solidFill>
              </a:defRPr>
            </a:lvl6pPr>
            <a:lvl7pPr>
              <a:defRPr sz="1200" b="1">
                <a:solidFill>
                  <a:srgbClr val="46BFC9"/>
                </a:solidFill>
              </a:defRPr>
            </a:lvl7pPr>
            <a:lvl8pPr>
              <a:defRPr sz="1200" b="1">
                <a:solidFill>
                  <a:srgbClr val="46BFC9"/>
                </a:solidFill>
              </a:defRPr>
            </a:lvl8pPr>
            <a:lvl9pPr>
              <a:defRPr sz="1200" b="1">
                <a:solidFill>
                  <a:srgbClr val="46BFC9"/>
                </a:solidFill>
              </a:defRPr>
            </a:lvl9pPr>
          </a:lstStyle>
          <a:p xmlns:a="http://schemas.openxmlformats.org/drawingml/2006/main">
            <a:pPr>
              <a:defRPr sz="1200" b="1">
                <a:solidFill>
                  <a:srgbClr val="46BFC9"/>
                </a:solidFill>
              </a:defRPr>
            </a:pPr>
            <a:r>
              <a:rPr sz="1200" b="1">
                <a:solidFill>
                  <a:srgbClr val="46BFC9"/>
                </a:solidFill>
              </a:rPr>
              <a:t>Next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FEB176-828F-488F-A5CE-F6E963B71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210175"/>
            <a:ext cx="3714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1">
                <a:solidFill>
                  <a:srgbClr val="E1E9EC"/>
                </a:solidFill>
              </a:defRPr>
            </a:defPPr>
            <a:lvl1pPr>
              <a:defRPr sz="1275" b="1">
                <a:solidFill>
                  <a:srgbClr val="E1E9EC"/>
                </a:solidFill>
              </a:defRPr>
            </a:lvl1pPr>
            <a:lvl2pPr>
              <a:defRPr sz="1275" b="1">
                <a:solidFill>
                  <a:srgbClr val="E1E9EC"/>
                </a:solidFill>
              </a:defRPr>
            </a:lvl2pPr>
            <a:lvl3pPr>
              <a:defRPr sz="1275" b="1">
                <a:solidFill>
                  <a:srgbClr val="E1E9EC"/>
                </a:solidFill>
              </a:defRPr>
            </a:lvl3pPr>
            <a:lvl4pPr>
              <a:defRPr sz="1275" b="1">
                <a:solidFill>
                  <a:srgbClr val="E1E9EC"/>
                </a:solidFill>
              </a:defRPr>
            </a:lvl4pPr>
            <a:lvl5pPr>
              <a:defRPr sz="1275" b="1">
                <a:solidFill>
                  <a:srgbClr val="E1E9EC"/>
                </a:solidFill>
              </a:defRPr>
            </a:lvl5pPr>
            <a:lvl6pPr>
              <a:defRPr sz="1275" b="1">
                <a:solidFill>
                  <a:srgbClr val="E1E9EC"/>
                </a:solidFill>
              </a:defRPr>
            </a:lvl6pPr>
            <a:lvl7pPr>
              <a:defRPr sz="1275" b="1">
                <a:solidFill>
                  <a:srgbClr val="E1E9EC"/>
                </a:solidFill>
              </a:defRPr>
            </a:lvl7pPr>
            <a:lvl8pPr>
              <a:defRPr sz="1275" b="1">
                <a:solidFill>
                  <a:srgbClr val="E1E9EC"/>
                </a:solidFill>
              </a:defRPr>
            </a:lvl8pPr>
            <a:lvl9pPr>
              <a:defRPr sz="1275" b="1">
                <a:solidFill>
                  <a:srgbClr val="E1E9EC"/>
                </a:solidFill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E1E9EC"/>
                </a:solidFill>
              </a:defRPr>
            </a:pPr>
            <a:r>
              <a:rPr sz="1275" b="1">
                <a:solidFill>
                  <a:srgbClr val="E1E9EC"/>
                </a:solidFill>
              </a:rPr>
              <a:t>Review top novel nominees with the team, then prioritize experimental validation.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E67958-3FE0-4981-8398-6CB17F282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476375"/>
            <a:ext cx="5543550" cy="3181350"/>
          </a:xfrm>
          <a:prstGeom xmlns:a="http://schemas.openxmlformats.org/drawingml/2006/main" prst="roundRect">
            <a:avLst>
              <a:gd name="adj" fmla="val 4790"/>
            </a:avLst>
          </a:prstGeom>
          <a:solidFill xmlns:a="http://schemas.openxmlformats.org/drawingml/2006/main">
            <a:srgbClr val="182329"/>
          </a:solidFill>
          <a:ln xmlns:a="http://schemas.openxmlformats.org/drawingml/2006/main" w="9525">
            <a:solidFill>
              <a:srgbClr val="2A383D"/>
            </a:solidFill>
            <a:prstDash val="solid"/>
          </a:ln>
        </p:spPr>
      </p:sp>
      <p:pic>
        <p:nvPic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691860-0142-498C-BD1D-ED2BC7EA360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ee4bd3c7874615"/>
          <a:srcRect xmlns:a="http://schemas.openxmlformats.org/drawingml/2006/main" l="36000" t="6000" r="0" b="3000"/>
          <a:stretch xmlns:a="http://schemas.openxmlformats.org/drawingml/2006/main"/>
        </p:blipFill>
        <p:spPr>
          <a:xfrm xmlns:a="http://schemas.openxmlformats.org/drawingml/2006/main">
            <a:off x="6076950" y="1495425"/>
            <a:ext cx="550545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CD4169-B14A-4249-A8C5-781A4313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848225"/>
            <a:ext cx="5505450" cy="9144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A2013"/>
          </a:solidFill>
          <a:ln xmlns:a="http://schemas.openxmlformats.org/drawingml/2006/main" w="9525">
            <a:solidFill>
              <a:srgbClr val="E2A84E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9EBD78-DFBC-4404-94AD-346E09AED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02920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E2A84E"/>
                </a:solidFill>
              </a:defRPr>
            </a:defPPr>
            <a:lvl1pPr>
              <a:defRPr sz="1350" b="1">
                <a:solidFill>
                  <a:srgbClr val="E2A84E"/>
                </a:solidFill>
              </a:defRPr>
            </a:lvl1pPr>
            <a:lvl2pPr>
              <a:defRPr sz="1350" b="1">
                <a:solidFill>
                  <a:srgbClr val="E2A84E"/>
                </a:solidFill>
              </a:defRPr>
            </a:lvl2pPr>
            <a:lvl3pPr>
              <a:defRPr sz="1350" b="1">
                <a:solidFill>
                  <a:srgbClr val="E2A84E"/>
                </a:solidFill>
              </a:defRPr>
            </a:lvl3pPr>
            <a:lvl4pPr>
              <a:defRPr sz="1350" b="1">
                <a:solidFill>
                  <a:srgbClr val="E2A84E"/>
                </a:solidFill>
              </a:defRPr>
            </a:lvl4pPr>
            <a:lvl5pPr>
              <a:defRPr sz="1350" b="1">
                <a:solidFill>
                  <a:srgbClr val="E2A84E"/>
                </a:solidFill>
              </a:defRPr>
            </a:lvl5pPr>
            <a:lvl6pPr>
              <a:defRPr sz="1350" b="1">
                <a:solidFill>
                  <a:srgbClr val="E2A84E"/>
                </a:solidFill>
              </a:defRPr>
            </a:lvl6pPr>
            <a:lvl7pPr>
              <a:defRPr sz="1350" b="1">
                <a:solidFill>
                  <a:srgbClr val="E2A84E"/>
                </a:solidFill>
              </a:defRPr>
            </a:lvl7pPr>
            <a:lvl8pPr>
              <a:defRPr sz="1350" b="1">
                <a:solidFill>
                  <a:srgbClr val="E2A84E"/>
                </a:solidFill>
              </a:defRPr>
            </a:lvl8pPr>
            <a:lvl9pPr>
              <a:defRPr sz="1350" b="1">
                <a:solidFill>
                  <a:srgbClr val="E2A84E"/>
                </a:solidFill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E2A84E"/>
                </a:solidFill>
              </a:defRPr>
            </a:pPr>
            <a:r>
              <a:rPr sz="1350" b="1">
                <a:solidFill>
                  <a:srgbClr val="E2A84E"/>
                </a:solidFill>
              </a:rPr>
              <a:t>Guardrail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17AE551-0CDC-4842-8486-DB8F0D81C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30542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E1E9EC"/>
                </a:solidFill>
              </a:defRPr>
            </a:defPPr>
            <a:lvl1pPr>
              <a:defRPr sz="1200" b="0">
                <a:solidFill>
                  <a:srgbClr val="E1E9EC"/>
                </a:solidFill>
              </a:defRPr>
            </a:lvl1pPr>
            <a:lvl2pPr>
              <a:defRPr sz="1200" b="0">
                <a:solidFill>
                  <a:srgbClr val="E1E9EC"/>
                </a:solidFill>
              </a:defRPr>
            </a:lvl2pPr>
            <a:lvl3pPr>
              <a:defRPr sz="1200" b="0">
                <a:solidFill>
                  <a:srgbClr val="E1E9EC"/>
                </a:solidFill>
              </a:defRPr>
            </a:lvl3pPr>
            <a:lvl4pPr>
              <a:defRPr sz="1200" b="0">
                <a:solidFill>
                  <a:srgbClr val="E1E9EC"/>
                </a:solidFill>
              </a:defRPr>
            </a:lvl4pPr>
            <a:lvl5pPr>
              <a:defRPr sz="1200" b="0">
                <a:solidFill>
                  <a:srgbClr val="E1E9EC"/>
                </a:solidFill>
              </a:defRPr>
            </a:lvl5pPr>
            <a:lvl6pPr>
              <a:defRPr sz="1200" b="0">
                <a:solidFill>
                  <a:srgbClr val="E1E9EC"/>
                </a:solidFill>
              </a:defRPr>
            </a:lvl6pPr>
            <a:lvl7pPr>
              <a:defRPr sz="1200" b="0">
                <a:solidFill>
                  <a:srgbClr val="E1E9EC"/>
                </a:solidFill>
              </a:defRPr>
            </a:lvl7pPr>
            <a:lvl8pPr>
              <a:defRPr sz="1200" b="0">
                <a:solidFill>
                  <a:srgbClr val="E1E9EC"/>
                </a:solidFill>
              </a:defRPr>
            </a:lvl8pPr>
            <a:lvl9pPr>
              <a:defRPr sz="1200" b="0">
                <a:solidFill>
                  <a:srgbClr val="E1E9EC"/>
                </a:solidFill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E1E9EC"/>
                </a:solidFill>
              </a:defRPr>
            </a:pPr>
            <a:r>
              <a:rPr sz="1200" b="0">
                <a:solidFill>
                  <a:srgbClr val="E1E9EC"/>
                </a:solidFill>
              </a:rPr>
              <a:t>If the evidence is absent, the portal says “not in the tables” instead of inventing a result.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9399AEE-ED00-4A50-9154-07588FD76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1009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750" b="0">
                <a:solidFill>
                  <a:srgbClr val="92A3A9"/>
                </a:solidFill>
              </a:defRPr>
            </a:defPPr>
            <a:lvl1pPr>
              <a:defRPr sz="750" b="0">
                <a:solidFill>
                  <a:srgbClr val="92A3A9"/>
                </a:solidFill>
              </a:defRPr>
            </a:lvl1pPr>
            <a:lvl2pPr>
              <a:defRPr sz="750" b="0">
                <a:solidFill>
                  <a:srgbClr val="92A3A9"/>
                </a:solidFill>
              </a:defRPr>
            </a:lvl2pPr>
            <a:lvl3pPr>
              <a:defRPr sz="750" b="0">
                <a:solidFill>
                  <a:srgbClr val="92A3A9"/>
                </a:solidFill>
              </a:defRPr>
            </a:lvl3pPr>
            <a:lvl4pPr>
              <a:defRPr sz="750" b="0">
                <a:solidFill>
                  <a:srgbClr val="92A3A9"/>
                </a:solidFill>
              </a:defRPr>
            </a:lvl4pPr>
            <a:lvl5pPr>
              <a:defRPr sz="750" b="0">
                <a:solidFill>
                  <a:srgbClr val="92A3A9"/>
                </a:solidFill>
              </a:defRPr>
            </a:lvl5pPr>
            <a:lvl6pPr>
              <a:defRPr sz="750" b="0">
                <a:solidFill>
                  <a:srgbClr val="92A3A9"/>
                </a:solidFill>
              </a:defRPr>
            </a:lvl6pPr>
            <a:lvl7pPr>
              <a:defRPr sz="750" b="0">
                <a:solidFill>
                  <a:srgbClr val="92A3A9"/>
                </a:solidFill>
              </a:defRPr>
            </a:lvl7pPr>
            <a:lvl8pPr>
              <a:defRPr sz="750" b="0">
                <a:solidFill>
                  <a:srgbClr val="92A3A9"/>
                </a:solidFill>
              </a:defRPr>
            </a:lvl8pPr>
            <a:lvl9pPr>
              <a:defRPr sz="750" b="0">
                <a:solidFill>
                  <a:srgbClr val="92A3A9"/>
                </a:solidFill>
              </a:defRPr>
            </a:lvl9pPr>
          </a:lstStyle>
          <a:p xmlns:a="http://schemas.openxmlformats.org/drawingml/2006/main">
            <a:pPr>
              <a:defRPr sz="750" b="0">
                <a:solidFill>
                  <a:srgbClr val="92A3A9"/>
                </a:solidFill>
              </a:defRPr>
            </a:pPr>
            <a:r>
              <a:rPr sz="750" b="0">
                <a:solidFill>
                  <a:srgbClr val="92A3A9"/>
                </a:solidFill>
              </a:rPr>
              <a:t>Measured results through 18 Oct 2026 · experimental validation remains future work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C512997-4635-4286-93C1-1C04C06FC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15100"/>
            <a:ext cx="1676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r">
              <a:defRPr sz="750" b="1">
                <a:solidFill>
                  <a:srgbClr val="92A3A9"/>
                </a:solidFill>
              </a:defRPr>
            </a:defPPr>
            <a:lvl1pPr algn="r">
              <a:defRPr sz="750" b="1">
                <a:solidFill>
                  <a:srgbClr val="92A3A9"/>
                </a:solidFill>
              </a:defRPr>
            </a:lvl1pPr>
            <a:lvl2pPr algn="r">
              <a:defRPr sz="750" b="1">
                <a:solidFill>
                  <a:srgbClr val="92A3A9"/>
                </a:solidFill>
              </a:defRPr>
            </a:lvl2pPr>
            <a:lvl3pPr algn="r">
              <a:defRPr sz="750" b="1">
                <a:solidFill>
                  <a:srgbClr val="92A3A9"/>
                </a:solidFill>
              </a:defRPr>
            </a:lvl3pPr>
            <a:lvl4pPr algn="r">
              <a:defRPr sz="750" b="1">
                <a:solidFill>
                  <a:srgbClr val="92A3A9"/>
                </a:solidFill>
              </a:defRPr>
            </a:lvl4pPr>
            <a:lvl5pPr algn="r">
              <a:defRPr sz="750" b="1">
                <a:solidFill>
                  <a:srgbClr val="92A3A9"/>
                </a:solidFill>
              </a:defRPr>
            </a:lvl5pPr>
            <a:lvl6pPr algn="r">
              <a:defRPr sz="750" b="1">
                <a:solidFill>
                  <a:srgbClr val="92A3A9"/>
                </a:solidFill>
              </a:defRPr>
            </a:lvl6pPr>
            <a:lvl7pPr algn="r">
              <a:defRPr sz="750" b="1">
                <a:solidFill>
                  <a:srgbClr val="92A3A9"/>
                </a:solidFill>
              </a:defRPr>
            </a:lvl7pPr>
            <a:lvl8pPr algn="r">
              <a:defRPr sz="750" b="1">
                <a:solidFill>
                  <a:srgbClr val="92A3A9"/>
                </a:solidFill>
              </a:defRPr>
            </a:lvl8pPr>
            <a:lvl9pPr algn="r">
              <a:defRPr sz="750" b="1">
                <a:solidFill>
                  <a:srgbClr val="92A3A9"/>
                </a:solidFill>
              </a:defRPr>
            </a:lvl9pPr>
          </a:lstStyle>
          <a:p xmlns:a="http://schemas.openxmlformats.org/drawingml/2006/main">
            <a:pPr algn="r">
              <a:defRPr sz="750" b="1">
                <a:solidFill>
                  <a:srgbClr val="92A3A9"/>
                </a:solidFill>
              </a:defRPr>
            </a:pPr>
            <a:r>
              <a:rPr sz="750" b="1">
                <a:solidFill>
                  <a:srgbClr val="92A3A9"/>
                </a:solidFill>
              </a:rPr>
              <a:t>BT-CAP · 18 OCT 2026</a:t>
            </a:r>
          </a:p>
        </p:txBody>
      </p:sp>
    </p:spTree>
    <p:extLst>
      <p:ext uri="{BB962C8B-B14F-4D97-AF65-F5344CB8AC3E}">
        <p14:creationId xmlns:p14="http://schemas.microsoft.com/office/powerpoint/2010/main" val="54904680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2026-10-18T22:32:20.5740000Z</dcterms:created>
  <dcterms:modified xsi:type="dcterms:W3CDTF">2026-10-18T22:32:20.5740000Z</dcterms:modified>
</coreProperties>
</file>